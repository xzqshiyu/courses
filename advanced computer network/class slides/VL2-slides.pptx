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image" Target="../media/image15.jpe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jpeg"/><Relationship Id="rId11" Type="http://schemas.openxmlformats.org/officeDocument/2006/relationships/slideLayout" Target="../slideLayouts/slideLayout1.xml"/><Relationship Id="rId10" Type="http://schemas.openxmlformats.org/officeDocument/2006/relationships/image" Target="../media/image16.jpe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image" Target="../media/image16.jpeg"/><Relationship Id="rId8" Type="http://schemas.openxmlformats.org/officeDocument/2006/relationships/image" Target="../media/image15.jpeg"/><Relationship Id="rId7" Type="http://schemas.openxmlformats.org/officeDocument/2006/relationships/image" Target="../media/image14.png"/><Relationship Id="rId6" Type="http://schemas.openxmlformats.org/officeDocument/2006/relationships/image" Target="../media/image21.jpeg"/><Relationship Id="rId5" Type="http://schemas.openxmlformats.org/officeDocument/2006/relationships/image" Target="../media/image7.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9.png"/><Relationship Id="rId10" Type="http://schemas.openxmlformats.org/officeDocument/2006/relationships/slideLayout" Target="../slideLayouts/slideLayout1.xml"/><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jpeg"/><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7.png"/><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20.png"/><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22.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5.jpeg"/><Relationship Id="rId3" Type="http://schemas.openxmlformats.org/officeDocument/2006/relationships/image" Target="../media/image14.png"/><Relationship Id="rId2" Type="http://schemas.openxmlformats.org/officeDocument/2006/relationships/image" Target="../media/image22.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3.png"/><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3.png"/><Relationship Id="rId4" Type="http://schemas.openxmlformats.org/officeDocument/2006/relationships/image" Target="../media/image24.png"/><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23.pn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3.png"/><Relationship Id="rId3"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26.jpeg"/><Relationship Id="rId2" Type="http://schemas.openxmlformats.org/officeDocument/2006/relationships/image" Target="../media/image13.png"/><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jpeg"/><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3.png"/><Relationship Id="rId3"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jpeg"/><Relationship Id="rId7" Type="http://schemas.openxmlformats.org/officeDocument/2006/relationships/image" Target="../media/image28.jpeg"/><Relationship Id="rId6" Type="http://schemas.openxmlformats.org/officeDocument/2006/relationships/image" Target="../media/image10.png"/><Relationship Id="rId5" Type="http://schemas.openxmlformats.org/officeDocument/2006/relationships/image" Target="../media/image27.jpeg"/><Relationship Id="rId4" Type="http://schemas.openxmlformats.org/officeDocument/2006/relationships/image" Target="../media/image15.jpeg"/><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33.jpeg"/><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7.png"/><Relationship Id="rId3" Type="http://schemas.openxmlformats.org/officeDocument/2006/relationships/image" Target="../media/image25.png"/><Relationship Id="rId2" Type="http://schemas.openxmlformats.org/officeDocument/2006/relationships/image" Target="../media/image13.png"/><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34.png"/><Relationship Id="rId2" Type="http://schemas.openxmlformats.org/officeDocument/2006/relationships/image" Target="../media/image9.png"/><Relationship Id="rId1"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7.png"/><Relationship Id="rId4" Type="http://schemas.openxmlformats.org/officeDocument/2006/relationships/image" Target="../media/image36.png"/><Relationship Id="rId3" Type="http://schemas.openxmlformats.org/officeDocument/2006/relationships/image" Target="../media/image35.jpeg"/><Relationship Id="rId2" Type="http://schemas.openxmlformats.org/officeDocument/2006/relationships/image" Target="../media/image15.jpeg"/><Relationship Id="rId1" Type="http://schemas.openxmlformats.org/officeDocument/2006/relationships/image" Target="../media/image14.png"/></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jpeg"/><Relationship Id="rId7" Type="http://schemas.openxmlformats.org/officeDocument/2006/relationships/image" Target="../media/image7.png"/><Relationship Id="rId6" Type="http://schemas.openxmlformats.org/officeDocument/2006/relationships/image" Target="../media/image13.png"/><Relationship Id="rId5" Type="http://schemas.openxmlformats.org/officeDocument/2006/relationships/image" Target="../media/image25.png"/><Relationship Id="rId4" Type="http://schemas.openxmlformats.org/officeDocument/2006/relationships/image" Target="../media/image37.png"/><Relationship Id="rId3" Type="http://schemas.openxmlformats.org/officeDocument/2006/relationships/image" Target="../media/image35.jpeg"/><Relationship Id="rId2" Type="http://schemas.openxmlformats.org/officeDocument/2006/relationships/image" Target="../media/image15.jpeg"/><Relationship Id="rId1"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9" Type="http://schemas.openxmlformats.org/officeDocument/2006/relationships/image" Target="../media/image15.jpeg"/><Relationship Id="rId8" Type="http://schemas.openxmlformats.org/officeDocument/2006/relationships/image" Target="../media/image14.png"/><Relationship Id="rId7" Type="http://schemas.openxmlformats.org/officeDocument/2006/relationships/image" Target="../media/image41.jpeg"/><Relationship Id="rId6" Type="http://schemas.openxmlformats.org/officeDocument/2006/relationships/image" Target="../media/image40.png"/><Relationship Id="rId5" Type="http://schemas.openxmlformats.org/officeDocument/2006/relationships/image" Target="../media/image30.png"/><Relationship Id="rId4" Type="http://schemas.openxmlformats.org/officeDocument/2006/relationships/image" Target="../media/image31.png"/><Relationship Id="rId3" Type="http://schemas.openxmlformats.org/officeDocument/2006/relationships/image" Target="../media/image32.png"/><Relationship Id="rId2" Type="http://schemas.openxmlformats.org/officeDocument/2006/relationships/image" Target="../media/image39.png"/><Relationship Id="rId11" Type="http://schemas.openxmlformats.org/officeDocument/2006/relationships/slideLayout" Target="../slideLayouts/slideLayout1.xml"/><Relationship Id="rId10" Type="http://schemas.openxmlformats.org/officeDocument/2006/relationships/image" Target="../media/image16.jpeg"/><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image" Target="../media/image42.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png"/></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42.png"/></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18.png"/><Relationship Id="rId1" Type="http://schemas.openxmlformats.org/officeDocument/2006/relationships/image" Target="../media/image43.png"/></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jpeg"/><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40.png"/><Relationship Id="rId4" Type="http://schemas.openxmlformats.org/officeDocument/2006/relationships/image" Target="../media/image32.png"/><Relationship Id="rId3" Type="http://schemas.openxmlformats.org/officeDocument/2006/relationships/image" Target="../media/image43.png"/><Relationship Id="rId2" Type="http://schemas.openxmlformats.org/officeDocument/2006/relationships/image" Target="../media/image18.png"/><Relationship Id="rId1"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4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jpeg"/><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1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32.png"/></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46.jpeg"/><Relationship Id="rId2" Type="http://schemas.openxmlformats.org/officeDocument/2006/relationships/image" Target="../media/image9.png"/><Relationship Id="rId1" Type="http://schemas.openxmlformats.org/officeDocument/2006/relationships/image" Target="../media/image18.png"/></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46.jpeg"/><Relationship Id="rId2" Type="http://schemas.openxmlformats.org/officeDocument/2006/relationships/image" Target="../media/image18.png"/><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46.jpeg"/><Relationship Id="rId3"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46.jpeg"/><Relationship Id="rId2" Type="http://schemas.openxmlformats.org/officeDocument/2006/relationships/image" Target="../media/image9.png"/><Relationship Id="rId1"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5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47.jpeg"/><Relationship Id="rId2" Type="http://schemas.openxmlformats.org/officeDocument/2006/relationships/image" Target="../media/image15.jpeg"/><Relationship Id="rId1" Type="http://schemas.openxmlformats.org/officeDocument/2006/relationships/image" Target="../media/image14.png"/></Relationships>
</file>

<file path=ppt/slides/_rels/slide53.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48.png"/><Relationship Id="rId4" Type="http://schemas.openxmlformats.org/officeDocument/2006/relationships/image" Target="../media/image16.jpeg"/><Relationship Id="rId3"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49.png"/><Relationship Id="rId4" Type="http://schemas.openxmlformats.org/officeDocument/2006/relationships/image" Target="../media/image16.jpeg"/><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image" Target="../media/image13.png"/></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57.xml.rels><?xml version="1.0" encoding="UTF-8" standalone="yes"?>
<Relationships xmlns="http://schemas.openxmlformats.org/package/2006/relationships"><Relationship Id="rId9" Type="http://schemas.openxmlformats.org/officeDocument/2006/relationships/image" Target="../media/image15.jpeg"/><Relationship Id="rId8" Type="http://schemas.openxmlformats.org/officeDocument/2006/relationships/image" Target="../media/image14.png"/><Relationship Id="rId7" Type="http://schemas.openxmlformats.org/officeDocument/2006/relationships/image" Target="../media/image54.jpeg"/><Relationship Id="rId6" Type="http://schemas.openxmlformats.org/officeDocument/2006/relationships/image" Target="../media/image16.jpeg"/><Relationship Id="rId5" Type="http://schemas.openxmlformats.org/officeDocument/2006/relationships/image" Target="../media/image22.png"/><Relationship Id="rId4" Type="http://schemas.openxmlformats.org/officeDocument/2006/relationships/image" Target="../media/image10.png"/><Relationship Id="rId3" Type="http://schemas.openxmlformats.org/officeDocument/2006/relationships/image" Target="../media/image18.png"/><Relationship Id="rId2" Type="http://schemas.openxmlformats.org/officeDocument/2006/relationships/image" Target="../media/image53.png"/><Relationship Id="rId10" Type="http://schemas.openxmlformats.org/officeDocument/2006/relationships/slideLayout" Target="../slideLayouts/slideLayout1.xml"/><Relationship Id="rId1" Type="http://schemas.openxmlformats.org/officeDocument/2006/relationships/image" Target="../media/image9.png"/></Relationships>
</file>

<file path=ppt/slides/_rels/slide5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18.png"/><Relationship Id="rId3" Type="http://schemas.openxmlformats.org/officeDocument/2006/relationships/image" Target="../media/image9.png"/><Relationship Id="rId2" Type="http://schemas.openxmlformats.org/officeDocument/2006/relationships/image" Target="../media/image55.png"/><Relationship Id="rId1" Type="http://schemas.openxmlformats.org/officeDocument/2006/relationships/image" Target="../media/image16.jpe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png"/></Relationships>
</file>

<file path=ppt/slides/_rels/slide60.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6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image" Target="../media/image9.png"/></Relationships>
</file>

<file path=ppt/slides/_rels/slide62.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0.png"/><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image" Target="../media/image22.png"/></Relationships>
</file>

<file path=ppt/slides/_rels/slide6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image" Target="../media/image13.png"/></Relationships>
</file>

<file path=ppt/slides/_rels/slide6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12.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png"/></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1007363" y="22859"/>
            <a:ext cx="2570003" cy="1576704"/>
          </a:xfrm>
          <a:prstGeom prst="rect">
            <a:avLst/>
          </a:prstGeom>
        </p:spPr>
      </p:pic>
      <p:graphicFrame>
        <p:nvGraphicFramePr>
          <p:cNvPr id="4" name="table 4"/>
          <p:cNvGraphicFramePr>
            <a:graphicFrameLocks noGrp="1"/>
          </p:cNvGraphicFramePr>
          <p:nvPr/>
        </p:nvGraphicFramePr>
        <p:xfrm>
          <a:off x="0" y="0"/>
          <a:ext cx="12191365" cy="6857364"/>
        </p:xfrm>
        <a:graphic>
          <a:graphicData uri="http://schemas.openxmlformats.org/drawingml/2006/table">
            <a:tbl>
              <a:tblPr/>
              <a:tblGrid>
                <a:gridCol w="3849369"/>
                <a:gridCol w="5654040"/>
                <a:gridCol w="2687954"/>
              </a:tblGrid>
              <a:tr h="3651884">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1502410" algn="l" rtl="0" eaLnBrk="0">
                        <a:lnSpc>
                          <a:spcPct val="83000"/>
                        </a:lnSpc>
                        <a:spcBef>
                          <a:spcPts val="0"/>
                        </a:spcBef>
                        <a:tabLst>
                          <a:tab pos="2051685" algn="l"/>
                        </a:tabLst>
                      </a:pPr>
                      <a:r>
                        <a:rPr sz="4700" b="1" kern="0" spc="0" dirty="0">
                          <a:solidFill>
                            <a:srgbClr val="E9664D">
                              <a:alpha val="100000"/>
                            </a:srgbClr>
                          </a:solidFill>
                          <a:latin typeface="微软雅黑" panose="020B0503020204020204" charset="-122"/>
                          <a:ea typeface="微软雅黑" panose="020B0503020204020204" charset="-122"/>
                          <a:cs typeface="微软雅黑" panose="020B0503020204020204" charset="-122"/>
                        </a:rPr>
                        <a:t>	</a:t>
                      </a:r>
                      <a:r>
                        <a:rPr sz="4700" b="1" kern="0" spc="-200" dirty="0">
                          <a:solidFill>
                            <a:srgbClr val="E9664D">
                              <a:alpha val="100000"/>
                            </a:srgbClr>
                          </a:solidFill>
                          <a:latin typeface="微软雅黑" panose="020B0503020204020204" charset="-122"/>
                          <a:ea typeface="微软雅黑" panose="020B0503020204020204" charset="-122"/>
                          <a:cs typeface="微软雅黑" panose="020B0503020204020204" charset="-122"/>
                        </a:rPr>
                        <a:t>VL2:</a:t>
                      </a:r>
                      <a:r>
                        <a:rPr sz="4700" b="1" kern="0" spc="50" dirty="0">
                          <a:solidFill>
                            <a:srgbClr val="E9664D">
                              <a:alpha val="100000"/>
                            </a:srgbClr>
                          </a:solidFill>
                          <a:latin typeface="微软雅黑" panose="020B0503020204020204" charset="-122"/>
                          <a:ea typeface="微软雅黑" panose="020B0503020204020204" charset="-122"/>
                          <a:cs typeface="微软雅黑" panose="020B0503020204020204" charset="-122"/>
                        </a:rPr>
                        <a:t> </a:t>
                      </a:r>
                      <a:r>
                        <a:rPr sz="4700" b="1" kern="0" spc="-200" dirty="0">
                          <a:solidFill>
                            <a:srgbClr val="E9664D">
                              <a:alpha val="100000"/>
                            </a:srgbClr>
                          </a:solidFill>
                          <a:latin typeface="微软雅黑" panose="020B0503020204020204" charset="-122"/>
                          <a:ea typeface="微软雅黑" panose="020B0503020204020204" charset="-122"/>
                          <a:cs typeface="微软雅黑" panose="020B0503020204020204" charset="-122"/>
                        </a:rPr>
                        <a:t>a</a:t>
                      </a:r>
                      <a:endParaRPr sz="4700" dirty="0">
                        <a:latin typeface="微软雅黑" panose="020B0503020204020204" charset="-122"/>
                        <a:ea typeface="微软雅黑" panose="020B0503020204020204" charset="-122"/>
                        <a:cs typeface="微软雅黑" panose="020B0503020204020204" charset="-122"/>
                      </a:endParaRPr>
                    </a:p>
                  </a:txBody>
                  <a:tcPr marL="0" marR="0" marT="0" marB="0" vert="horz">
                    <a:lnL w="19050" cap="flat" cmpd="sng" algn="ctr">
                      <a:solidFill>
                        <a:srgbClr val="F26951"/>
                      </a:solidFill>
                      <a:prstDash val="solid"/>
                      <a:round/>
                      <a:headEnd type="none" w="med" len="med"/>
                      <a:tailEnd type="none" w="med" len="med"/>
                    </a:lnL>
                    <a:lnR>
                      <a:noFill/>
                    </a:lnR>
                    <a:lnT w="19050" cap="flat" cmpd="sng" algn="ctr">
                      <a:solidFill>
                        <a:srgbClr val="F26951"/>
                      </a:solidFill>
                      <a:prstDash val="solid"/>
                      <a:round/>
                      <a:headEnd type="none" w="med" len="med"/>
                      <a:tailEnd type="none" w="med" len="med"/>
                    </a:lnT>
                    <a:lnB>
                      <a:noFill/>
                    </a:lnB>
                  </a:tcPr>
                </a:tc>
                <a:tc gridSpan="2">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580390" indent="-481330" algn="l" rtl="0" eaLnBrk="0">
                        <a:lnSpc>
                          <a:spcPct val="116000"/>
                        </a:lnSpc>
                      </a:pPr>
                      <a:r>
                        <a:rPr sz="4400" b="1" kern="0" spc="-10" dirty="0">
                          <a:solidFill>
                            <a:srgbClr val="E9664D">
                              <a:alpha val="100000"/>
                            </a:srgbClr>
                          </a:solidFill>
                          <a:latin typeface="微软雅黑" panose="020B0503020204020204" charset="-122"/>
                          <a:ea typeface="微软雅黑" panose="020B0503020204020204" charset="-122"/>
                          <a:cs typeface="微软雅黑" panose="020B0503020204020204" charset="-122"/>
                        </a:rPr>
                        <a:t>scalable and flexible data</a:t>
                      </a:r>
                      <a:r>
                        <a:rPr sz="4400" b="1" kern="0" spc="0" dirty="0">
                          <a:solidFill>
                            <a:srgbClr val="E9664D">
                              <a:alpha val="100000"/>
                            </a:srgbClr>
                          </a:solidFill>
                          <a:latin typeface="微软雅黑" panose="020B0503020204020204" charset="-122"/>
                          <a:ea typeface="微软雅黑" panose="020B0503020204020204" charset="-122"/>
                          <a:cs typeface="微软雅黑" panose="020B0503020204020204" charset="-122"/>
                        </a:rPr>
                        <a:t>        </a:t>
                      </a:r>
                      <a:r>
                        <a:rPr sz="4400" b="1" kern="0" spc="-40" dirty="0">
                          <a:solidFill>
                            <a:srgbClr val="E9664D">
                              <a:alpha val="100000"/>
                            </a:srgbClr>
                          </a:solidFill>
                          <a:latin typeface="微软雅黑" panose="020B0503020204020204" charset="-122"/>
                          <a:ea typeface="微软雅黑" panose="020B0503020204020204" charset="-122"/>
                          <a:cs typeface="微软雅黑" panose="020B0503020204020204" charset="-122"/>
                        </a:rPr>
                        <a:t>center</a:t>
                      </a:r>
                      <a:r>
                        <a:rPr sz="4400" b="1" kern="0" spc="330" dirty="0">
                          <a:solidFill>
                            <a:srgbClr val="E9664D">
                              <a:alpha val="100000"/>
                            </a:srgbClr>
                          </a:solidFill>
                          <a:latin typeface="微软雅黑" panose="020B0503020204020204" charset="-122"/>
                          <a:ea typeface="微软雅黑" panose="020B0503020204020204" charset="-122"/>
                          <a:cs typeface="微软雅黑" panose="020B0503020204020204" charset="-122"/>
                        </a:rPr>
                        <a:t> </a:t>
                      </a:r>
                      <a:r>
                        <a:rPr sz="4400" b="1" kern="0" spc="-40" dirty="0">
                          <a:solidFill>
                            <a:srgbClr val="E9664D">
                              <a:alpha val="100000"/>
                            </a:srgbClr>
                          </a:solidFill>
                          <a:latin typeface="微软雅黑" panose="020B0503020204020204" charset="-122"/>
                          <a:ea typeface="微软雅黑" panose="020B0503020204020204" charset="-122"/>
                          <a:cs typeface="微软雅黑" panose="020B0503020204020204" charset="-122"/>
                        </a:rPr>
                        <a:t>network</a:t>
                      </a:r>
                      <a:endParaRPr sz="4400" dirty="0">
                        <a:latin typeface="微软雅黑" panose="020B0503020204020204" charset="-122"/>
                        <a:ea typeface="微软雅黑" panose="020B0503020204020204" charset="-122"/>
                        <a:cs typeface="微软雅黑" panose="020B0503020204020204" charset="-122"/>
                      </a:endParaRPr>
                    </a:p>
                  </a:txBody>
                  <a:tcPr marL="0" marR="0" marT="0" marB="0" vert="horz">
                    <a:lnL>
                      <a:noFill/>
                    </a:lnL>
                    <a:lnR w="15875" cap="flat" cmpd="sng" algn="ctr">
                      <a:solidFill>
                        <a:srgbClr val="F26951"/>
                      </a:solidFill>
                      <a:prstDash val="solid"/>
                      <a:round/>
                      <a:headEnd type="none" w="med" len="med"/>
                      <a:tailEnd type="none" w="med" len="med"/>
                    </a:lnR>
                    <a:lnT w="19050" cap="flat" cmpd="sng" algn="ctr">
                      <a:solidFill>
                        <a:srgbClr val="F26951"/>
                      </a:solidFill>
                      <a:prstDash val="solid"/>
                      <a:round/>
                      <a:headEnd type="none" w="med" len="med"/>
                      <a:tailEnd type="none" w="med" len="med"/>
                    </a:lnT>
                    <a:lnB>
                      <a:noFill/>
                    </a:lnB>
                  </a:tcPr>
                </a:tc>
                <a:tc hMerge="1">
                  <a:tcPr marL="0" marR="0" marT="0" marB="0" vert="horz">
                    <a:lnL>
                      <a:noFill/>
                    </a:lnL>
                    <a:lnR w="15875" cap="flat" cmpd="sng" algn="ctr">
                      <a:solidFill>
                        <a:srgbClr val="F26951"/>
                      </a:solidFill>
                      <a:prstDash val="solid"/>
                      <a:round/>
                      <a:headEnd type="none" w="med" len="med"/>
                      <a:tailEnd type="none" w="med" len="med"/>
                    </a:lnR>
                    <a:lnT w="19050" cap="flat" cmpd="sng" algn="ctr">
                      <a:solidFill>
                        <a:srgbClr val="F26951"/>
                      </a:solidFill>
                      <a:prstDash val="solid"/>
                      <a:round/>
                      <a:headEnd type="none" w="med" len="med"/>
                      <a:tailEnd type="none" w="med" len="med"/>
                    </a:lnT>
                    <a:lnB>
                      <a:noFill/>
                    </a:lnB>
                  </a:tcPr>
                </a:tc>
              </a:tr>
              <a:tr h="3205479">
                <a:tc gridSpan="2">
                  <a:txBody>
                    <a:bodyPr/>
                    <a:lstStyle/>
                    <a:p>
                      <a:pPr algn="l" rtl="0" eaLnBrk="0">
                        <a:lnSpc>
                          <a:spcPct val="136000"/>
                        </a:lnSpc>
                      </a:pPr>
                      <a:endParaRPr sz="1000" dirty="0">
                        <a:latin typeface="Arial" panose="020B0604020202020204"/>
                        <a:ea typeface="Arial" panose="020B0604020202020204"/>
                        <a:cs typeface="Arial" panose="020B0604020202020204"/>
                      </a:endParaRPr>
                    </a:p>
                    <a:p>
                      <a:pPr marL="5104130" algn="l" rtl="0" eaLnBrk="0">
                        <a:lnSpc>
                          <a:spcPct val="84000"/>
                        </a:lnSpc>
                        <a:spcBef>
                          <a:spcPts val="5"/>
                        </a:spcBef>
                      </a:pPr>
                      <a:r>
                        <a:rPr sz="3200" kern="0" spc="-40" dirty="0">
                          <a:solidFill>
                            <a:srgbClr val="4472C4">
                              <a:alpha val="100000"/>
                            </a:srgbClr>
                          </a:solidFill>
                          <a:latin typeface="Calibri" panose="020F0502020204030204"/>
                          <a:ea typeface="Calibri" panose="020F0502020204030204"/>
                          <a:cs typeface="Calibri" panose="020F0502020204030204"/>
                        </a:rPr>
                        <a:t>SIGCOMM</a:t>
                      </a:r>
                      <a:r>
                        <a:rPr sz="3200" kern="0" spc="280" dirty="0">
                          <a:solidFill>
                            <a:srgbClr val="4472C4">
                              <a:alpha val="100000"/>
                            </a:srgbClr>
                          </a:solidFill>
                          <a:latin typeface="Calibri" panose="020F0502020204030204"/>
                          <a:ea typeface="Calibri" panose="020F0502020204030204"/>
                          <a:cs typeface="Calibri" panose="020F0502020204030204"/>
                        </a:rPr>
                        <a:t> </a:t>
                      </a:r>
                      <a:r>
                        <a:rPr sz="3200" kern="0" spc="-40" dirty="0">
                          <a:solidFill>
                            <a:srgbClr val="4472C4">
                              <a:alpha val="100000"/>
                            </a:srgbClr>
                          </a:solidFill>
                          <a:latin typeface="Calibri" panose="020F0502020204030204"/>
                          <a:ea typeface="Calibri" panose="020F0502020204030204"/>
                          <a:cs typeface="Calibri" panose="020F0502020204030204"/>
                        </a:rPr>
                        <a:t>2009</a:t>
                      </a:r>
                      <a:endParaRPr sz="3200" dirty="0">
                        <a:latin typeface="Calibri" panose="020F0502020204030204"/>
                        <a:ea typeface="Calibri" panose="020F0502020204030204"/>
                        <a:cs typeface="Calibri" panose="020F0502020204030204"/>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marL="4473575" algn="l" rtl="0" eaLnBrk="0">
                        <a:lnSpc>
                          <a:spcPct val="89000"/>
                        </a:lnSpc>
                        <a:spcBef>
                          <a:spcPts val="965"/>
                        </a:spcBef>
                      </a:pPr>
                      <a:r>
                        <a:rPr sz="3200" b="1" kern="0" spc="-10" dirty="0">
                          <a:solidFill>
                            <a:srgbClr val="2F5EB0">
                              <a:alpha val="100000"/>
                            </a:srgbClr>
                          </a:solidFill>
                          <a:latin typeface="微软雅黑" panose="020B0503020204020204" charset="-122"/>
                          <a:ea typeface="微软雅黑" panose="020B0503020204020204" charset="-122"/>
                          <a:cs typeface="微软雅黑" panose="020B0503020204020204" charset="-122"/>
                        </a:rPr>
                        <a:t>授课教师：赵功名</a:t>
                      </a:r>
                      <a:endParaRPr sz="3200" dirty="0">
                        <a:latin typeface="微软雅黑" panose="020B0503020204020204" charset="-122"/>
                        <a:ea typeface="微软雅黑" panose="020B0503020204020204" charset="-122"/>
                        <a:cs typeface="微软雅黑" panose="020B0503020204020204" charset="-122"/>
                      </a:endParaRPr>
                    </a:p>
                    <a:p>
                      <a:pPr marL="4290060" algn="l" rtl="0" eaLnBrk="0">
                        <a:lnSpc>
                          <a:spcPct val="89000"/>
                        </a:lnSpc>
                        <a:spcBef>
                          <a:spcPts val="1215"/>
                        </a:spcBef>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中国科大计算机学院</a:t>
                      </a:r>
                      <a:endParaRPr sz="3200" dirty="0">
                        <a:latin typeface="微软雅黑" panose="020B0503020204020204" charset="-122"/>
                        <a:ea typeface="微软雅黑" panose="020B0503020204020204" charset="-122"/>
                        <a:cs typeface="微软雅黑" panose="020B0503020204020204" charset="-122"/>
                      </a:endParaRPr>
                    </a:p>
                    <a:p>
                      <a:pPr algn="l" rtl="0" eaLnBrk="0">
                        <a:lnSpc>
                          <a:spcPct val="102000"/>
                        </a:lnSpc>
                      </a:pPr>
                      <a:endParaRPr sz="1000" dirty="0">
                        <a:latin typeface="Arial" panose="020B0604020202020204"/>
                        <a:ea typeface="Arial" panose="020B0604020202020204"/>
                        <a:cs typeface="Arial" panose="020B0604020202020204"/>
                      </a:endParaRPr>
                    </a:p>
                    <a:p>
                      <a:pPr marL="3695065" algn="l" rtl="0" eaLnBrk="0">
                        <a:lnSpc>
                          <a:spcPct val="89000"/>
                        </a:lnSpc>
                        <a:spcBef>
                          <a:spcPts val="5"/>
                        </a:spcBef>
                      </a:pPr>
                      <a:r>
                        <a:rPr sz="3200" b="1" kern="0" spc="-10" dirty="0">
                          <a:solidFill>
                            <a:srgbClr val="2F5EB0">
                              <a:alpha val="100000"/>
                            </a:srgbClr>
                          </a:solidFill>
                          <a:latin typeface="微软雅黑" panose="020B0503020204020204" charset="-122"/>
                          <a:ea typeface="微软雅黑" panose="020B0503020204020204" charset="-122"/>
                          <a:cs typeface="微软雅黑" panose="020B0503020204020204" charset="-122"/>
                        </a:rPr>
                        <a:t>2025年秋·高级计算机网络</a:t>
                      </a:r>
                      <a:endParaRPr sz="3200" dirty="0">
                        <a:latin typeface="微软雅黑" panose="020B0503020204020204" charset="-122"/>
                        <a:ea typeface="微软雅黑" panose="020B0503020204020204" charset="-122"/>
                        <a:cs typeface="微软雅黑" panose="020B0503020204020204" charset="-122"/>
                      </a:endParaRPr>
                    </a:p>
                  </a:txBody>
                  <a:tcPr marL="0" marR="0" marT="0" marB="0" vert="horz">
                    <a:lnL w="19050" cap="flat" cmpd="sng" algn="ctr">
                      <a:solidFill>
                        <a:srgbClr val="F26951"/>
                      </a:solidFill>
                      <a:prstDash val="solid"/>
                      <a:round/>
                      <a:headEnd type="none" w="med" len="med"/>
                      <a:tailEnd type="none" w="med" len="med"/>
                    </a:lnL>
                    <a:lnR>
                      <a:noFill/>
                    </a:lnR>
                    <a:lnT>
                      <a:noFill/>
                    </a:lnT>
                    <a:lnB w="15875" cap="flat" cmpd="sng" algn="ctr">
                      <a:solidFill>
                        <a:srgbClr val="F26951"/>
                      </a:solidFill>
                      <a:prstDash val="solid"/>
                      <a:round/>
                      <a:headEnd type="none" w="med" len="med"/>
                      <a:tailEnd type="none" w="med" len="med"/>
                    </a:lnB>
                  </a:tcPr>
                </a:tc>
                <a:tc hMerge="1">
                  <a:tcPr marL="0" marR="0" marT="0" marB="0" vert="horz">
                    <a:lnL w="19050" cap="flat" cmpd="sng" algn="ctr">
                      <a:solidFill>
                        <a:srgbClr val="F26951"/>
                      </a:solidFill>
                      <a:prstDash val="solid"/>
                      <a:round/>
                      <a:headEnd type="none" w="med" len="med"/>
                      <a:tailEnd type="none" w="med" len="med"/>
                    </a:lnL>
                    <a:lnR>
                      <a:noFill/>
                    </a:lnR>
                    <a:lnT>
                      <a:noFill/>
                    </a:lnT>
                    <a:lnB w="15875" cap="flat" cmpd="sng" algn="ctr">
                      <a:solidFill>
                        <a:srgbClr val="F26951"/>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w="15875" cap="flat" cmpd="sng" algn="ctr">
                      <a:solidFill>
                        <a:srgbClr val="F26951"/>
                      </a:solidFill>
                      <a:prstDash val="solid"/>
                      <a:round/>
                      <a:headEnd type="none" w="med" len="med"/>
                      <a:tailEnd type="none" w="med" len="med"/>
                    </a:lnR>
                    <a:lnT>
                      <a:noFill/>
                    </a:lnT>
                    <a:lnB w="15875" cap="flat" cmpd="sng" algn="ctr">
                      <a:solidFill>
                        <a:srgbClr val="F26951"/>
                      </a:solidFill>
                      <a:prstDash val="solid"/>
                      <a:round/>
                      <a:headEnd type="none" w="med" len="med"/>
                      <a:tailEnd type="none" w="med" len="med"/>
                    </a:lnB>
                  </a:tcPr>
                </a:tc>
              </a:tr>
            </a:tbl>
          </a:graphicData>
        </a:graphic>
      </p:graphicFrame>
      <p:pic>
        <p:nvPicPr>
          <p:cNvPr id="6" name="picture 6"/>
          <p:cNvPicPr>
            <a:picLocks noChangeAspect="1"/>
          </p:cNvPicPr>
          <p:nvPr/>
        </p:nvPicPr>
        <p:blipFill>
          <a:blip r:embed="rId2"/>
          <a:stretch>
            <a:fillRect/>
          </a:stretch>
        </p:blipFill>
        <p:spPr>
          <a:xfrm rot="21600000">
            <a:off x="0" y="0"/>
            <a:ext cx="1502903" cy="3442046"/>
          </a:xfrm>
          <a:prstGeom prst="rect">
            <a:avLst/>
          </a:prstGeom>
        </p:spPr>
      </p:pic>
      <p:pic>
        <p:nvPicPr>
          <p:cNvPr id="8" name="picture 8"/>
          <p:cNvPicPr>
            <a:picLocks noChangeAspect="1"/>
          </p:cNvPicPr>
          <p:nvPr/>
        </p:nvPicPr>
        <p:blipFill>
          <a:blip r:embed="rId3"/>
          <a:stretch>
            <a:fillRect/>
          </a:stretch>
        </p:blipFill>
        <p:spPr>
          <a:xfrm rot="21600000">
            <a:off x="10488167" y="5081341"/>
            <a:ext cx="1703832" cy="1776656"/>
          </a:xfrm>
          <a:prstGeom prst="rect">
            <a:avLst/>
          </a:prstGeom>
        </p:spPr>
      </p:pic>
      <p:pic>
        <p:nvPicPr>
          <p:cNvPr id="10" name="picture 10"/>
          <p:cNvPicPr>
            <a:picLocks noChangeAspect="1"/>
          </p:cNvPicPr>
          <p:nvPr/>
        </p:nvPicPr>
        <p:blipFill>
          <a:blip r:embed="rId4"/>
          <a:stretch>
            <a:fillRect/>
          </a:stretch>
        </p:blipFill>
        <p:spPr>
          <a:xfrm rot="21600000">
            <a:off x="7853171" y="332232"/>
            <a:ext cx="3422904" cy="57607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 12"/>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14" name="textbox 14"/>
          <p:cNvSpPr/>
          <p:nvPr/>
        </p:nvSpPr>
        <p:spPr>
          <a:xfrm>
            <a:off x="2935602" y="1210310"/>
            <a:ext cx="6261100" cy="389699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23160" algn="l" rtl="0" eaLnBrk="0">
              <a:lnSpc>
                <a:spcPct val="84000"/>
              </a:lnSpc>
            </a:pPr>
            <a:r>
              <a:rPr sz="32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4472C4">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Virtual</a:t>
            </a:r>
            <a:r>
              <a:rPr sz="2700" b="1" kern="0" spc="29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4472C4">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5"/>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16" name="picture 16"/>
          <p:cNvPicPr>
            <a:picLocks noChangeAspect="1"/>
          </p:cNvPicPr>
          <p:nvPr/>
        </p:nvPicPr>
        <p:blipFill>
          <a:blip r:embed="rId1"/>
          <a:stretch>
            <a:fillRect/>
          </a:stretch>
        </p:blipFill>
        <p:spPr>
          <a:xfrm rot="21600000">
            <a:off x="0" y="0"/>
            <a:ext cx="12192000" cy="288035"/>
          </a:xfrm>
          <a:prstGeom prst="rect">
            <a:avLst/>
          </a:prstGeom>
        </p:spPr>
      </p:pic>
      <p:pic>
        <p:nvPicPr>
          <p:cNvPr id="18" name="picture 18"/>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 20"/>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22" name="textbox 22"/>
          <p:cNvSpPr/>
          <p:nvPr/>
        </p:nvSpPr>
        <p:spPr>
          <a:xfrm>
            <a:off x="2645153" y="635762"/>
            <a:ext cx="6833234" cy="563499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71399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2F5EB0">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2F5EB0">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2F5EB0">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580"/>
              </a:spcBef>
            </a:pPr>
            <a:r>
              <a:rPr sz="2700" b="1" kern="0" spc="140" dirty="0">
                <a:solidFill>
                  <a:srgbClr val="2F5EB0">
                    <a:alpha val="100000"/>
                  </a:srgbClr>
                </a:solidFill>
                <a:latin typeface="微软雅黑" panose="020B0503020204020204" charset="-122"/>
                <a:ea typeface="微软雅黑" panose="020B0503020204020204" charset="-122"/>
                <a:cs typeface="微软雅黑" panose="020B0503020204020204" charset="-122"/>
              </a:rPr>
              <a:t>1.     </a:t>
            </a:r>
            <a:r>
              <a:rPr sz="2700" b="1" kern="0" spc="0" dirty="0">
                <a:solidFill>
                  <a:srgbClr val="2F5EB0">
                    <a:alpha val="100000"/>
                  </a:srgbClr>
                </a:solidFill>
                <a:latin typeface="微软雅黑" panose="020B0503020204020204" charset="-122"/>
                <a:ea typeface="微软雅黑" panose="020B0503020204020204" charset="-122"/>
                <a:cs typeface="微软雅黑" panose="020B0503020204020204" charset="-122"/>
              </a:rPr>
              <a:t>Cloud</a:t>
            </a:r>
            <a:r>
              <a:rPr sz="2700" b="1" kern="0" spc="190" dirty="0">
                <a:solidFill>
                  <a:srgbClr val="2F5EB0">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2F5EB0">
                    <a:alpha val="100000"/>
                  </a:srgbClr>
                </a:solidFill>
                <a:latin typeface="微软雅黑" panose="020B0503020204020204" charset="-122"/>
                <a:ea typeface="微软雅黑" panose="020B0503020204020204" charset="-122"/>
                <a:cs typeface="微软雅黑" panose="020B0503020204020204" charset="-122"/>
              </a:rPr>
              <a:t>services</a:t>
            </a:r>
            <a:r>
              <a:rPr sz="2700" b="1" kern="0" spc="250" dirty="0">
                <a:solidFill>
                  <a:srgbClr val="2F5EB0">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2F5EB0">
                    <a:alpha val="100000"/>
                  </a:srgbClr>
                </a:solidFill>
                <a:latin typeface="微软雅黑" panose="020B0503020204020204" charset="-122"/>
                <a:ea typeface="微软雅黑" panose="020B0503020204020204" charset="-122"/>
                <a:cs typeface="微软雅黑" panose="020B0503020204020204" charset="-122"/>
              </a:rPr>
              <a:t>require</a:t>
            </a:r>
            <a:r>
              <a:rPr sz="2700" b="1" kern="0" spc="140" dirty="0">
                <a:solidFill>
                  <a:srgbClr val="2F5EB0">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2F5EB0">
                    <a:alpha val="100000"/>
                  </a:srgbClr>
                </a:solidFill>
                <a:latin typeface="微软雅黑" panose="020B0503020204020204" charset="-122"/>
                <a:ea typeface="微软雅黑" panose="020B0503020204020204" charset="-122"/>
                <a:cs typeface="微软雅黑" panose="020B0503020204020204" charset="-122"/>
              </a:rPr>
              <a:t>AGILITY</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92000"/>
              </a:lnSpc>
              <a:spcBef>
                <a:spcPts val="1320"/>
              </a:spcBef>
            </a:pP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Current</a:t>
            </a:r>
            <a:r>
              <a:rPr sz="2700" b="1" kern="0" spc="3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DCNs</a:t>
            </a:r>
            <a:r>
              <a:rPr sz="2700" b="1" kern="0" spc="2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lack</a:t>
            </a: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AGILITY</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580"/>
              </a:spcBef>
            </a:pP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VL</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goals</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&amp;</a:t>
            </a:r>
            <a:r>
              <a:rPr sz="2700" b="1" kern="0" spc="1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contributions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5"/>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5"/>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24" name="picture 24"/>
          <p:cNvPicPr>
            <a:picLocks noChangeAspect="1"/>
          </p:cNvPicPr>
          <p:nvPr/>
        </p:nvPicPr>
        <p:blipFill>
          <a:blip r:embed="rId1"/>
          <a:stretch>
            <a:fillRect/>
          </a:stretch>
        </p:blipFill>
        <p:spPr>
          <a:xfrm rot="21600000">
            <a:off x="0" y="0"/>
            <a:ext cx="12192000" cy="288035"/>
          </a:xfrm>
          <a:prstGeom prst="rect">
            <a:avLst/>
          </a:prstGeom>
        </p:spPr>
      </p:pic>
      <p:pic>
        <p:nvPicPr>
          <p:cNvPr id="26" name="picture 26"/>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8"/>
          <p:cNvSpPr/>
          <p:nvPr/>
        </p:nvSpPr>
        <p:spPr>
          <a:xfrm>
            <a:off x="218186" y="4176014"/>
            <a:ext cx="11740515" cy="2025014"/>
          </a:xfrm>
          <a:prstGeom prst="roundRect">
            <a:avLst>
              <a:gd name="adj" fmla="val 8286"/>
            </a:avLst>
          </a:prstGeom>
          <a:noFill/>
          <a:ln w="28575" cap="flat">
            <a:solidFill>
              <a:srgbClr val="F26849"/>
            </a:solidFill>
            <a:prstDash val="solid"/>
            <a:miter lim="0"/>
          </a:ln>
        </p:spPr>
        <p:txBody>
          <a:bodyPr vert="horz" wrap="square" lIns="0" tIns="0" rIns="0" bIns="0"/>
          <a:lstStyle/>
          <a:p>
            <a:pPr algn="l" rtl="0" eaLnBrk="0">
              <a:lnSpc>
                <a:spcPct val="104000"/>
              </a:lnSpc>
            </a:pPr>
            <a:endParaRPr sz="1000" dirty="0">
              <a:latin typeface="Arial" panose="020B0604020202020204"/>
              <a:ea typeface="Arial" panose="020B0604020202020204"/>
              <a:cs typeface="Arial" panose="020B0604020202020204"/>
            </a:endParaRPr>
          </a:p>
          <a:p>
            <a:pPr marL="237490" algn="l" rtl="0" eaLnBrk="0">
              <a:lnSpc>
                <a:spcPct val="89000"/>
              </a:lnSpc>
              <a:spcBef>
                <a:spcPts val="5"/>
              </a:spcBef>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为云服务建立大规模数据</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中心的动因</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158750" algn="l" rtl="0" eaLnBrk="0">
              <a:lnSpc>
                <a:spcPct val="89000"/>
              </a:lnSpc>
              <a:spcBef>
                <a:spcPts val="725"/>
              </a:spcBef>
              <a:tabLst>
                <a:tab pos="37465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经济</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考量：批量采购/部署，摊薄成本 → </a:t>
            </a: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规模经</a:t>
            </a: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济</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4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158750" algn="l" rtl="0" eaLnBrk="0">
              <a:lnSpc>
                <a:spcPct val="89000"/>
              </a:lnSpc>
              <a:tabLst>
                <a:tab pos="37465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技术</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考量：按负载动态在不同服务间调度服务器 → </a:t>
            </a: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资</a:t>
            </a: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源弹性</a:t>
            </a:r>
            <a:endParaRPr sz="2400" dirty="0">
              <a:latin typeface="微软雅黑" panose="020B0503020204020204" charset="-122"/>
              <a:ea typeface="微软雅黑" panose="020B0503020204020204" charset="-122"/>
              <a:cs typeface="微软雅黑" panose="020B0503020204020204" charset="-122"/>
            </a:endParaRPr>
          </a:p>
        </p:txBody>
      </p:sp>
      <p:pic>
        <p:nvPicPr>
          <p:cNvPr id="30" name="picture 30"/>
          <p:cNvPicPr>
            <a:picLocks noChangeAspect="1"/>
          </p:cNvPicPr>
          <p:nvPr/>
        </p:nvPicPr>
        <p:blipFill>
          <a:blip r:embed="rId1"/>
          <a:stretch>
            <a:fillRect/>
          </a:stretch>
        </p:blipFill>
        <p:spPr>
          <a:xfrm rot="21600000">
            <a:off x="426415" y="5596432"/>
            <a:ext cx="216407" cy="223723"/>
          </a:xfrm>
          <a:prstGeom prst="rect">
            <a:avLst/>
          </a:prstGeom>
        </p:spPr>
      </p:pic>
      <p:pic>
        <p:nvPicPr>
          <p:cNvPr id="32" name="picture 32"/>
          <p:cNvPicPr>
            <a:picLocks noChangeAspect="1"/>
          </p:cNvPicPr>
          <p:nvPr/>
        </p:nvPicPr>
        <p:blipFill>
          <a:blip r:embed="rId1"/>
          <a:stretch>
            <a:fillRect/>
          </a:stretch>
        </p:blipFill>
        <p:spPr>
          <a:xfrm rot="21600000">
            <a:off x="426415" y="5047538"/>
            <a:ext cx="216407" cy="223723"/>
          </a:xfrm>
          <a:prstGeom prst="rect">
            <a:avLst/>
          </a:prstGeom>
        </p:spPr>
      </p:pic>
      <p:pic>
        <p:nvPicPr>
          <p:cNvPr id="34" name="picture 34"/>
          <p:cNvPicPr>
            <a:picLocks noChangeAspect="1"/>
          </p:cNvPicPr>
          <p:nvPr/>
        </p:nvPicPr>
        <p:blipFill>
          <a:blip r:embed="rId2"/>
          <a:stretch>
            <a:fillRect/>
          </a:stretch>
        </p:blipFill>
        <p:spPr>
          <a:xfrm rot="21600000">
            <a:off x="7363967" y="2072640"/>
            <a:ext cx="3185159" cy="2174747"/>
          </a:xfrm>
          <a:prstGeom prst="rect">
            <a:avLst/>
          </a:prstGeom>
        </p:spPr>
      </p:pic>
      <p:sp>
        <p:nvSpPr>
          <p:cNvPr id="36" name="textbox 36"/>
          <p:cNvSpPr/>
          <p:nvPr/>
        </p:nvSpPr>
        <p:spPr>
          <a:xfrm>
            <a:off x="6518402" y="824738"/>
            <a:ext cx="5461634" cy="3250564"/>
          </a:xfrm>
          <a:prstGeom prst="roundRect">
            <a:avLst>
              <a:gd name="adj" fmla="val 7705"/>
            </a:avLst>
          </a:prstGeom>
          <a:noFill/>
          <a:ln w="25400" cap="flat">
            <a:solidFill>
              <a:srgbClr val="2F5597"/>
            </a:solidFill>
            <a:prstDash val="solid"/>
            <a:miter lim="0"/>
          </a:ln>
        </p:spPr>
        <p:txBody>
          <a:bodyPr vert="horz" wrap="square" lIns="0" tIns="0" rIns="0" bIns="0"/>
          <a:lstStyle/>
          <a:p>
            <a:pPr algn="l" rtl="0" eaLnBrk="0">
              <a:lnSpc>
                <a:spcPct val="103000"/>
              </a:lnSpc>
            </a:pPr>
            <a:endParaRPr sz="700" dirty="0">
              <a:latin typeface="Arial" panose="020B0604020202020204"/>
              <a:ea typeface="Arial" panose="020B0604020202020204"/>
              <a:cs typeface="Arial" panose="020B0604020202020204"/>
            </a:endParaRPr>
          </a:p>
          <a:p>
            <a:pPr marL="525145" algn="l" rtl="0" eaLnBrk="0">
              <a:lnSpc>
                <a:spcPct val="92000"/>
              </a:lnSpc>
              <a:spcBef>
                <a:spcPts val="5"/>
              </a:spcBef>
            </a:pP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大规模数据中心</a:t>
            </a:r>
            <a:endParaRPr sz="2700" dirty="0">
              <a:latin typeface="微软雅黑" panose="020B0503020204020204" charset="-122"/>
              <a:ea typeface="微软雅黑" panose="020B0503020204020204" charset="-122"/>
              <a:cs typeface="微软雅黑" panose="020B0503020204020204" charset="-122"/>
            </a:endParaRPr>
          </a:p>
          <a:p>
            <a:pPr marL="196215" algn="l" rtl="0" eaLnBrk="0">
              <a:lnSpc>
                <a:spcPct val="89000"/>
              </a:lnSpc>
              <a:spcBef>
                <a:spcPts val="1015"/>
              </a:spcBef>
              <a:tabLst>
                <a:tab pos="4127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规模：几十～上百万台服务器</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4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196215" algn="l" rtl="0" eaLnBrk="0">
              <a:lnSpc>
                <a:spcPct val="89000"/>
              </a:lnSpc>
              <a:tabLst>
                <a:tab pos="4127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业务：多服务混合部署</a:t>
            </a:r>
            <a:endParaRPr sz="2400" dirty="0">
              <a:latin typeface="微软雅黑" panose="020B0503020204020204" charset="-122"/>
              <a:ea typeface="微软雅黑" panose="020B0503020204020204" charset="-122"/>
              <a:cs typeface="微软雅黑" panose="020B0503020204020204" charset="-122"/>
            </a:endParaRPr>
          </a:p>
        </p:txBody>
      </p:sp>
      <p:pic>
        <p:nvPicPr>
          <p:cNvPr id="38" name="picture 38"/>
          <p:cNvPicPr>
            <a:picLocks noChangeAspect="1"/>
          </p:cNvPicPr>
          <p:nvPr/>
        </p:nvPicPr>
        <p:blipFill>
          <a:blip r:embed="rId3"/>
          <a:stretch>
            <a:fillRect/>
          </a:stretch>
        </p:blipFill>
        <p:spPr>
          <a:xfrm rot="21600000">
            <a:off x="6788226" y="2089708"/>
            <a:ext cx="216407" cy="223723"/>
          </a:xfrm>
          <a:prstGeom prst="rect">
            <a:avLst/>
          </a:prstGeom>
        </p:spPr>
      </p:pic>
      <p:pic>
        <p:nvPicPr>
          <p:cNvPr id="40" name="picture 40"/>
          <p:cNvPicPr>
            <a:picLocks noChangeAspect="1"/>
          </p:cNvPicPr>
          <p:nvPr/>
        </p:nvPicPr>
        <p:blipFill>
          <a:blip r:embed="rId4"/>
          <a:stretch>
            <a:fillRect/>
          </a:stretch>
        </p:blipFill>
        <p:spPr>
          <a:xfrm rot="21600000">
            <a:off x="6788252" y="1540591"/>
            <a:ext cx="216624" cy="223946"/>
          </a:xfrm>
          <a:prstGeom prst="rect">
            <a:avLst/>
          </a:prstGeom>
        </p:spPr>
      </p:pic>
      <p:pic>
        <p:nvPicPr>
          <p:cNvPr id="42" name="picture 42"/>
          <p:cNvPicPr>
            <a:picLocks noChangeAspect="1"/>
          </p:cNvPicPr>
          <p:nvPr/>
        </p:nvPicPr>
        <p:blipFill>
          <a:blip r:embed="rId5"/>
          <a:stretch>
            <a:fillRect/>
          </a:stretch>
        </p:blipFill>
        <p:spPr>
          <a:xfrm rot="21600000">
            <a:off x="2776727" y="798576"/>
            <a:ext cx="2727960" cy="1997964"/>
          </a:xfrm>
          <a:prstGeom prst="rect">
            <a:avLst/>
          </a:prstGeom>
        </p:spPr>
      </p:pic>
      <p:sp>
        <p:nvSpPr>
          <p:cNvPr id="44" name="textbox 44"/>
          <p:cNvSpPr/>
          <p:nvPr/>
        </p:nvSpPr>
        <p:spPr>
          <a:xfrm>
            <a:off x="218186" y="798576"/>
            <a:ext cx="5287009" cy="3276600"/>
          </a:xfrm>
          <a:prstGeom prst="roundRect">
            <a:avLst>
              <a:gd name="adj" fmla="val 7643"/>
            </a:avLst>
          </a:prstGeom>
          <a:noFill/>
          <a:ln w="25400" cap="flat">
            <a:solidFill>
              <a:srgbClr val="2F5597"/>
            </a:solidFill>
            <a:prstDash val="solid"/>
            <a:miter lim="0"/>
          </a:ln>
        </p:spPr>
        <p:txBody>
          <a:bodyPr vert="horz" wrap="square" lIns="0" tIns="0" rIns="0" bIns="0"/>
          <a:lstStyle/>
          <a:p>
            <a:pPr algn="l" rtl="0" eaLnBrk="0">
              <a:lnSpc>
                <a:spcPct val="103000"/>
              </a:lnSpc>
            </a:pPr>
            <a:endParaRPr sz="8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67970" algn="l" rtl="0" eaLnBrk="0">
              <a:lnSpc>
                <a:spcPct val="92000"/>
              </a:lnSpc>
            </a:pPr>
            <a:r>
              <a:rPr sz="2700" b="1"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云服务</a:t>
            </a:r>
            <a:endParaRPr sz="2700" dirty="0">
              <a:latin typeface="微软雅黑" panose="020B0503020204020204" charset="-122"/>
              <a:ea typeface="微软雅黑" panose="020B0503020204020204" charset="-122"/>
              <a:cs typeface="微软雅黑" panose="020B0503020204020204" charset="-122"/>
            </a:endParaRPr>
          </a:p>
          <a:p>
            <a:pPr marL="134620" algn="l" rtl="0" eaLnBrk="0">
              <a:lnSpc>
                <a:spcPct val="89000"/>
              </a:lnSpc>
              <a:spcBef>
                <a:spcPts val="1875"/>
              </a:spcBef>
              <a:tabLst>
                <a:tab pos="3505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搜索</a:t>
            </a:r>
            <a:endParaRPr sz="2400" dirty="0">
              <a:latin typeface="微软雅黑" panose="020B0503020204020204" charset="-122"/>
              <a:ea typeface="微软雅黑" panose="020B0503020204020204" charset="-122"/>
              <a:cs typeface="微软雅黑" panose="020B0503020204020204" charset="-122"/>
            </a:endParaRPr>
          </a:p>
          <a:p>
            <a:pPr marL="134620" algn="l" rtl="0" eaLnBrk="0">
              <a:lnSpc>
                <a:spcPts val="4320"/>
              </a:lnSpc>
              <a:tabLst>
                <a:tab pos="3505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邮箱</a:t>
            </a:r>
            <a:endParaRPr sz="2400" dirty="0">
              <a:latin typeface="微软雅黑" panose="020B0503020204020204" charset="-122"/>
              <a:ea typeface="微软雅黑" panose="020B0503020204020204" charset="-122"/>
              <a:cs typeface="微软雅黑" panose="020B0503020204020204" charset="-122"/>
            </a:endParaRPr>
          </a:p>
          <a:p>
            <a:pPr marL="134620" algn="l" rtl="0" eaLnBrk="0">
              <a:lnSpc>
                <a:spcPct val="100000"/>
              </a:lnSpc>
              <a:spcBef>
                <a:spcPts val="1755"/>
              </a:spcBef>
              <a:tabLst>
                <a:tab pos="3505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Mapreduce计算</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3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34620" algn="l" rtl="0" eaLnBrk="0">
              <a:lnSpc>
                <a:spcPts val="1785"/>
              </a:lnSpc>
              <a:tabLst>
                <a:tab pos="3505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p:txBody>
      </p:sp>
      <p:pic>
        <p:nvPicPr>
          <p:cNvPr id="46" name="picture 46"/>
          <p:cNvPicPr>
            <a:picLocks noChangeAspect="1"/>
          </p:cNvPicPr>
          <p:nvPr/>
        </p:nvPicPr>
        <p:blipFill>
          <a:blip r:embed="rId6"/>
          <a:stretch>
            <a:fillRect/>
          </a:stretch>
        </p:blipFill>
        <p:spPr>
          <a:xfrm rot="21600000">
            <a:off x="426440" y="3285825"/>
            <a:ext cx="216624" cy="223946"/>
          </a:xfrm>
          <a:prstGeom prst="rect">
            <a:avLst/>
          </a:prstGeom>
        </p:spPr>
      </p:pic>
      <p:pic>
        <p:nvPicPr>
          <p:cNvPr id="48" name="picture 48"/>
          <p:cNvPicPr>
            <a:picLocks noChangeAspect="1"/>
          </p:cNvPicPr>
          <p:nvPr/>
        </p:nvPicPr>
        <p:blipFill>
          <a:blip r:embed="rId7"/>
          <a:stretch>
            <a:fillRect/>
          </a:stretch>
        </p:blipFill>
        <p:spPr>
          <a:xfrm rot="21600000">
            <a:off x="426415" y="2737408"/>
            <a:ext cx="216407" cy="223723"/>
          </a:xfrm>
          <a:prstGeom prst="rect">
            <a:avLst/>
          </a:prstGeom>
        </p:spPr>
      </p:pic>
      <p:pic>
        <p:nvPicPr>
          <p:cNvPr id="50" name="picture 50"/>
          <p:cNvPicPr>
            <a:picLocks noChangeAspect="1"/>
          </p:cNvPicPr>
          <p:nvPr/>
        </p:nvPicPr>
        <p:blipFill>
          <a:blip r:embed="rId1"/>
          <a:stretch>
            <a:fillRect/>
          </a:stretch>
        </p:blipFill>
        <p:spPr>
          <a:xfrm rot="21600000">
            <a:off x="426415" y="2188768"/>
            <a:ext cx="216407" cy="223723"/>
          </a:xfrm>
          <a:prstGeom prst="rect">
            <a:avLst/>
          </a:prstGeom>
        </p:spPr>
      </p:pic>
      <p:pic>
        <p:nvPicPr>
          <p:cNvPr id="52" name="picture 52"/>
          <p:cNvPicPr>
            <a:picLocks noChangeAspect="1"/>
          </p:cNvPicPr>
          <p:nvPr/>
        </p:nvPicPr>
        <p:blipFill>
          <a:blip r:embed="rId7"/>
          <a:stretch>
            <a:fillRect/>
          </a:stretch>
        </p:blipFill>
        <p:spPr>
          <a:xfrm rot="21600000">
            <a:off x="426415" y="1639874"/>
            <a:ext cx="216407" cy="223723"/>
          </a:xfrm>
          <a:prstGeom prst="rect">
            <a:avLst/>
          </a:prstGeom>
        </p:spPr>
      </p:pic>
      <p:sp>
        <p:nvSpPr>
          <p:cNvPr id="54" name="textbox 54"/>
          <p:cNvSpPr/>
          <p:nvPr/>
        </p:nvSpPr>
        <p:spPr>
          <a:xfrm>
            <a:off x="332072" y="264331"/>
            <a:ext cx="9253855" cy="51244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3200" b="1" kern="0" spc="-10" dirty="0">
                <a:solidFill>
                  <a:srgbClr val="F26849">
                    <a:alpha val="100000"/>
                  </a:srgbClr>
                </a:solidFill>
                <a:latin typeface="微软雅黑" panose="020B0503020204020204" charset="-122"/>
                <a:ea typeface="微软雅黑" panose="020B0503020204020204" charset="-122"/>
                <a:cs typeface="微软雅黑" panose="020B0503020204020204" charset="-122"/>
              </a:rPr>
              <a:t>Introduction：</a:t>
            </a:r>
            <a:r>
              <a:rPr sz="3200" b="1" kern="0" spc="-7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3200" b="1" kern="0" spc="-10" dirty="0">
                <a:solidFill>
                  <a:srgbClr val="F26849">
                    <a:alpha val="100000"/>
                  </a:srgbClr>
                </a:solidFill>
                <a:latin typeface="微软雅黑" panose="020B0503020204020204" charset="-122"/>
                <a:ea typeface="微软雅黑" panose="020B0503020204020204" charset="-122"/>
                <a:cs typeface="微软雅黑" panose="020B0503020204020204" charset="-122"/>
              </a:rPr>
              <a:t>Cloud services require AGILITY</a:t>
            </a:r>
            <a:endParaRPr sz="3200" dirty="0">
              <a:latin typeface="微软雅黑" panose="020B0503020204020204" charset="-122"/>
              <a:ea typeface="微软雅黑" panose="020B0503020204020204" charset="-122"/>
              <a:cs typeface="微软雅黑" panose="020B0503020204020204" charset="-122"/>
            </a:endParaRPr>
          </a:p>
        </p:txBody>
      </p:sp>
      <p:grpSp>
        <p:nvGrpSpPr>
          <p:cNvPr id="2" name="group 2"/>
          <p:cNvGrpSpPr/>
          <p:nvPr/>
        </p:nvGrpSpPr>
        <p:grpSpPr>
          <a:xfrm rot="21600000">
            <a:off x="5408421" y="2366853"/>
            <a:ext cx="1077640" cy="493612"/>
            <a:chOff x="0" y="0"/>
            <a:chExt cx="1077640" cy="493612"/>
          </a:xfrm>
        </p:grpSpPr>
        <p:grpSp>
          <p:nvGrpSpPr>
            <p:cNvPr id="4" name="group 4"/>
            <p:cNvGrpSpPr/>
            <p:nvPr/>
          </p:nvGrpSpPr>
          <p:grpSpPr>
            <a:xfrm rot="21600000">
              <a:off x="6350" y="0"/>
              <a:ext cx="1071290" cy="493612"/>
              <a:chOff x="0" y="0"/>
              <a:chExt cx="1071290" cy="493612"/>
            </a:xfrm>
          </p:grpSpPr>
          <p:sp>
            <p:nvSpPr>
              <p:cNvPr id="56" name="path 56"/>
              <p:cNvSpPr/>
              <p:nvPr/>
            </p:nvSpPr>
            <p:spPr>
              <a:xfrm>
                <a:off x="0" y="4490"/>
                <a:ext cx="1066800" cy="484632"/>
              </a:xfrm>
              <a:custGeom>
                <a:avLst/>
                <a:gdLst/>
                <a:ahLst/>
                <a:cxnLst/>
                <a:rect l="0" t="0" r="0" b="0"/>
                <a:pathLst>
                  <a:path w="1680" h="763">
                    <a:moveTo>
                      <a:pt x="0" y="190"/>
                    </a:moveTo>
                    <a:lnTo>
                      <a:pt x="1298" y="190"/>
                    </a:lnTo>
                    <a:lnTo>
                      <a:pt x="1298" y="0"/>
                    </a:lnTo>
                    <a:lnTo>
                      <a:pt x="1680" y="381"/>
                    </a:lnTo>
                    <a:lnTo>
                      <a:pt x="1298" y="763"/>
                    </a:lnTo>
                    <a:lnTo>
                      <a:pt x="1298" y="572"/>
                    </a:lnTo>
                    <a:lnTo>
                      <a:pt x="0" y="572"/>
                    </a:lnTo>
                    <a:lnTo>
                      <a:pt x="0" y="190"/>
                    </a:lnTo>
                    <a:close/>
                  </a:path>
                </a:pathLst>
              </a:custGeom>
              <a:solidFill>
                <a:srgbClr val="4472C4">
                  <a:alpha val="100000"/>
                </a:srgbClr>
              </a:solidFill>
              <a:ln w="0" cap="flat">
                <a:noFill/>
                <a:prstDash val="solid"/>
                <a:miter lim="0"/>
              </a:ln>
            </p:spPr>
            <p:txBody>
              <a:bodyPr rtlCol="0"/>
              <a:lstStyle/>
              <a:p>
                <a:pPr algn="ctr"/>
                <a:endParaRPr lang="zh-CN" altLang="en-US"/>
              </a:p>
            </p:txBody>
          </p:sp>
          <p:sp>
            <p:nvSpPr>
              <p:cNvPr id="58" name="path 58"/>
              <p:cNvSpPr/>
              <p:nvPr/>
            </p:nvSpPr>
            <p:spPr>
              <a:xfrm>
                <a:off x="819994" y="0"/>
                <a:ext cx="251295" cy="493612"/>
              </a:xfrm>
              <a:custGeom>
                <a:avLst/>
                <a:gdLst/>
                <a:ahLst/>
                <a:cxnLst/>
                <a:rect l="0" t="0" r="0" b="0"/>
                <a:pathLst>
                  <a:path w="395" h="777">
                    <a:moveTo>
                      <a:pt x="7" y="7"/>
                    </a:moveTo>
                    <a:lnTo>
                      <a:pt x="388" y="388"/>
                    </a:lnTo>
                    <a:lnTo>
                      <a:pt x="7" y="770"/>
                    </a:lnTo>
                  </a:path>
                </a:pathLst>
              </a:custGeom>
              <a:noFill/>
              <a:ln w="12700" cap="flat">
                <a:solidFill>
                  <a:srgbClr val="2F528F"/>
                </a:solidFill>
                <a:prstDash val="solid"/>
                <a:miter lim="1000000"/>
              </a:ln>
            </p:spPr>
            <p:txBody>
              <a:bodyPr rtlCol="0"/>
              <a:lstStyle/>
              <a:p>
                <a:pPr algn="ctr"/>
                <a:endParaRPr lang="zh-CN" altLang="en-US"/>
              </a:p>
            </p:txBody>
          </p:sp>
        </p:grpSp>
        <p:sp>
          <p:nvSpPr>
            <p:cNvPr id="60" name="textbox 60"/>
            <p:cNvSpPr/>
            <p:nvPr/>
          </p:nvSpPr>
          <p:spPr>
            <a:xfrm>
              <a:off x="-12700" y="125775"/>
              <a:ext cx="856614" cy="264159"/>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7000"/>
                </a:lnSpc>
                <a:tabLst>
                  <a:tab pos="276225" algn="l"/>
                </a:tabLst>
              </a:pPr>
              <a:r>
                <a:rPr sz="1800" kern="0" spc="0" dirty="0">
                  <a:solidFill>
                    <a:srgbClr val="D9D9D9">
                      <a:alpha val="100000"/>
                    </a:srgbClr>
                  </a:solidFill>
                  <a:latin typeface="等线" panose="02010600030101010101" charset="-122"/>
                  <a:ea typeface="等线" panose="02010600030101010101" charset="-122"/>
                  <a:cs typeface="等线" panose="02010600030101010101" charset="-122"/>
                </a:rPr>
                <a:t>	</a:t>
              </a:r>
              <a:r>
                <a:rPr sz="1800" kern="0" spc="-60" dirty="0">
                  <a:solidFill>
                    <a:srgbClr val="D9D9D9">
                      <a:alpha val="100000"/>
                    </a:srgbClr>
                  </a:solidFill>
                  <a:latin typeface="等线" panose="02010600030101010101" charset="-122"/>
                  <a:ea typeface="等线" panose="02010600030101010101" charset="-122"/>
                  <a:cs typeface="等线" panose="02010600030101010101" charset="-122"/>
                </a:rPr>
                <a:t>需要</a:t>
              </a:r>
              <a:r>
                <a:rPr sz="1800" kern="0" spc="0" dirty="0">
                  <a:solidFill>
                    <a:srgbClr val="D9D9D9">
                      <a:alpha val="100000"/>
                    </a:srgbClr>
                  </a:solidFill>
                  <a:latin typeface="等线" panose="02010600030101010101" charset="-122"/>
                  <a:ea typeface="等线" panose="02010600030101010101" charset="-122"/>
                  <a:cs typeface="等线" panose="02010600030101010101" charset="-122"/>
                </a:rPr>
                <a:t>  </a:t>
              </a:r>
              <a:endParaRPr sz="1800" dirty="0">
                <a:latin typeface="等线" panose="02010600030101010101" charset="-122"/>
                <a:ea typeface="等线" panose="02010600030101010101" charset="-122"/>
                <a:cs typeface="等线" panose="02010600030101010101" charset="-122"/>
              </a:endParaRPr>
            </a:p>
          </p:txBody>
        </p:sp>
        <p:sp>
          <p:nvSpPr>
            <p:cNvPr id="62" name="path 62"/>
            <p:cNvSpPr/>
            <p:nvPr/>
          </p:nvSpPr>
          <p:spPr>
            <a:xfrm>
              <a:off x="824484" y="367963"/>
              <a:ext cx="12700" cy="121158"/>
            </a:xfrm>
            <a:custGeom>
              <a:avLst/>
              <a:gdLst/>
              <a:ahLst/>
              <a:cxnLst/>
              <a:rect l="0" t="0" r="0" b="0"/>
              <a:pathLst>
                <a:path w="20" h="190">
                  <a:moveTo>
                    <a:pt x="10" y="190"/>
                  </a:moveTo>
                  <a:lnTo>
                    <a:pt x="10" y="0"/>
                  </a:lnTo>
                </a:path>
              </a:pathLst>
            </a:custGeom>
            <a:noFill/>
            <a:ln w="12700" cap="flat">
              <a:solidFill>
                <a:srgbClr val="2F528F"/>
              </a:solidFill>
              <a:prstDash val="solid"/>
              <a:miter lim="1000000"/>
            </a:ln>
          </p:spPr>
          <p:txBody>
            <a:bodyPr rtlCol="0"/>
            <a:lstStyle/>
            <a:p>
              <a:pPr algn="ctr"/>
              <a:endParaRPr lang="zh-CN" altLang="en-US"/>
            </a:p>
          </p:txBody>
        </p:sp>
        <p:sp>
          <p:nvSpPr>
            <p:cNvPr id="64" name="path 64"/>
            <p:cNvSpPr/>
            <p:nvPr/>
          </p:nvSpPr>
          <p:spPr>
            <a:xfrm>
              <a:off x="824484" y="4490"/>
              <a:ext cx="12700" cy="121157"/>
            </a:xfrm>
            <a:custGeom>
              <a:avLst/>
              <a:gdLst/>
              <a:ahLst/>
              <a:cxnLst/>
              <a:rect l="0" t="0" r="0" b="0"/>
              <a:pathLst>
                <a:path w="20" h="190">
                  <a:moveTo>
                    <a:pt x="10" y="190"/>
                  </a:moveTo>
                  <a:lnTo>
                    <a:pt x="10" y="0"/>
                  </a:lnTo>
                </a:path>
              </a:pathLst>
            </a:custGeom>
            <a:noFill/>
            <a:ln w="12700" cap="flat">
              <a:solidFill>
                <a:srgbClr val="2F528F"/>
              </a:solidFill>
              <a:prstDash val="solid"/>
              <a:miter lim="1000000"/>
            </a:ln>
          </p:spPr>
          <p:txBody>
            <a:bodyPr rtlCol="0"/>
            <a:lstStyle/>
            <a:p>
              <a:pPr algn="ctr"/>
              <a:endParaRPr lang="zh-CN" altLang="en-US"/>
            </a:p>
          </p:txBody>
        </p:sp>
      </p:grpSp>
      <p:pic>
        <p:nvPicPr>
          <p:cNvPr id="66" name="picture 66"/>
          <p:cNvPicPr>
            <a:picLocks noChangeAspect="1"/>
          </p:cNvPicPr>
          <p:nvPr/>
        </p:nvPicPr>
        <p:blipFill>
          <a:blip r:embed="rId8"/>
          <a:stretch>
            <a:fillRect/>
          </a:stretch>
        </p:blipFill>
        <p:spPr>
          <a:xfrm rot="21600000">
            <a:off x="11338559" y="18288"/>
            <a:ext cx="720852" cy="719328"/>
          </a:xfrm>
          <a:prstGeom prst="rect">
            <a:avLst/>
          </a:prstGeom>
        </p:spPr>
      </p:pic>
      <p:pic>
        <p:nvPicPr>
          <p:cNvPr id="68" name="picture 68"/>
          <p:cNvPicPr>
            <a:picLocks noChangeAspect="1"/>
          </p:cNvPicPr>
          <p:nvPr/>
        </p:nvPicPr>
        <p:blipFill>
          <a:blip r:embed="rId9"/>
          <a:stretch>
            <a:fillRect/>
          </a:stretch>
        </p:blipFill>
        <p:spPr>
          <a:xfrm rot="21600000">
            <a:off x="155447" y="751332"/>
            <a:ext cx="11881104" cy="19811"/>
          </a:xfrm>
          <a:prstGeom prst="rect">
            <a:avLst/>
          </a:prstGeom>
        </p:spPr>
      </p:pic>
      <p:pic>
        <p:nvPicPr>
          <p:cNvPr id="70" name="picture 70"/>
          <p:cNvPicPr>
            <a:picLocks noChangeAspect="1"/>
          </p:cNvPicPr>
          <p:nvPr/>
        </p:nvPicPr>
        <p:blipFill>
          <a:blip r:embed="rId10"/>
          <a:stretch>
            <a:fillRect/>
          </a:stretch>
        </p:blipFill>
        <p:spPr>
          <a:xfrm rot="21600000">
            <a:off x="161544" y="6461759"/>
            <a:ext cx="11879580" cy="18288"/>
          </a:xfrm>
          <a:prstGeom prst="rect">
            <a:avLst/>
          </a:prstGeom>
        </p:spPr>
      </p:pic>
      <p:sp>
        <p:nvSpPr>
          <p:cNvPr id="72" name="textbox 72"/>
          <p:cNvSpPr/>
          <p:nvPr/>
        </p:nvSpPr>
        <p:spPr>
          <a:xfrm>
            <a:off x="11638719" y="6559321"/>
            <a:ext cx="13652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74"/>
          <p:cNvPicPr>
            <a:picLocks noChangeAspect="1"/>
          </p:cNvPicPr>
          <p:nvPr/>
        </p:nvPicPr>
        <p:blipFill>
          <a:blip r:embed="rId1"/>
          <a:stretch>
            <a:fillRect/>
          </a:stretch>
        </p:blipFill>
        <p:spPr>
          <a:xfrm rot="21600000">
            <a:off x="218186" y="824738"/>
            <a:ext cx="11634216" cy="5738114"/>
          </a:xfrm>
          <a:prstGeom prst="rect">
            <a:avLst/>
          </a:prstGeom>
        </p:spPr>
      </p:pic>
      <p:sp>
        <p:nvSpPr>
          <p:cNvPr id="76" name="textbox 76"/>
          <p:cNvSpPr/>
          <p:nvPr/>
        </p:nvSpPr>
        <p:spPr>
          <a:xfrm>
            <a:off x="11644670" y="6559321"/>
            <a:ext cx="130810"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algn="r"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5</a:t>
            </a:r>
            <a:endParaRPr sz="1800" dirty="0">
              <a:latin typeface="Calibri" panose="020F0502020204030204"/>
              <a:ea typeface="Calibri" panose="020F0502020204030204"/>
              <a:cs typeface="Calibri" panose="020F0502020204030204"/>
            </a:endParaRPr>
          </a:p>
        </p:txBody>
      </p:sp>
      <p:graphicFrame>
        <p:nvGraphicFramePr>
          <p:cNvPr id="78" name="table 78"/>
          <p:cNvGraphicFramePr>
            <a:graphicFrameLocks noGrp="1"/>
          </p:cNvGraphicFramePr>
          <p:nvPr/>
        </p:nvGraphicFramePr>
        <p:xfrm>
          <a:off x="161544" y="3185350"/>
          <a:ext cx="11879579" cy="3465195"/>
        </p:xfrm>
        <a:graphic>
          <a:graphicData uri="http://schemas.openxmlformats.org/drawingml/2006/table">
            <a:tbl>
              <a:tblPr/>
              <a:tblGrid>
                <a:gridCol w="5793104"/>
                <a:gridCol w="5341619"/>
                <a:gridCol w="744855"/>
              </a:tblGrid>
              <a:tr h="628015">
                <a:tc gridSpan="3">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365125" algn="l" rtl="0" eaLnBrk="0">
                        <a:lnSpc>
                          <a:spcPct val="100000"/>
                        </a:lnSpc>
                      </a:pPr>
                      <a:r>
                        <a:rPr sz="2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敏捷性(</a:t>
                      </a:r>
                      <a:r>
                        <a:rPr sz="2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Agility</a:t>
                      </a:r>
                      <a:r>
                        <a:rPr sz="2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7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：为任意服务分配任意服务器</a:t>
                      </a: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70" dirty="0">
                          <a:solidFill>
                            <a:srgbClr val="4472C4">
                              <a:alpha val="100000"/>
                            </a:srgbClr>
                          </a:solidFill>
                          <a:latin typeface="微软雅黑" panose="020B0503020204020204" charset="-122"/>
                          <a:ea typeface="微软雅黑" panose="020B0503020204020204" charset="-122"/>
                          <a:cs typeface="微软雅黑" panose="020B0503020204020204" charset="-122"/>
                        </a:rPr>
                        <a:t>风险管</a:t>
                      </a:r>
                      <a:r>
                        <a:rPr sz="2400" b="1" kern="0" spc="60" dirty="0">
                          <a:solidFill>
                            <a:srgbClr val="4472C4">
                              <a:alpha val="100000"/>
                            </a:srgbClr>
                          </a:solidFill>
                          <a:latin typeface="微软雅黑" panose="020B0503020204020204" charset="-122"/>
                          <a:ea typeface="微软雅黑" panose="020B0503020204020204" charset="-122"/>
                          <a:cs typeface="微软雅黑" panose="020B0503020204020204" charset="-122"/>
                        </a:rPr>
                        <a:t>理 成本控制</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w="28575" cap="flat" cmpd="sng" algn="ctr">
                      <a:solidFill>
                        <a:srgbClr val="BF900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w="28575" cap="flat" cmpd="sng" algn="ctr">
                      <a:solidFill>
                        <a:srgbClr val="BF900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w="28575" cap="flat" cmpd="sng" algn="ctr">
                      <a:solidFill>
                        <a:srgbClr val="BF900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gridSpan="3">
                  <a:txBody>
                    <a:bodyPr/>
                    <a:lstStyle/>
                    <a:p>
                      <a:pPr algn="l" rtl="0" eaLnBrk="0">
                        <a:lnSpc>
                          <a:spcPct val="119000"/>
                        </a:lnSpc>
                      </a:pPr>
                      <a:endParaRPr sz="500" dirty="0">
                        <a:latin typeface="Arial" panose="020B0604020202020204"/>
                        <a:ea typeface="Arial" panose="020B0604020202020204"/>
                        <a:cs typeface="Arial" panose="020B0604020202020204"/>
                      </a:endParaRPr>
                    </a:p>
                    <a:p>
                      <a:pPr marL="363855" algn="l" rtl="0" eaLnBrk="0">
                        <a:lnSpc>
                          <a:spcPct val="89000"/>
                        </a:lnSpc>
                        <a:spcBef>
                          <a:spcPts val="0"/>
                        </a:spcBef>
                      </a:pPr>
                      <a:r>
                        <a:rPr sz="2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缺乏敏捷性       </a:t>
                      </a: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具有敏捷性</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hMerge="1">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hMerge="1">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200275">
                <a:tc>
                  <a:txBody>
                    <a:bodyPr/>
                    <a:lstStyle/>
                    <a:p>
                      <a:pPr algn="l" rtl="0" eaLnBrk="0">
                        <a:lnSpc>
                          <a:spcPct val="103000"/>
                        </a:lnSpc>
                      </a:pPr>
                      <a:endParaRPr sz="600" dirty="0">
                        <a:latin typeface="Arial" panose="020B0604020202020204"/>
                        <a:ea typeface="Arial" panose="020B0604020202020204"/>
                        <a:cs typeface="Arial" panose="020B0604020202020204"/>
                      </a:endParaRPr>
                    </a:p>
                    <a:p>
                      <a:pPr marL="647065" indent="2540" algn="l" rtl="0" eaLnBrk="0">
                        <a:lnSpc>
                          <a:spcPct val="96000"/>
                        </a:lnSpc>
                        <a:spcBef>
                          <a:spcPts val="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每个服务得提前囤足服</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务器防突发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需求难预测</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服务器过多    利用率</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低</a:t>
                      </a:r>
                      <a:endParaRPr sz="2400" dirty="0">
                        <a:latin typeface="微软雅黑" panose="020B0503020204020204" charset="-122"/>
                        <a:ea typeface="微软雅黑" panose="020B0503020204020204" charset="-122"/>
                        <a:cs typeface="微软雅黑" panose="020B0503020204020204" charset="-122"/>
                      </a:endParaRPr>
                    </a:p>
                    <a:p>
                      <a:pPr marL="648970" indent="1905" algn="l" rtl="0" eaLnBrk="0">
                        <a:lnSpc>
                          <a:spcPct val="94000"/>
                        </a:lnSpc>
                        <a:spcBef>
                          <a:spcPts val="35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服务器过少</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无法应对流量高峰</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结果：整体利用率低</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，成本高</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28575" cap="flat" cmpd="sng" algn="ctr">
                      <a:solidFill>
                        <a:srgbClr val="BF9000"/>
                      </a:solidFill>
                      <a:prstDash val="solid"/>
                      <a:round/>
                      <a:headEnd type="none" w="med" len="med"/>
                      <a:tailEnd type="none" w="med" len="med"/>
                    </a:lnL>
                    <a:lnR>
                      <a:noFill/>
                    </a:lnR>
                    <a:lnT w="38100" cap="flat" cmpd="sng" algn="ctr">
                      <a:solidFill>
                        <a:srgbClr val="FFFFFF"/>
                      </a:solidFill>
                      <a:prstDash val="solid"/>
                      <a:round/>
                      <a:headEnd type="none" w="med" len="med"/>
                      <a:tailEnd type="none" w="med" len="med"/>
                    </a:lnT>
                    <a:lnB>
                      <a:noFill/>
                    </a:lnB>
                  </a:tcPr>
                </a:tc>
                <a:tc gridSpan="2">
                  <a:txBody>
                    <a:bodyPr/>
                    <a:lstStyle/>
                    <a:p>
                      <a:pPr algn="l" rtl="0" eaLnBrk="0">
                        <a:lnSpc>
                          <a:spcPct val="119000"/>
                        </a:lnSpc>
                      </a:pPr>
                      <a:endParaRPr sz="500" dirty="0">
                        <a:latin typeface="Arial" panose="020B0604020202020204"/>
                        <a:ea typeface="Arial" panose="020B0604020202020204"/>
                        <a:cs typeface="Arial" panose="020B0604020202020204"/>
                      </a:endParaRPr>
                    </a:p>
                    <a:p>
                      <a:pPr marL="304800" algn="l" rtl="0" eaLnBrk="0">
                        <a:lnSpc>
                          <a:spcPct val="89000"/>
                        </a:lnSpc>
                        <a:spcBef>
                          <a:spcPts val="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所有服务共享服务器池</a:t>
                      </a:r>
                      <a:endParaRPr sz="2400" dirty="0">
                        <a:latin typeface="微软雅黑" panose="020B0503020204020204" charset="-122"/>
                        <a:ea typeface="微软雅黑" panose="020B0503020204020204" charset="-122"/>
                        <a:cs typeface="微软雅黑" panose="020B0503020204020204" charset="-122"/>
                      </a:endParaRPr>
                    </a:p>
                    <a:p>
                      <a:pPr marL="304165" indent="7620" algn="l" rtl="0" eaLnBrk="0">
                        <a:lnSpc>
                          <a:spcPct val="94000"/>
                        </a:lnSpc>
                        <a:spcBef>
                          <a:spcPts val="345"/>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为突发需求的服务弹性分配服务器，</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分钟级弹性伸缩</a:t>
                      </a:r>
                      <a:endParaRPr sz="2400" dirty="0">
                        <a:latin typeface="微软雅黑" panose="020B0503020204020204" charset="-122"/>
                        <a:ea typeface="微软雅黑" panose="020B0503020204020204" charset="-122"/>
                        <a:cs typeface="微软雅黑" panose="020B0503020204020204" charset="-122"/>
                      </a:endParaRPr>
                    </a:p>
                    <a:p>
                      <a:pPr marL="303530" algn="l" rtl="0" eaLnBrk="0">
                        <a:lnSpc>
                          <a:spcPct val="94000"/>
                        </a:lnSpc>
                        <a:spcBef>
                          <a:spcPts val="350"/>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不用各自分配过量资源，利用率</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提升，</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硬件预算降低</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a:noFill/>
                    </a:lnL>
                    <a:lnR w="28575" cap="flat" cmpd="sng" algn="ctr">
                      <a:solidFill>
                        <a:srgbClr val="BF9000"/>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tcPr>
                </a:tc>
                <a:tc hMerge="1">
                  <a:tcPr marL="0" marR="0" marT="0" marB="0" vert="horz">
                    <a:lnL>
                      <a:noFill/>
                    </a:lnL>
                    <a:lnR w="28575" cap="flat" cmpd="sng" algn="ctr">
                      <a:solidFill>
                        <a:srgbClr val="BF9000"/>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tcPr>
                </a:tc>
              </a:tr>
              <a:tr h="179705">
                <a:tc grid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a:noFill/>
                    </a:lnT>
                    <a:lnB w="28575" cap="flat" cmpd="sng" algn="ctr">
                      <a:solidFill>
                        <a:srgbClr val="BF9000"/>
                      </a:solidFill>
                      <a:prstDash val="solid"/>
                      <a:round/>
                      <a:headEnd type="none" w="med" len="med"/>
                      <a:tailEnd type="none" w="med" len="med"/>
                    </a:lnB>
                  </a:tcPr>
                </a:tc>
                <a:tc hMerge="1">
                  <a:tcPr marL="0" marR="0" marT="0" marB="0" vert="horz">
                    <a:lnL>
                      <a:noFill/>
                    </a:lnL>
                    <a:lnR>
                      <a:noFill/>
                    </a:lnR>
                    <a:lnT>
                      <a:noFill/>
                    </a:lnT>
                    <a:lnB w="28575" cap="flat" cmpd="sng" algn="ctr">
                      <a:solidFill>
                        <a:srgbClr val="BF9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a:noFill/>
                    </a:lnT>
                    <a:lnB w="28575" cap="flat" cmpd="sng" algn="ctr">
                      <a:solidFill>
                        <a:srgbClr val="BF9000"/>
                      </a:solidFill>
                      <a:prstDash val="solid"/>
                      <a:round/>
                      <a:headEnd type="none" w="med" len="med"/>
                      <a:tailEnd type="none" w="med" len="med"/>
                    </a:lnB>
                  </a:tcPr>
                </a:tc>
              </a:tr>
            </a:tbl>
          </a:graphicData>
        </a:graphic>
      </p:graphicFrame>
      <p:sp>
        <p:nvSpPr>
          <p:cNvPr id="80" name="textbox 80"/>
          <p:cNvSpPr/>
          <p:nvPr/>
        </p:nvSpPr>
        <p:spPr>
          <a:xfrm>
            <a:off x="426516" y="1003198"/>
            <a:ext cx="5553075" cy="1996439"/>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9000"/>
              </a:lnSpc>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尽管如此，数据中心的成本依然</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高昂</a:t>
            </a:r>
            <a:r>
              <a:rPr sz="2400" kern="0" spc="-5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384175" indent="-24130" algn="l" rtl="0" eaLnBrk="0">
              <a:lnSpc>
                <a:spcPct val="147000"/>
              </a:lnSpc>
              <a:spcBef>
                <a:spcPts val="42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十万台服务器的数据中心每月开</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销高达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1200万美元</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2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354965" algn="l" rtl="0" eaLnBrk="0">
              <a:lnSpc>
                <a:spcPct val="89000"/>
              </a:lnSpc>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成本大部分来自服务器本</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身</a:t>
            </a:r>
            <a:endParaRPr sz="2400" dirty="0">
              <a:latin typeface="微软雅黑" panose="020B0503020204020204" charset="-122"/>
              <a:ea typeface="微软雅黑" panose="020B0503020204020204" charset="-122"/>
              <a:cs typeface="微软雅黑" panose="020B0503020204020204" charset="-122"/>
            </a:endParaRPr>
          </a:p>
        </p:txBody>
      </p:sp>
      <p:sp>
        <p:nvSpPr>
          <p:cNvPr id="82" name="textbox 82"/>
          <p:cNvSpPr/>
          <p:nvPr/>
        </p:nvSpPr>
        <p:spPr>
          <a:xfrm>
            <a:off x="332072" y="264331"/>
            <a:ext cx="9253855" cy="51244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3200" b="1" kern="0" spc="-10" dirty="0">
                <a:solidFill>
                  <a:srgbClr val="F26849">
                    <a:alpha val="100000"/>
                  </a:srgbClr>
                </a:solidFill>
                <a:latin typeface="微软雅黑" panose="020B0503020204020204" charset="-122"/>
                <a:ea typeface="微软雅黑" panose="020B0503020204020204" charset="-122"/>
                <a:cs typeface="微软雅黑" panose="020B0503020204020204" charset="-122"/>
              </a:rPr>
              <a:t>Introduction：</a:t>
            </a:r>
            <a:r>
              <a:rPr sz="3200" b="1" kern="0" spc="-7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3200" b="1" kern="0" spc="-10" dirty="0">
                <a:solidFill>
                  <a:srgbClr val="F26849">
                    <a:alpha val="100000"/>
                  </a:srgbClr>
                </a:solidFill>
                <a:latin typeface="微软雅黑" panose="020B0503020204020204" charset="-122"/>
                <a:ea typeface="微软雅黑" panose="020B0503020204020204" charset="-122"/>
                <a:cs typeface="微软雅黑" panose="020B0503020204020204" charset="-122"/>
              </a:rPr>
              <a:t>Cloud services require AGILITY</a:t>
            </a:r>
            <a:endParaRPr sz="3200" dirty="0">
              <a:latin typeface="微软雅黑" panose="020B0503020204020204" charset="-122"/>
              <a:ea typeface="微软雅黑" panose="020B0503020204020204" charset="-122"/>
              <a:cs typeface="微软雅黑" panose="020B0503020204020204" charset="-122"/>
            </a:endParaRPr>
          </a:p>
        </p:txBody>
      </p:sp>
      <p:sp>
        <p:nvSpPr>
          <p:cNvPr id="84" name="textbox 84"/>
          <p:cNvSpPr/>
          <p:nvPr/>
        </p:nvSpPr>
        <p:spPr>
          <a:xfrm>
            <a:off x="10447146" y="1621028"/>
            <a:ext cx="962025" cy="71437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6510" algn="l" rtl="0" eaLnBrk="0">
              <a:lnSpc>
                <a:spcPct val="87000"/>
              </a:lnSpc>
            </a:pPr>
            <a:r>
              <a:rPr sz="2400" b="1" kern="0" spc="-10" dirty="0">
                <a:solidFill>
                  <a:srgbClr val="FFFFFF">
                    <a:alpha val="100000"/>
                  </a:srgbClr>
                </a:solidFill>
                <a:latin typeface="等线" panose="02010600030101010101" charset="-122"/>
                <a:ea typeface="等线" panose="02010600030101010101" charset="-122"/>
                <a:cs typeface="等线" panose="02010600030101010101" charset="-122"/>
              </a:rPr>
              <a:t>敏捷性</a:t>
            </a:r>
            <a:endParaRPr sz="2400" dirty="0">
              <a:latin typeface="等线" panose="02010600030101010101" charset="-122"/>
              <a:ea typeface="等线" panose="02010600030101010101" charset="-122"/>
              <a:cs typeface="等线" panose="02010600030101010101" charset="-122"/>
            </a:endParaRPr>
          </a:p>
          <a:p>
            <a:pPr marL="12700" algn="l" rtl="0" eaLnBrk="0">
              <a:lnSpc>
                <a:spcPct val="83000"/>
              </a:lnSpc>
              <a:spcBef>
                <a:spcPts val="535"/>
              </a:spcBef>
            </a:pPr>
            <a:r>
              <a:rPr sz="2400" kern="0" spc="-20" dirty="0">
                <a:solidFill>
                  <a:srgbClr val="FFFFFF">
                    <a:alpha val="100000"/>
                  </a:srgbClr>
                </a:solidFill>
                <a:latin typeface="Calibri" panose="020F0502020204030204"/>
                <a:ea typeface="Calibri" panose="020F0502020204030204"/>
                <a:cs typeface="Calibri" panose="020F0502020204030204"/>
              </a:rPr>
              <a:t>(Agility)</a:t>
            </a:r>
            <a:endParaRPr sz="2400" dirty="0">
              <a:latin typeface="Calibri" panose="020F0502020204030204"/>
              <a:ea typeface="Calibri" panose="020F0502020204030204"/>
              <a:cs typeface="Calibri" panose="020F0502020204030204"/>
            </a:endParaRPr>
          </a:p>
        </p:txBody>
      </p:sp>
      <p:pic>
        <p:nvPicPr>
          <p:cNvPr id="86" name="picture 86"/>
          <p:cNvPicPr>
            <a:picLocks noChangeAspect="1"/>
          </p:cNvPicPr>
          <p:nvPr/>
        </p:nvPicPr>
        <p:blipFill>
          <a:blip r:embed="rId2"/>
          <a:stretch>
            <a:fillRect/>
          </a:stretch>
        </p:blipFill>
        <p:spPr>
          <a:xfrm rot="21600000">
            <a:off x="11338559" y="18288"/>
            <a:ext cx="720852" cy="719328"/>
          </a:xfrm>
          <a:prstGeom prst="rect">
            <a:avLst/>
          </a:prstGeom>
        </p:spPr>
      </p:pic>
      <p:sp>
        <p:nvSpPr>
          <p:cNvPr id="88" name="textbox 88"/>
          <p:cNvSpPr/>
          <p:nvPr/>
        </p:nvSpPr>
        <p:spPr>
          <a:xfrm>
            <a:off x="8244912" y="1221740"/>
            <a:ext cx="332104" cy="1440814"/>
          </a:xfrm>
          <a:prstGeom prst="rect">
            <a:avLst/>
          </a:prstGeom>
          <a:noFill/>
          <a:ln w="0" cap="flat">
            <a:noFill/>
            <a:prstDash val="solid"/>
            <a:miter lim="0"/>
          </a:ln>
        </p:spPr>
        <p:txBody>
          <a:bodyPr vert="eaVert"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2000"/>
              </a:lnSpc>
            </a:pPr>
            <a:r>
              <a:rPr sz="2400" b="1" kern="0" spc="380" dirty="0">
                <a:solidFill>
                  <a:srgbClr val="FFFFFF">
                    <a:alpha val="100000"/>
                  </a:srgbClr>
                </a:solidFill>
                <a:latin typeface="等线" panose="02010600030101010101" charset="-122"/>
                <a:ea typeface="等线" panose="02010600030101010101" charset="-122"/>
                <a:cs typeface="等线" panose="02010600030101010101" charset="-122"/>
              </a:rPr>
              <a:t>高利用率</a:t>
            </a:r>
            <a:endParaRPr sz="2400" dirty="0">
              <a:latin typeface="等线" panose="02010600030101010101" charset="-122"/>
              <a:ea typeface="等线" panose="02010600030101010101" charset="-122"/>
              <a:cs typeface="等线" panose="02010600030101010101" charset="-122"/>
            </a:endParaRPr>
          </a:p>
        </p:txBody>
      </p:sp>
      <p:pic>
        <p:nvPicPr>
          <p:cNvPr id="90" name="picture 90"/>
          <p:cNvPicPr>
            <a:picLocks noChangeAspect="1"/>
          </p:cNvPicPr>
          <p:nvPr/>
        </p:nvPicPr>
        <p:blipFill>
          <a:blip r:embed="rId3"/>
          <a:stretch>
            <a:fillRect/>
          </a:stretch>
        </p:blipFill>
        <p:spPr>
          <a:xfrm rot="21600000">
            <a:off x="155447" y="751332"/>
            <a:ext cx="11881104" cy="19811"/>
          </a:xfrm>
          <a:prstGeom prst="rect">
            <a:avLst/>
          </a:prstGeom>
        </p:spPr>
      </p:pic>
      <p:sp>
        <p:nvSpPr>
          <p:cNvPr id="92" name="path 92"/>
          <p:cNvSpPr/>
          <p:nvPr/>
        </p:nvSpPr>
        <p:spPr>
          <a:xfrm>
            <a:off x="422592" y="6550152"/>
            <a:ext cx="10911268" cy="12700"/>
          </a:xfrm>
          <a:custGeom>
            <a:avLst/>
            <a:gdLst/>
            <a:ahLst/>
            <a:cxnLst/>
            <a:rect l="0" t="0" r="0" b="0"/>
            <a:pathLst>
              <a:path w="17183" h="20">
                <a:moveTo>
                  <a:pt x="0" y="10"/>
                </a:moveTo>
                <a:lnTo>
                  <a:pt x="17183" y="10"/>
                </a:lnTo>
              </a:path>
            </a:pathLst>
          </a:custGeom>
          <a:noFill/>
          <a:ln w="12700" cap="flat">
            <a:solidFill>
              <a:srgbClr val="FFFFFF"/>
            </a:solidFill>
            <a:prstDash val="solid"/>
            <a:round/>
          </a:ln>
        </p:spPr>
        <p:txBody>
          <a:bodyPr rtlCol="0"/>
          <a:lstStyle/>
          <a:p>
            <a:pPr algn="ctr"/>
            <a:endParaRPr lang="zh-CN" altLang="en-US"/>
          </a:p>
        </p:txBody>
      </p:sp>
      <p:sp>
        <p:nvSpPr>
          <p:cNvPr id="94" name="textbox 94"/>
          <p:cNvSpPr/>
          <p:nvPr/>
        </p:nvSpPr>
        <p:spPr>
          <a:xfrm>
            <a:off x="7132294" y="1839722"/>
            <a:ext cx="469265" cy="264159"/>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7000"/>
              </a:lnSpc>
            </a:pPr>
            <a:r>
              <a:rPr sz="1800" kern="0" spc="-40" dirty="0">
                <a:solidFill>
                  <a:srgbClr val="FFFFFF">
                    <a:alpha val="100000"/>
                  </a:srgbClr>
                </a:solidFill>
                <a:latin typeface="等线" panose="02010600030101010101" charset="-122"/>
                <a:ea typeface="等线" panose="02010600030101010101" charset="-122"/>
                <a:cs typeface="等线" panose="02010600030101010101" charset="-122"/>
              </a:rPr>
              <a:t>需要</a:t>
            </a:r>
            <a:endParaRPr sz="1800" dirty="0">
              <a:latin typeface="等线" panose="02010600030101010101" charset="-122"/>
              <a:ea typeface="等线" panose="02010600030101010101" charset="-122"/>
              <a:cs typeface="等线" panose="02010600030101010101" charset="-122"/>
            </a:endParaRPr>
          </a:p>
        </p:txBody>
      </p:sp>
      <p:sp>
        <p:nvSpPr>
          <p:cNvPr id="96" name="textbox 96"/>
          <p:cNvSpPr/>
          <p:nvPr/>
        </p:nvSpPr>
        <p:spPr>
          <a:xfrm>
            <a:off x="9116238" y="1839722"/>
            <a:ext cx="466725" cy="264159"/>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7000"/>
              </a:lnSpc>
            </a:pPr>
            <a:r>
              <a:rPr sz="1800" kern="0" spc="-40" dirty="0">
                <a:solidFill>
                  <a:srgbClr val="FFFFFF">
                    <a:alpha val="100000"/>
                  </a:srgbClr>
                </a:solidFill>
                <a:latin typeface="等线" panose="02010600030101010101" charset="-122"/>
                <a:ea typeface="等线" panose="02010600030101010101" charset="-122"/>
                <a:cs typeface="等线" panose="02010600030101010101" charset="-122"/>
              </a:rPr>
              <a:t>关键</a:t>
            </a:r>
            <a:endParaRPr sz="1800" dirty="0">
              <a:latin typeface="等线" panose="02010600030101010101" charset="-122"/>
              <a:ea typeface="等线" panose="02010600030101010101" charset="-122"/>
              <a:cs typeface="等线" panose="02010600030101010101" charset="-122"/>
            </a:endParaRPr>
          </a:p>
        </p:txBody>
      </p:sp>
      <p:sp>
        <p:nvSpPr>
          <p:cNvPr id="98" name="path 98"/>
          <p:cNvSpPr/>
          <p:nvPr/>
        </p:nvSpPr>
        <p:spPr>
          <a:xfrm>
            <a:off x="7703566" y="2082546"/>
            <a:ext cx="12700" cy="121158"/>
          </a:xfrm>
          <a:custGeom>
            <a:avLst/>
            <a:gdLst/>
            <a:ahLst/>
            <a:cxnLst/>
            <a:rect l="0" t="0" r="0" b="0"/>
            <a:pathLst>
              <a:path w="20" h="190">
                <a:moveTo>
                  <a:pt x="10" y="190"/>
                </a:moveTo>
                <a:lnTo>
                  <a:pt x="10" y="0"/>
                </a:lnTo>
              </a:path>
            </a:pathLst>
          </a:custGeom>
          <a:noFill/>
          <a:ln w="12700" cap="flat">
            <a:solidFill>
              <a:srgbClr val="2F528F"/>
            </a:solidFill>
            <a:prstDash val="solid"/>
            <a:miter lim="1000000"/>
          </a:ln>
        </p:spPr>
        <p:txBody>
          <a:bodyPr rtlCol="0"/>
          <a:lstStyle/>
          <a:p>
            <a:pPr algn="ctr"/>
            <a:endParaRPr lang="zh-CN" altLang="en-US"/>
          </a:p>
        </p:txBody>
      </p:sp>
      <p:sp>
        <p:nvSpPr>
          <p:cNvPr id="100" name="path 100"/>
          <p:cNvSpPr/>
          <p:nvPr/>
        </p:nvSpPr>
        <p:spPr>
          <a:xfrm>
            <a:off x="9684766" y="2082546"/>
            <a:ext cx="12700" cy="121158"/>
          </a:xfrm>
          <a:custGeom>
            <a:avLst/>
            <a:gdLst/>
            <a:ahLst/>
            <a:cxnLst/>
            <a:rect l="0" t="0" r="0" b="0"/>
            <a:pathLst>
              <a:path w="20" h="190">
                <a:moveTo>
                  <a:pt x="10" y="190"/>
                </a:moveTo>
                <a:lnTo>
                  <a:pt x="10" y="0"/>
                </a:lnTo>
              </a:path>
            </a:pathLst>
          </a:custGeom>
          <a:noFill/>
          <a:ln w="12700" cap="flat">
            <a:solidFill>
              <a:srgbClr val="2F528F"/>
            </a:solidFill>
            <a:prstDash val="solid"/>
            <a:miter lim="1000000"/>
          </a:ln>
        </p:spPr>
        <p:txBody>
          <a:bodyPr rtlCol="0"/>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 102"/>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104" name="textbox 104"/>
          <p:cNvSpPr/>
          <p:nvPr/>
        </p:nvSpPr>
        <p:spPr>
          <a:xfrm>
            <a:off x="2645153" y="635762"/>
            <a:ext cx="6833234" cy="563499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71399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2F5EB0">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2F5EB0">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2F5EB0">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580"/>
              </a:spcBef>
            </a:pPr>
            <a:r>
              <a:rPr sz="2700" b="1" kern="0" spc="140" dirty="0">
                <a:solidFill>
                  <a:srgbClr val="D9D9D9">
                    <a:alpha val="100000"/>
                  </a:srgbClr>
                </a:solidFill>
                <a:latin typeface="微软雅黑" panose="020B0503020204020204" charset="-122"/>
                <a:ea typeface="微软雅黑" panose="020B0503020204020204" charset="-122"/>
                <a:cs typeface="微软雅黑" panose="020B0503020204020204" charset="-122"/>
              </a:rPr>
              <a:t>1.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Cloud</a:t>
            </a:r>
            <a:r>
              <a:rPr sz="2700" b="1" kern="0" spc="1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services</a:t>
            </a:r>
            <a:r>
              <a:rPr sz="2700" b="1" kern="0" spc="25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require</a:t>
            </a:r>
            <a:r>
              <a:rPr sz="2700" b="1" kern="0" spc="14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AGILITY</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92000"/>
              </a:lnSpc>
              <a:spcBef>
                <a:spcPts val="1320"/>
              </a:spcBef>
            </a:pPr>
            <a:r>
              <a:rPr sz="2700" b="1" kern="0" spc="110" dirty="0">
                <a:solidFill>
                  <a:srgbClr val="4472C4">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Current</a:t>
            </a:r>
            <a:r>
              <a:rPr sz="2700" b="1" kern="0" spc="3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DCNs</a:t>
            </a:r>
            <a:r>
              <a:rPr sz="2700" b="1" kern="0" spc="2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lack</a:t>
            </a:r>
            <a:r>
              <a:rPr sz="2700" b="1" kern="0" spc="11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AGILITY</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580"/>
              </a:spcBef>
            </a:pP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VL</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goals</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&amp;</a:t>
            </a:r>
            <a:r>
              <a:rPr sz="2700" b="1" kern="0" spc="1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contributions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5"/>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5"/>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106" name="picture 106"/>
          <p:cNvPicPr>
            <a:picLocks noChangeAspect="1"/>
          </p:cNvPicPr>
          <p:nvPr/>
        </p:nvPicPr>
        <p:blipFill>
          <a:blip r:embed="rId1"/>
          <a:stretch>
            <a:fillRect/>
          </a:stretch>
        </p:blipFill>
        <p:spPr>
          <a:xfrm rot="21600000">
            <a:off x="0" y="0"/>
            <a:ext cx="12192000" cy="288035"/>
          </a:xfrm>
          <a:prstGeom prst="rect">
            <a:avLst/>
          </a:prstGeom>
        </p:spPr>
      </p:pic>
      <p:pic>
        <p:nvPicPr>
          <p:cNvPr id="108" name="picture 108"/>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box 110"/>
          <p:cNvSpPr/>
          <p:nvPr/>
        </p:nvSpPr>
        <p:spPr>
          <a:xfrm>
            <a:off x="4669790" y="896366"/>
            <a:ext cx="7226300" cy="5384165"/>
          </a:xfrm>
          <a:prstGeom prst="roundRect">
            <a:avLst>
              <a:gd name="adj" fmla="val 7416"/>
            </a:avLst>
          </a:prstGeom>
          <a:noFill/>
          <a:ln w="25400" cap="flat">
            <a:solidFill>
              <a:srgbClr val="2F5597"/>
            </a:solidFill>
            <a:prstDash val="solid"/>
            <a:miter lim="0"/>
          </a:ln>
        </p:spPr>
        <p:txBody>
          <a:bodyPr vert="horz" wrap="square" lIns="0" tIns="0" rIns="0" bIns="0"/>
          <a:lstStyle/>
          <a:p>
            <a:pPr algn="l" rtl="0" eaLnBrk="0">
              <a:lnSpc>
                <a:spcPct val="110000"/>
              </a:lnSpc>
            </a:pPr>
            <a:endParaRPr sz="800" dirty="0">
              <a:latin typeface="Arial" panose="020B0604020202020204"/>
              <a:ea typeface="Arial" panose="020B0604020202020204"/>
              <a:cs typeface="Arial" panose="020B0604020202020204"/>
            </a:endParaRPr>
          </a:p>
          <a:p>
            <a:pPr marL="466090" indent="-266065" algn="l" rtl="0" eaLnBrk="0">
              <a:lnSpc>
                <a:spcPct val="94000"/>
              </a:lnSpc>
              <a:spcBef>
                <a:spcPts val="5"/>
              </a:spcBef>
              <a:tabLst>
                <a:tab pos="4159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传统数据中心网络依赖昂贵硬件搭</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建树形网络</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拓扑</a:t>
            </a:r>
            <a:endParaRPr sz="2400" dirty="0">
              <a:latin typeface="微软雅黑" panose="020B0503020204020204" charset="-122"/>
              <a:ea typeface="微软雅黑" panose="020B0503020204020204" charset="-122"/>
              <a:cs typeface="微软雅黑" panose="020B0503020204020204" charset="-122"/>
            </a:endParaRPr>
          </a:p>
          <a:p>
            <a:pPr marL="200025" algn="l" rtl="0" eaLnBrk="0">
              <a:lnSpc>
                <a:spcPct val="100000"/>
              </a:lnSpc>
              <a:spcBef>
                <a:spcPts val="1520"/>
              </a:spcBef>
              <a:tabLst>
                <a:tab pos="4159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越向上链路越贵，所以采用over su</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bscription</a:t>
            </a:r>
            <a:endParaRPr sz="2400" dirty="0">
              <a:latin typeface="微软雅黑" panose="020B0503020204020204" charset="-122"/>
              <a:ea typeface="微软雅黑" panose="020B0503020204020204" charset="-122"/>
              <a:cs typeface="微软雅黑" panose="020B0503020204020204" charset="-122"/>
            </a:endParaRPr>
          </a:p>
          <a:p>
            <a:pPr marL="657225" algn="l" rtl="0" eaLnBrk="0">
              <a:lnSpc>
                <a:spcPct val="89000"/>
              </a:lnSpc>
              <a:spcBef>
                <a:spcPts val="1200"/>
              </a:spcBef>
              <a:tabLst>
                <a:tab pos="8737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一般在1:5以上</a:t>
            </a:r>
            <a:endParaRPr sz="2400" dirty="0">
              <a:latin typeface="微软雅黑" panose="020B0503020204020204" charset="-122"/>
              <a:ea typeface="微软雅黑" panose="020B0503020204020204" charset="-122"/>
              <a:cs typeface="微软雅黑" panose="020B0503020204020204" charset="-122"/>
            </a:endParaRPr>
          </a:p>
          <a:p>
            <a:pPr marL="657225" algn="l" rtl="0" eaLnBrk="0">
              <a:lnSpc>
                <a:spcPct val="89000"/>
              </a:lnSpc>
              <a:spcBef>
                <a:spcPts val="1515"/>
              </a:spcBef>
              <a:tabLst>
                <a:tab pos="8737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最高层可达1:240</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7000"/>
              </a:lnSpc>
            </a:pPr>
            <a:endParaRPr sz="12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85775" indent="-285750" algn="l" rtl="0" eaLnBrk="0">
              <a:lnSpc>
                <a:spcPct val="94000"/>
              </a:lnSpc>
              <a:tabLst>
                <a:tab pos="4159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后果：服务器池被分隔，空闲服务器存</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在，但</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因为跨段带宽不足，没法把热点任务</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迁过去。</a:t>
            </a:r>
            <a:endParaRPr sz="2400" dirty="0">
              <a:latin typeface="微软雅黑" panose="020B0503020204020204" charset="-122"/>
              <a:ea typeface="微软雅黑" panose="020B0503020204020204" charset="-122"/>
              <a:cs typeface="微软雅黑" panose="020B0503020204020204" charset="-122"/>
            </a:endParaRPr>
          </a:p>
        </p:txBody>
      </p:sp>
      <p:pic>
        <p:nvPicPr>
          <p:cNvPr id="112" name="picture 112"/>
          <p:cNvPicPr>
            <a:picLocks noChangeAspect="1"/>
          </p:cNvPicPr>
          <p:nvPr/>
        </p:nvPicPr>
        <p:blipFill>
          <a:blip r:embed="rId1"/>
          <a:stretch>
            <a:fillRect/>
          </a:stretch>
        </p:blipFill>
        <p:spPr>
          <a:xfrm rot="21600000">
            <a:off x="4987112" y="3608247"/>
            <a:ext cx="216408" cy="223723"/>
          </a:xfrm>
          <a:prstGeom prst="rect">
            <a:avLst/>
          </a:prstGeom>
        </p:spPr>
      </p:pic>
      <p:pic>
        <p:nvPicPr>
          <p:cNvPr id="114" name="picture 114"/>
          <p:cNvPicPr>
            <a:picLocks noChangeAspect="1"/>
          </p:cNvPicPr>
          <p:nvPr/>
        </p:nvPicPr>
        <p:blipFill>
          <a:blip r:embed="rId2"/>
          <a:stretch>
            <a:fillRect/>
          </a:stretch>
        </p:blipFill>
        <p:spPr>
          <a:xfrm rot="21600000">
            <a:off x="5444312" y="3089706"/>
            <a:ext cx="216408" cy="223723"/>
          </a:xfrm>
          <a:prstGeom prst="rect">
            <a:avLst/>
          </a:prstGeom>
        </p:spPr>
      </p:pic>
      <p:pic>
        <p:nvPicPr>
          <p:cNvPr id="116" name="picture 116"/>
          <p:cNvPicPr>
            <a:picLocks noChangeAspect="1"/>
          </p:cNvPicPr>
          <p:nvPr/>
        </p:nvPicPr>
        <p:blipFill>
          <a:blip r:embed="rId1"/>
          <a:stretch>
            <a:fillRect/>
          </a:stretch>
        </p:blipFill>
        <p:spPr>
          <a:xfrm rot="21600000">
            <a:off x="5444312" y="2571546"/>
            <a:ext cx="216408" cy="223723"/>
          </a:xfrm>
          <a:prstGeom prst="rect">
            <a:avLst/>
          </a:prstGeom>
        </p:spPr>
      </p:pic>
      <p:pic>
        <p:nvPicPr>
          <p:cNvPr id="118" name="picture 118"/>
          <p:cNvPicPr>
            <a:picLocks noChangeAspect="1"/>
          </p:cNvPicPr>
          <p:nvPr/>
        </p:nvPicPr>
        <p:blipFill>
          <a:blip r:embed="rId1"/>
          <a:stretch>
            <a:fillRect/>
          </a:stretch>
        </p:blipFill>
        <p:spPr>
          <a:xfrm rot="21600000">
            <a:off x="4987112" y="2053386"/>
            <a:ext cx="216408" cy="223723"/>
          </a:xfrm>
          <a:prstGeom prst="rect">
            <a:avLst/>
          </a:prstGeom>
        </p:spPr>
      </p:pic>
      <p:pic>
        <p:nvPicPr>
          <p:cNvPr id="120" name="picture 120"/>
          <p:cNvPicPr>
            <a:picLocks noChangeAspect="1"/>
          </p:cNvPicPr>
          <p:nvPr/>
        </p:nvPicPr>
        <p:blipFill>
          <a:blip r:embed="rId1"/>
          <a:stretch>
            <a:fillRect/>
          </a:stretch>
        </p:blipFill>
        <p:spPr>
          <a:xfrm rot="21600000">
            <a:off x="4987112" y="1169213"/>
            <a:ext cx="216408" cy="223723"/>
          </a:xfrm>
          <a:prstGeom prst="rect">
            <a:avLst/>
          </a:prstGeom>
        </p:spPr>
      </p:pic>
      <p:sp>
        <p:nvSpPr>
          <p:cNvPr id="122" name="textbox 122"/>
          <p:cNvSpPr/>
          <p:nvPr/>
        </p:nvSpPr>
        <p:spPr>
          <a:xfrm>
            <a:off x="404571" y="2065680"/>
            <a:ext cx="3971925" cy="2545079"/>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9000"/>
              </a:lnSpc>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当前数据中心网络缺乏敏捷性</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21590" algn="l" rtl="0" eaLnBrk="0">
              <a:lnSpc>
                <a:spcPct val="89000"/>
              </a:lnSpc>
              <a:spcBef>
                <a:spcPts val="725"/>
              </a:spcBef>
              <a:tabLst>
                <a:tab pos="238125"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服务器缺乏足够互连</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带宽</a:t>
            </a:r>
            <a:endParaRPr sz="2400" dirty="0">
              <a:latin typeface="微软雅黑" panose="020B0503020204020204" charset="-122"/>
              <a:ea typeface="微软雅黑" panose="020B0503020204020204" charset="-122"/>
              <a:cs typeface="微软雅黑" panose="020B0503020204020204" charset="-122"/>
            </a:endParaRPr>
          </a:p>
          <a:p>
            <a:pPr marL="21590" algn="l" rtl="0" eaLnBrk="0">
              <a:lnSpc>
                <a:spcPct val="89000"/>
              </a:lnSpc>
              <a:spcBef>
                <a:spcPts val="1760"/>
              </a:spcBef>
              <a:tabLst>
                <a:tab pos="238125" algn="l"/>
              </a:tabLst>
            </a:pP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1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D9D9D9">
                    <a:alpha val="100000"/>
                  </a:srgbClr>
                </a:solidFill>
                <a:latin typeface="微软雅黑" panose="020B0503020204020204" charset="-122"/>
                <a:ea typeface="微软雅黑" panose="020B0503020204020204" charset="-122"/>
                <a:cs typeface="微软雅黑" panose="020B0503020204020204" charset="-122"/>
              </a:rPr>
              <a:t>服务缺乏性能隔离</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4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590" algn="l" rtl="0" eaLnBrk="0">
              <a:lnSpc>
                <a:spcPct val="89000"/>
              </a:lnSpc>
              <a:tabLst>
                <a:tab pos="238125" algn="l"/>
              </a:tabLst>
            </a:pP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虚拟机缺乏灵活迁移</a:t>
            </a:r>
            <a:r>
              <a:rPr sz="2400" b="1" kern="0" spc="-10" dirty="0">
                <a:solidFill>
                  <a:srgbClr val="D9D9D9">
                    <a:alpha val="100000"/>
                  </a:srgbClr>
                </a:solidFill>
                <a:latin typeface="微软雅黑" panose="020B0503020204020204" charset="-122"/>
                <a:ea typeface="微软雅黑" panose="020B0503020204020204" charset="-122"/>
                <a:cs typeface="微软雅黑" panose="020B0503020204020204" charset="-122"/>
              </a:rPr>
              <a:t>机制</a:t>
            </a:r>
            <a:endParaRPr sz="2400" dirty="0">
              <a:latin typeface="微软雅黑" panose="020B0503020204020204" charset="-122"/>
              <a:ea typeface="微软雅黑" panose="020B0503020204020204" charset="-122"/>
              <a:cs typeface="微软雅黑" panose="020B0503020204020204" charset="-122"/>
            </a:endParaRPr>
          </a:p>
        </p:txBody>
      </p:sp>
      <p:pic>
        <p:nvPicPr>
          <p:cNvPr id="124" name="picture 124"/>
          <p:cNvPicPr>
            <a:picLocks noChangeAspect="1"/>
          </p:cNvPicPr>
          <p:nvPr/>
        </p:nvPicPr>
        <p:blipFill>
          <a:blip r:embed="rId3"/>
          <a:stretch>
            <a:fillRect/>
          </a:stretch>
        </p:blipFill>
        <p:spPr>
          <a:xfrm rot="21600000">
            <a:off x="426415" y="4297095"/>
            <a:ext cx="216407" cy="223723"/>
          </a:xfrm>
          <a:prstGeom prst="rect">
            <a:avLst/>
          </a:prstGeom>
        </p:spPr>
      </p:pic>
      <p:pic>
        <p:nvPicPr>
          <p:cNvPr id="126" name="picture 126"/>
          <p:cNvPicPr>
            <a:picLocks noChangeAspect="1"/>
          </p:cNvPicPr>
          <p:nvPr/>
        </p:nvPicPr>
        <p:blipFill>
          <a:blip r:embed="rId4"/>
          <a:stretch>
            <a:fillRect/>
          </a:stretch>
        </p:blipFill>
        <p:spPr>
          <a:xfrm rot="21600000">
            <a:off x="426415" y="3748455"/>
            <a:ext cx="216407" cy="223723"/>
          </a:xfrm>
          <a:prstGeom prst="rect">
            <a:avLst/>
          </a:prstGeom>
        </p:spPr>
      </p:pic>
      <p:pic>
        <p:nvPicPr>
          <p:cNvPr id="128" name="picture 128"/>
          <p:cNvPicPr>
            <a:picLocks noChangeAspect="1"/>
          </p:cNvPicPr>
          <p:nvPr/>
        </p:nvPicPr>
        <p:blipFill>
          <a:blip r:embed="rId5"/>
          <a:stretch>
            <a:fillRect/>
          </a:stretch>
        </p:blipFill>
        <p:spPr>
          <a:xfrm rot="21600000">
            <a:off x="426415" y="3199434"/>
            <a:ext cx="216407" cy="223723"/>
          </a:xfrm>
          <a:prstGeom prst="rect">
            <a:avLst/>
          </a:prstGeom>
        </p:spPr>
      </p:pic>
      <p:pic>
        <p:nvPicPr>
          <p:cNvPr id="130" name="picture 130"/>
          <p:cNvPicPr>
            <a:picLocks noChangeAspect="1"/>
          </p:cNvPicPr>
          <p:nvPr/>
        </p:nvPicPr>
        <p:blipFill>
          <a:blip r:embed="rId6"/>
          <a:stretch>
            <a:fillRect/>
          </a:stretch>
        </p:blipFill>
        <p:spPr>
          <a:xfrm rot="21600000">
            <a:off x="5600700" y="4347971"/>
            <a:ext cx="4791456" cy="1865376"/>
          </a:xfrm>
          <a:prstGeom prst="rect">
            <a:avLst/>
          </a:prstGeom>
        </p:spPr>
      </p:pic>
      <p:sp>
        <p:nvSpPr>
          <p:cNvPr id="132" name="textbox 132"/>
          <p:cNvSpPr/>
          <p:nvPr/>
        </p:nvSpPr>
        <p:spPr>
          <a:xfrm>
            <a:off x="332072" y="268903"/>
            <a:ext cx="8459469" cy="45910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Introduction：</a:t>
            </a:r>
            <a:r>
              <a:rPr sz="3200" b="1" kern="0" spc="-7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Current</a:t>
            </a:r>
            <a:r>
              <a:rPr sz="3200" b="1" kern="0" spc="23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DCNs lack AGILITY</a:t>
            </a:r>
            <a:endParaRPr sz="3200" dirty="0">
              <a:latin typeface="微软雅黑" panose="020B0503020204020204" charset="-122"/>
              <a:ea typeface="微软雅黑" panose="020B0503020204020204" charset="-122"/>
              <a:cs typeface="微软雅黑" panose="020B0503020204020204" charset="-122"/>
            </a:endParaRPr>
          </a:p>
        </p:txBody>
      </p:sp>
      <p:pic>
        <p:nvPicPr>
          <p:cNvPr id="134" name="picture 134"/>
          <p:cNvPicPr>
            <a:picLocks noChangeAspect="1"/>
          </p:cNvPicPr>
          <p:nvPr/>
        </p:nvPicPr>
        <p:blipFill>
          <a:blip r:embed="rId7"/>
          <a:stretch>
            <a:fillRect/>
          </a:stretch>
        </p:blipFill>
        <p:spPr>
          <a:xfrm rot="21600000">
            <a:off x="11338559" y="18288"/>
            <a:ext cx="720852" cy="719328"/>
          </a:xfrm>
          <a:prstGeom prst="rect">
            <a:avLst/>
          </a:prstGeom>
        </p:spPr>
      </p:pic>
      <p:pic>
        <p:nvPicPr>
          <p:cNvPr id="136" name="picture 136"/>
          <p:cNvPicPr>
            <a:picLocks noChangeAspect="1"/>
          </p:cNvPicPr>
          <p:nvPr/>
        </p:nvPicPr>
        <p:blipFill>
          <a:blip r:embed="rId8"/>
          <a:stretch>
            <a:fillRect/>
          </a:stretch>
        </p:blipFill>
        <p:spPr>
          <a:xfrm rot="21600000">
            <a:off x="155447" y="751332"/>
            <a:ext cx="11881104" cy="19811"/>
          </a:xfrm>
          <a:prstGeom prst="rect">
            <a:avLst/>
          </a:prstGeom>
        </p:spPr>
      </p:pic>
      <p:pic>
        <p:nvPicPr>
          <p:cNvPr id="138" name="picture 138"/>
          <p:cNvPicPr>
            <a:picLocks noChangeAspect="1"/>
          </p:cNvPicPr>
          <p:nvPr/>
        </p:nvPicPr>
        <p:blipFill>
          <a:blip r:embed="rId9"/>
          <a:stretch>
            <a:fillRect/>
          </a:stretch>
        </p:blipFill>
        <p:spPr>
          <a:xfrm rot="21600000">
            <a:off x="161544" y="6461759"/>
            <a:ext cx="11879580" cy="18288"/>
          </a:xfrm>
          <a:prstGeom prst="rect">
            <a:avLst/>
          </a:prstGeom>
        </p:spPr>
      </p:pic>
      <p:sp>
        <p:nvSpPr>
          <p:cNvPr id="140" name="textbox 140"/>
          <p:cNvSpPr/>
          <p:nvPr/>
        </p:nvSpPr>
        <p:spPr>
          <a:xfrm>
            <a:off x="11644441" y="6559321"/>
            <a:ext cx="130810"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algn="r"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7</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box 142"/>
          <p:cNvSpPr/>
          <p:nvPr/>
        </p:nvSpPr>
        <p:spPr>
          <a:xfrm>
            <a:off x="4669790" y="1408429"/>
            <a:ext cx="6816725" cy="3896359"/>
          </a:xfrm>
          <a:prstGeom prst="roundRect">
            <a:avLst>
              <a:gd name="adj" fmla="val 7584"/>
            </a:avLst>
          </a:prstGeom>
          <a:noFill/>
          <a:ln w="25400" cap="flat">
            <a:solidFill>
              <a:srgbClr val="2F5597"/>
            </a:solidFill>
            <a:prstDash val="solid"/>
            <a:miter lim="0"/>
          </a:ln>
        </p:spPr>
        <p:txBody>
          <a:bodyPr vert="horz" wrap="square" lIns="0" tIns="0" rIns="0" bIns="0"/>
          <a:lstStyle/>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40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720725" indent="-263525" algn="l" rtl="0" eaLnBrk="0">
              <a:lnSpc>
                <a:spcPct val="132000"/>
              </a:lnSpc>
              <a:tabLst>
                <a:tab pos="6731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数据中心虽然部署了许多服务，但通常没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有机制来保证一个服务的突发流量不会影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响到其他服务</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64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722630" indent="-265430" algn="l" rtl="0" eaLnBrk="0">
              <a:lnSpc>
                <a:spcPct val="124000"/>
              </a:lnSpc>
              <a:spcBef>
                <a:spcPts val="5"/>
              </a:spcBef>
              <a:tabLst>
                <a:tab pos="6731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当一个服务经历突发流量时，与之位于同</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一子树上的其他服务也会受到附带的影</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响</a:t>
            </a:r>
            <a:endParaRPr sz="2400" dirty="0">
              <a:latin typeface="微软雅黑" panose="020B0503020204020204" charset="-122"/>
              <a:ea typeface="微软雅黑" panose="020B0503020204020204" charset="-122"/>
              <a:cs typeface="微软雅黑" panose="020B0503020204020204" charset="-122"/>
            </a:endParaRPr>
          </a:p>
        </p:txBody>
      </p:sp>
      <p:pic>
        <p:nvPicPr>
          <p:cNvPr id="144" name="picture 144"/>
          <p:cNvPicPr>
            <a:picLocks noChangeAspect="1"/>
          </p:cNvPicPr>
          <p:nvPr/>
        </p:nvPicPr>
        <p:blipFill>
          <a:blip r:embed="rId1"/>
          <a:stretch>
            <a:fillRect/>
          </a:stretch>
        </p:blipFill>
        <p:spPr>
          <a:xfrm rot="21600000">
            <a:off x="5213934" y="3739565"/>
            <a:ext cx="216408" cy="223723"/>
          </a:xfrm>
          <a:prstGeom prst="rect">
            <a:avLst/>
          </a:prstGeom>
        </p:spPr>
      </p:pic>
      <p:pic>
        <p:nvPicPr>
          <p:cNvPr id="146" name="picture 146"/>
          <p:cNvPicPr>
            <a:picLocks noChangeAspect="1"/>
          </p:cNvPicPr>
          <p:nvPr/>
        </p:nvPicPr>
        <p:blipFill>
          <a:blip r:embed="rId2"/>
          <a:stretch>
            <a:fillRect/>
          </a:stretch>
        </p:blipFill>
        <p:spPr>
          <a:xfrm rot="21600000">
            <a:off x="5213959" y="1940387"/>
            <a:ext cx="216624" cy="223946"/>
          </a:xfrm>
          <a:prstGeom prst="rect">
            <a:avLst/>
          </a:prstGeom>
        </p:spPr>
      </p:pic>
      <p:sp>
        <p:nvSpPr>
          <p:cNvPr id="148" name="textbox 148"/>
          <p:cNvSpPr/>
          <p:nvPr/>
        </p:nvSpPr>
        <p:spPr>
          <a:xfrm>
            <a:off x="404571" y="2065680"/>
            <a:ext cx="3971925" cy="2545079"/>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9000"/>
              </a:lnSpc>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当前数据中心网络缺乏敏捷性</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21590" algn="l" rtl="0" eaLnBrk="0">
              <a:lnSpc>
                <a:spcPct val="89000"/>
              </a:lnSpc>
              <a:spcBef>
                <a:spcPts val="725"/>
              </a:spcBef>
              <a:tabLst>
                <a:tab pos="238125" algn="l"/>
              </a:tabLst>
            </a:pP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服务器缺乏足够互连</a:t>
            </a:r>
            <a:r>
              <a:rPr sz="2400" b="1" kern="0" spc="-10" dirty="0">
                <a:solidFill>
                  <a:srgbClr val="D9D9D9">
                    <a:alpha val="100000"/>
                  </a:srgbClr>
                </a:solidFill>
                <a:latin typeface="微软雅黑" panose="020B0503020204020204" charset="-122"/>
                <a:ea typeface="微软雅黑" panose="020B0503020204020204" charset="-122"/>
                <a:cs typeface="微软雅黑" panose="020B0503020204020204" charset="-122"/>
              </a:rPr>
              <a:t>带宽</a:t>
            </a:r>
            <a:endParaRPr sz="2400" dirty="0">
              <a:latin typeface="微软雅黑" panose="020B0503020204020204" charset="-122"/>
              <a:ea typeface="微软雅黑" panose="020B0503020204020204" charset="-122"/>
              <a:cs typeface="微软雅黑" panose="020B0503020204020204" charset="-122"/>
            </a:endParaRPr>
          </a:p>
          <a:p>
            <a:pPr marL="21590" algn="l" rtl="0" eaLnBrk="0">
              <a:lnSpc>
                <a:spcPct val="89000"/>
              </a:lnSpc>
              <a:spcBef>
                <a:spcPts val="1760"/>
              </a:spcBef>
              <a:tabLst>
                <a:tab pos="238125"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服务缺乏性能隔离</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4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590" algn="l" rtl="0" eaLnBrk="0">
              <a:lnSpc>
                <a:spcPct val="89000"/>
              </a:lnSpc>
              <a:tabLst>
                <a:tab pos="238125" algn="l"/>
              </a:tabLst>
            </a:pP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虚拟机缺乏灵活迁移</a:t>
            </a:r>
            <a:r>
              <a:rPr sz="2400" b="1" kern="0" spc="-10" dirty="0">
                <a:solidFill>
                  <a:srgbClr val="D9D9D9">
                    <a:alpha val="100000"/>
                  </a:srgbClr>
                </a:solidFill>
                <a:latin typeface="微软雅黑" panose="020B0503020204020204" charset="-122"/>
                <a:ea typeface="微软雅黑" panose="020B0503020204020204" charset="-122"/>
                <a:cs typeface="微软雅黑" panose="020B0503020204020204" charset="-122"/>
              </a:rPr>
              <a:t>机制</a:t>
            </a:r>
            <a:endParaRPr sz="2400" dirty="0">
              <a:latin typeface="微软雅黑" panose="020B0503020204020204" charset="-122"/>
              <a:ea typeface="微软雅黑" panose="020B0503020204020204" charset="-122"/>
              <a:cs typeface="微软雅黑" panose="020B0503020204020204" charset="-122"/>
            </a:endParaRPr>
          </a:p>
        </p:txBody>
      </p:sp>
      <p:pic>
        <p:nvPicPr>
          <p:cNvPr id="150" name="picture 150"/>
          <p:cNvPicPr>
            <a:picLocks noChangeAspect="1"/>
          </p:cNvPicPr>
          <p:nvPr/>
        </p:nvPicPr>
        <p:blipFill>
          <a:blip r:embed="rId3"/>
          <a:stretch>
            <a:fillRect/>
          </a:stretch>
        </p:blipFill>
        <p:spPr>
          <a:xfrm rot="21600000">
            <a:off x="426415" y="4297095"/>
            <a:ext cx="216407" cy="223723"/>
          </a:xfrm>
          <a:prstGeom prst="rect">
            <a:avLst/>
          </a:prstGeom>
        </p:spPr>
      </p:pic>
      <p:pic>
        <p:nvPicPr>
          <p:cNvPr id="152" name="picture 152"/>
          <p:cNvPicPr>
            <a:picLocks noChangeAspect="1"/>
          </p:cNvPicPr>
          <p:nvPr/>
        </p:nvPicPr>
        <p:blipFill>
          <a:blip r:embed="rId4"/>
          <a:stretch>
            <a:fillRect/>
          </a:stretch>
        </p:blipFill>
        <p:spPr>
          <a:xfrm rot="21600000">
            <a:off x="426415" y="3748455"/>
            <a:ext cx="216407" cy="223723"/>
          </a:xfrm>
          <a:prstGeom prst="rect">
            <a:avLst/>
          </a:prstGeom>
        </p:spPr>
      </p:pic>
      <p:pic>
        <p:nvPicPr>
          <p:cNvPr id="154" name="picture 154"/>
          <p:cNvPicPr>
            <a:picLocks noChangeAspect="1"/>
          </p:cNvPicPr>
          <p:nvPr/>
        </p:nvPicPr>
        <p:blipFill>
          <a:blip r:embed="rId5"/>
          <a:stretch>
            <a:fillRect/>
          </a:stretch>
        </p:blipFill>
        <p:spPr>
          <a:xfrm rot="21600000">
            <a:off x="426415" y="3199434"/>
            <a:ext cx="216407" cy="223723"/>
          </a:xfrm>
          <a:prstGeom prst="rect">
            <a:avLst/>
          </a:prstGeom>
        </p:spPr>
      </p:pic>
      <p:sp>
        <p:nvSpPr>
          <p:cNvPr id="156" name="textbox 156"/>
          <p:cNvSpPr/>
          <p:nvPr/>
        </p:nvSpPr>
        <p:spPr>
          <a:xfrm>
            <a:off x="332072" y="268903"/>
            <a:ext cx="8459469" cy="45910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Introduction：</a:t>
            </a:r>
            <a:r>
              <a:rPr sz="3200" b="1" kern="0" spc="-7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Current</a:t>
            </a:r>
            <a:r>
              <a:rPr sz="3200" b="1" kern="0" spc="23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DCNs lack AGILITY</a:t>
            </a:r>
            <a:endParaRPr sz="3200" dirty="0">
              <a:latin typeface="微软雅黑" panose="020B0503020204020204" charset="-122"/>
              <a:ea typeface="微软雅黑" panose="020B0503020204020204" charset="-122"/>
              <a:cs typeface="微软雅黑" panose="020B0503020204020204" charset="-122"/>
            </a:endParaRPr>
          </a:p>
        </p:txBody>
      </p:sp>
      <p:pic>
        <p:nvPicPr>
          <p:cNvPr id="158" name="picture 158"/>
          <p:cNvPicPr>
            <a:picLocks noChangeAspect="1"/>
          </p:cNvPicPr>
          <p:nvPr/>
        </p:nvPicPr>
        <p:blipFill>
          <a:blip r:embed="rId6"/>
          <a:stretch>
            <a:fillRect/>
          </a:stretch>
        </p:blipFill>
        <p:spPr>
          <a:xfrm rot="21600000">
            <a:off x="11338559" y="18288"/>
            <a:ext cx="720852" cy="719328"/>
          </a:xfrm>
          <a:prstGeom prst="rect">
            <a:avLst/>
          </a:prstGeom>
        </p:spPr>
      </p:pic>
      <p:pic>
        <p:nvPicPr>
          <p:cNvPr id="160" name="picture 160"/>
          <p:cNvPicPr>
            <a:picLocks noChangeAspect="1"/>
          </p:cNvPicPr>
          <p:nvPr/>
        </p:nvPicPr>
        <p:blipFill>
          <a:blip r:embed="rId7"/>
          <a:stretch>
            <a:fillRect/>
          </a:stretch>
        </p:blipFill>
        <p:spPr>
          <a:xfrm rot="21600000">
            <a:off x="155447" y="751332"/>
            <a:ext cx="11881104" cy="19811"/>
          </a:xfrm>
          <a:prstGeom prst="rect">
            <a:avLst/>
          </a:prstGeom>
        </p:spPr>
      </p:pic>
      <p:pic>
        <p:nvPicPr>
          <p:cNvPr id="162" name="picture 162"/>
          <p:cNvPicPr>
            <a:picLocks noChangeAspect="1"/>
          </p:cNvPicPr>
          <p:nvPr/>
        </p:nvPicPr>
        <p:blipFill>
          <a:blip r:embed="rId8"/>
          <a:stretch>
            <a:fillRect/>
          </a:stretch>
        </p:blipFill>
        <p:spPr>
          <a:xfrm rot="21600000">
            <a:off x="161544" y="6461759"/>
            <a:ext cx="11879580" cy="18288"/>
          </a:xfrm>
          <a:prstGeom prst="rect">
            <a:avLst/>
          </a:prstGeom>
        </p:spPr>
      </p:pic>
      <p:sp>
        <p:nvSpPr>
          <p:cNvPr id="164" name="textbox 164"/>
          <p:cNvSpPr/>
          <p:nvPr/>
        </p:nvSpPr>
        <p:spPr>
          <a:xfrm>
            <a:off x="11642610" y="6559321"/>
            <a:ext cx="132714"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8</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box 166"/>
          <p:cNvSpPr/>
          <p:nvPr/>
        </p:nvSpPr>
        <p:spPr>
          <a:xfrm>
            <a:off x="4669790" y="1408429"/>
            <a:ext cx="6816725" cy="4069079"/>
          </a:xfrm>
          <a:prstGeom prst="roundRect">
            <a:avLst>
              <a:gd name="adj" fmla="val 7557"/>
            </a:avLst>
          </a:prstGeom>
          <a:noFill/>
          <a:ln w="25400" cap="flat">
            <a:solidFill>
              <a:srgbClr val="2F5597"/>
            </a:solidFill>
            <a:prstDash val="solid"/>
            <a:miter lim="0"/>
          </a:ln>
        </p:spPr>
        <p:txBody>
          <a:bodyPr vert="horz" wrap="square" lIns="0" tIns="0" rIns="0" bIns="0"/>
          <a:lstStyle/>
          <a:p>
            <a:pPr algn="l" rtl="0" eaLnBrk="0">
              <a:lnSpc>
                <a:spcPct val="195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432435" algn="l" rtl="0" eaLnBrk="0">
              <a:lnSpc>
                <a:spcPct val="89000"/>
              </a:lnSpc>
            </a:pP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传统数据中心的路由设计：</a:t>
            </a:r>
            <a:endParaRPr sz="2400" dirty="0">
              <a:latin typeface="微软雅黑" panose="020B0503020204020204" charset="-122"/>
              <a:ea typeface="微软雅黑" panose="020B0503020204020204" charset="-122"/>
              <a:cs typeface="微软雅黑" panose="020B0503020204020204" charset="-122"/>
            </a:endParaRPr>
          </a:p>
          <a:p>
            <a:pPr marL="454025" algn="l" rtl="0" eaLnBrk="0">
              <a:lnSpc>
                <a:spcPct val="89000"/>
              </a:lnSpc>
              <a:spcBef>
                <a:spcPts val="1520"/>
              </a:spcBef>
              <a:tabLst>
                <a:tab pos="6699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服务器的IP地址和拓扑相关</a:t>
            </a:r>
            <a:endParaRPr sz="2400" dirty="0">
              <a:latin typeface="微软雅黑" panose="020B0503020204020204" charset="-122"/>
              <a:ea typeface="微软雅黑" panose="020B0503020204020204" charset="-122"/>
              <a:cs typeface="微软雅黑" panose="020B0503020204020204" charset="-122"/>
            </a:endParaRPr>
          </a:p>
          <a:p>
            <a:pPr marL="434340" indent="19050" algn="l" rtl="0" eaLnBrk="0">
              <a:lnSpc>
                <a:spcPct val="120000"/>
              </a:lnSpc>
              <a:spcBef>
                <a:spcPts val="1495"/>
              </a:spcBef>
              <a:tabLst>
                <a:tab pos="6699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同一服务的的服务器被划分至同一VLAN</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带来的问题：</a:t>
            </a:r>
            <a:endParaRPr sz="2400" dirty="0">
              <a:latin typeface="微软雅黑" panose="020B0503020204020204" charset="-122"/>
              <a:ea typeface="微软雅黑" panose="020B0503020204020204" charset="-122"/>
              <a:cs typeface="微软雅黑" panose="020B0503020204020204" charset="-122"/>
            </a:endParaRPr>
          </a:p>
          <a:p>
            <a:pPr marL="454025" algn="l" rtl="0" eaLnBrk="0">
              <a:lnSpc>
                <a:spcPct val="89000"/>
              </a:lnSpc>
              <a:spcBef>
                <a:spcPts val="1270"/>
              </a:spcBef>
              <a:tabLst>
                <a:tab pos="6699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虚拟机无法保持原有IP地址热</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迁移</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7000"/>
              </a:lnSpc>
            </a:pPr>
            <a:endParaRPr sz="1200" dirty="0">
              <a:latin typeface="Arial" panose="020B0604020202020204"/>
              <a:ea typeface="Arial" panose="020B0604020202020204"/>
              <a:cs typeface="Arial" panose="020B0604020202020204"/>
            </a:endParaRPr>
          </a:p>
          <a:p>
            <a:pPr marL="774700" indent="-320675" algn="l" rtl="0" eaLnBrk="0">
              <a:lnSpc>
                <a:spcPct val="94000"/>
              </a:lnSpc>
              <a:spcBef>
                <a:spcPts val="5"/>
              </a:spcBef>
              <a:tabLst>
                <a:tab pos="6699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配置繁琐、负担巨大，往</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往需要人工介入,</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进一步限制了部署速度</a:t>
            </a:r>
            <a:endParaRPr sz="2400" dirty="0">
              <a:latin typeface="微软雅黑" panose="020B0503020204020204" charset="-122"/>
              <a:ea typeface="微软雅黑" panose="020B0503020204020204" charset="-122"/>
              <a:cs typeface="微软雅黑" panose="020B0503020204020204" charset="-122"/>
            </a:endParaRPr>
          </a:p>
        </p:txBody>
      </p:sp>
      <p:pic>
        <p:nvPicPr>
          <p:cNvPr id="168" name="picture 168"/>
          <p:cNvPicPr>
            <a:picLocks noChangeAspect="1"/>
          </p:cNvPicPr>
          <p:nvPr/>
        </p:nvPicPr>
        <p:blipFill>
          <a:blip r:embed="rId1"/>
          <a:stretch>
            <a:fillRect/>
          </a:stretch>
        </p:blipFill>
        <p:spPr>
          <a:xfrm rot="21600000">
            <a:off x="5213934" y="4413174"/>
            <a:ext cx="216408" cy="223723"/>
          </a:xfrm>
          <a:prstGeom prst="rect">
            <a:avLst/>
          </a:prstGeom>
        </p:spPr>
      </p:pic>
      <p:pic>
        <p:nvPicPr>
          <p:cNvPr id="170" name="picture 170"/>
          <p:cNvPicPr>
            <a:picLocks noChangeAspect="1"/>
          </p:cNvPicPr>
          <p:nvPr/>
        </p:nvPicPr>
        <p:blipFill>
          <a:blip r:embed="rId2"/>
          <a:stretch>
            <a:fillRect/>
          </a:stretch>
        </p:blipFill>
        <p:spPr>
          <a:xfrm rot="21600000">
            <a:off x="5213934" y="3895013"/>
            <a:ext cx="216408" cy="223723"/>
          </a:xfrm>
          <a:prstGeom prst="rect">
            <a:avLst/>
          </a:prstGeom>
        </p:spPr>
      </p:pic>
      <p:pic>
        <p:nvPicPr>
          <p:cNvPr id="172" name="picture 172"/>
          <p:cNvPicPr>
            <a:picLocks noChangeAspect="1"/>
          </p:cNvPicPr>
          <p:nvPr/>
        </p:nvPicPr>
        <p:blipFill>
          <a:blip r:embed="rId1"/>
          <a:stretch>
            <a:fillRect/>
          </a:stretch>
        </p:blipFill>
        <p:spPr>
          <a:xfrm rot="21600000">
            <a:off x="5213934" y="2858439"/>
            <a:ext cx="216408" cy="223723"/>
          </a:xfrm>
          <a:prstGeom prst="rect">
            <a:avLst/>
          </a:prstGeom>
        </p:spPr>
      </p:pic>
      <p:pic>
        <p:nvPicPr>
          <p:cNvPr id="174" name="picture 174"/>
          <p:cNvPicPr>
            <a:picLocks noChangeAspect="1"/>
          </p:cNvPicPr>
          <p:nvPr/>
        </p:nvPicPr>
        <p:blipFill>
          <a:blip r:embed="rId2"/>
          <a:stretch>
            <a:fillRect/>
          </a:stretch>
        </p:blipFill>
        <p:spPr>
          <a:xfrm rot="21600000">
            <a:off x="5213934" y="2340279"/>
            <a:ext cx="216408" cy="223723"/>
          </a:xfrm>
          <a:prstGeom prst="rect">
            <a:avLst/>
          </a:prstGeom>
        </p:spPr>
      </p:pic>
      <p:sp>
        <p:nvSpPr>
          <p:cNvPr id="176" name="textbox 176"/>
          <p:cNvSpPr/>
          <p:nvPr/>
        </p:nvSpPr>
        <p:spPr>
          <a:xfrm>
            <a:off x="404571" y="2065680"/>
            <a:ext cx="3971925" cy="2545079"/>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9000"/>
              </a:lnSpc>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当前数据中心网络缺乏敏捷性</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21590" algn="l" rtl="0" eaLnBrk="0">
              <a:lnSpc>
                <a:spcPct val="89000"/>
              </a:lnSpc>
              <a:spcBef>
                <a:spcPts val="725"/>
              </a:spcBef>
              <a:tabLst>
                <a:tab pos="238125" algn="l"/>
              </a:tabLst>
            </a:pP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服务器缺乏足够互连</a:t>
            </a:r>
            <a:r>
              <a:rPr sz="2400" b="1" kern="0" spc="-10" dirty="0">
                <a:solidFill>
                  <a:srgbClr val="D9D9D9">
                    <a:alpha val="100000"/>
                  </a:srgbClr>
                </a:solidFill>
                <a:latin typeface="微软雅黑" panose="020B0503020204020204" charset="-122"/>
                <a:ea typeface="微软雅黑" panose="020B0503020204020204" charset="-122"/>
                <a:cs typeface="微软雅黑" panose="020B0503020204020204" charset="-122"/>
              </a:rPr>
              <a:t>带宽</a:t>
            </a:r>
            <a:endParaRPr sz="2400" dirty="0">
              <a:latin typeface="微软雅黑" panose="020B0503020204020204" charset="-122"/>
              <a:ea typeface="微软雅黑" panose="020B0503020204020204" charset="-122"/>
              <a:cs typeface="微软雅黑" panose="020B0503020204020204" charset="-122"/>
            </a:endParaRPr>
          </a:p>
          <a:p>
            <a:pPr marL="21590" algn="l" rtl="0" eaLnBrk="0">
              <a:lnSpc>
                <a:spcPct val="89000"/>
              </a:lnSpc>
              <a:spcBef>
                <a:spcPts val="1760"/>
              </a:spcBef>
              <a:tabLst>
                <a:tab pos="238125" algn="l"/>
              </a:tabLst>
            </a:pPr>
            <a:r>
              <a:rPr sz="24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1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D9D9D9">
                    <a:alpha val="100000"/>
                  </a:srgbClr>
                </a:solidFill>
                <a:latin typeface="微软雅黑" panose="020B0503020204020204" charset="-122"/>
                <a:ea typeface="微软雅黑" panose="020B0503020204020204" charset="-122"/>
                <a:cs typeface="微软雅黑" panose="020B0503020204020204" charset="-122"/>
              </a:rPr>
              <a:t>服务缺乏性能隔离</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4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590" algn="l" rtl="0" eaLnBrk="0">
              <a:lnSpc>
                <a:spcPct val="89000"/>
              </a:lnSpc>
              <a:tabLst>
                <a:tab pos="238125"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虚拟机缺乏灵活迁移</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机制</a:t>
            </a:r>
            <a:endParaRPr sz="2400" dirty="0">
              <a:latin typeface="微软雅黑" panose="020B0503020204020204" charset="-122"/>
              <a:ea typeface="微软雅黑" panose="020B0503020204020204" charset="-122"/>
              <a:cs typeface="微软雅黑" panose="020B0503020204020204" charset="-122"/>
            </a:endParaRPr>
          </a:p>
        </p:txBody>
      </p:sp>
      <p:pic>
        <p:nvPicPr>
          <p:cNvPr id="178" name="picture 178"/>
          <p:cNvPicPr>
            <a:picLocks noChangeAspect="1"/>
          </p:cNvPicPr>
          <p:nvPr/>
        </p:nvPicPr>
        <p:blipFill>
          <a:blip r:embed="rId3"/>
          <a:stretch>
            <a:fillRect/>
          </a:stretch>
        </p:blipFill>
        <p:spPr>
          <a:xfrm rot="21600000">
            <a:off x="426415" y="4297095"/>
            <a:ext cx="216407" cy="223723"/>
          </a:xfrm>
          <a:prstGeom prst="rect">
            <a:avLst/>
          </a:prstGeom>
        </p:spPr>
      </p:pic>
      <p:pic>
        <p:nvPicPr>
          <p:cNvPr id="180" name="picture 180"/>
          <p:cNvPicPr>
            <a:picLocks noChangeAspect="1"/>
          </p:cNvPicPr>
          <p:nvPr/>
        </p:nvPicPr>
        <p:blipFill>
          <a:blip r:embed="rId4"/>
          <a:stretch>
            <a:fillRect/>
          </a:stretch>
        </p:blipFill>
        <p:spPr>
          <a:xfrm rot="21600000">
            <a:off x="426415" y="3748455"/>
            <a:ext cx="216407" cy="223723"/>
          </a:xfrm>
          <a:prstGeom prst="rect">
            <a:avLst/>
          </a:prstGeom>
        </p:spPr>
      </p:pic>
      <p:pic>
        <p:nvPicPr>
          <p:cNvPr id="182" name="picture 182"/>
          <p:cNvPicPr>
            <a:picLocks noChangeAspect="1"/>
          </p:cNvPicPr>
          <p:nvPr/>
        </p:nvPicPr>
        <p:blipFill>
          <a:blip r:embed="rId4"/>
          <a:stretch>
            <a:fillRect/>
          </a:stretch>
        </p:blipFill>
        <p:spPr>
          <a:xfrm rot="21600000">
            <a:off x="426415" y="3199434"/>
            <a:ext cx="216407" cy="223723"/>
          </a:xfrm>
          <a:prstGeom prst="rect">
            <a:avLst/>
          </a:prstGeom>
        </p:spPr>
      </p:pic>
      <p:sp>
        <p:nvSpPr>
          <p:cNvPr id="184" name="textbox 184"/>
          <p:cNvSpPr/>
          <p:nvPr/>
        </p:nvSpPr>
        <p:spPr>
          <a:xfrm>
            <a:off x="332072" y="268903"/>
            <a:ext cx="8459469" cy="45910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Introduction：</a:t>
            </a:r>
            <a:r>
              <a:rPr sz="3200" b="1" kern="0" spc="-7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Current</a:t>
            </a:r>
            <a:r>
              <a:rPr sz="3200" b="1" kern="0" spc="23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32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DCNs lack AGILITY</a:t>
            </a:r>
            <a:endParaRPr sz="3200" dirty="0">
              <a:latin typeface="微软雅黑" panose="020B0503020204020204" charset="-122"/>
              <a:ea typeface="微软雅黑" panose="020B0503020204020204" charset="-122"/>
              <a:cs typeface="微软雅黑" panose="020B0503020204020204" charset="-122"/>
            </a:endParaRPr>
          </a:p>
        </p:txBody>
      </p:sp>
      <p:pic>
        <p:nvPicPr>
          <p:cNvPr id="186" name="picture 186"/>
          <p:cNvPicPr>
            <a:picLocks noChangeAspect="1"/>
          </p:cNvPicPr>
          <p:nvPr/>
        </p:nvPicPr>
        <p:blipFill>
          <a:blip r:embed="rId5"/>
          <a:stretch>
            <a:fillRect/>
          </a:stretch>
        </p:blipFill>
        <p:spPr>
          <a:xfrm rot="21600000">
            <a:off x="11338559" y="18288"/>
            <a:ext cx="720852" cy="719328"/>
          </a:xfrm>
          <a:prstGeom prst="rect">
            <a:avLst/>
          </a:prstGeom>
        </p:spPr>
      </p:pic>
      <p:pic>
        <p:nvPicPr>
          <p:cNvPr id="188" name="picture 188"/>
          <p:cNvPicPr>
            <a:picLocks noChangeAspect="1"/>
          </p:cNvPicPr>
          <p:nvPr/>
        </p:nvPicPr>
        <p:blipFill>
          <a:blip r:embed="rId6"/>
          <a:stretch>
            <a:fillRect/>
          </a:stretch>
        </p:blipFill>
        <p:spPr>
          <a:xfrm rot="21600000">
            <a:off x="155447" y="751332"/>
            <a:ext cx="11881104" cy="19811"/>
          </a:xfrm>
          <a:prstGeom prst="rect">
            <a:avLst/>
          </a:prstGeom>
        </p:spPr>
      </p:pic>
      <p:pic>
        <p:nvPicPr>
          <p:cNvPr id="190" name="picture 190"/>
          <p:cNvPicPr>
            <a:picLocks noChangeAspect="1"/>
          </p:cNvPicPr>
          <p:nvPr/>
        </p:nvPicPr>
        <p:blipFill>
          <a:blip r:embed="rId7"/>
          <a:stretch>
            <a:fillRect/>
          </a:stretch>
        </p:blipFill>
        <p:spPr>
          <a:xfrm rot="21600000">
            <a:off x="161544" y="6461759"/>
            <a:ext cx="11879580" cy="18288"/>
          </a:xfrm>
          <a:prstGeom prst="rect">
            <a:avLst/>
          </a:prstGeom>
        </p:spPr>
      </p:pic>
      <p:sp>
        <p:nvSpPr>
          <p:cNvPr id="192" name="textbox 192"/>
          <p:cNvSpPr/>
          <p:nvPr/>
        </p:nvSpPr>
        <p:spPr>
          <a:xfrm>
            <a:off x="11642610" y="6559321"/>
            <a:ext cx="132714"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9</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rect 194"/>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196" name="textbox 196"/>
          <p:cNvSpPr/>
          <p:nvPr/>
        </p:nvSpPr>
        <p:spPr>
          <a:xfrm>
            <a:off x="2645153" y="635762"/>
            <a:ext cx="6833234" cy="563499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71399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2F5EB0">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2F5EB0">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2F5EB0">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580"/>
              </a:spcBef>
            </a:pPr>
            <a:r>
              <a:rPr sz="2700" b="1" kern="0" spc="140" dirty="0">
                <a:solidFill>
                  <a:srgbClr val="D9D9D9">
                    <a:alpha val="100000"/>
                  </a:srgbClr>
                </a:solidFill>
                <a:latin typeface="微软雅黑" panose="020B0503020204020204" charset="-122"/>
                <a:ea typeface="微软雅黑" panose="020B0503020204020204" charset="-122"/>
                <a:cs typeface="微软雅黑" panose="020B0503020204020204" charset="-122"/>
              </a:rPr>
              <a:t>1.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Cloud</a:t>
            </a:r>
            <a:r>
              <a:rPr sz="2700" b="1" kern="0" spc="1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services</a:t>
            </a:r>
            <a:r>
              <a:rPr sz="2700" b="1" kern="0" spc="25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require</a:t>
            </a:r>
            <a:r>
              <a:rPr sz="2700" b="1" kern="0" spc="14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AGILITY</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92000"/>
              </a:lnSpc>
              <a:spcBef>
                <a:spcPts val="1320"/>
              </a:spcBef>
            </a:pP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Current</a:t>
            </a:r>
            <a:r>
              <a:rPr sz="2700" b="1" kern="0" spc="3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DCNs</a:t>
            </a:r>
            <a:r>
              <a:rPr sz="2700" b="1" kern="0" spc="2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lack</a:t>
            </a: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AGILITY</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580"/>
              </a:spcBef>
            </a:pPr>
            <a:r>
              <a:rPr sz="2700" b="1" kern="0" spc="90" dirty="0">
                <a:solidFill>
                  <a:srgbClr val="4472C4">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VL</a:t>
            </a:r>
            <a:r>
              <a:rPr sz="2700" b="1" kern="0" spc="90" dirty="0">
                <a:solidFill>
                  <a:srgbClr val="4472C4">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goals</a:t>
            </a:r>
            <a:r>
              <a:rPr sz="2700" b="1" kern="0" spc="2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90" dirty="0">
                <a:solidFill>
                  <a:srgbClr val="4472C4">
                    <a:alpha val="100000"/>
                  </a:srgbClr>
                </a:solidFill>
                <a:latin typeface="微软雅黑" panose="020B0503020204020204" charset="-122"/>
                <a:ea typeface="微软雅黑" panose="020B0503020204020204" charset="-122"/>
                <a:cs typeface="微软雅黑" panose="020B0503020204020204" charset="-122"/>
              </a:rPr>
              <a:t>&amp;</a:t>
            </a:r>
            <a:r>
              <a:rPr sz="2700" b="1" kern="0" spc="16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contributions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5"/>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5"/>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198" name="picture 198"/>
          <p:cNvPicPr>
            <a:picLocks noChangeAspect="1"/>
          </p:cNvPicPr>
          <p:nvPr/>
        </p:nvPicPr>
        <p:blipFill>
          <a:blip r:embed="rId1"/>
          <a:stretch>
            <a:fillRect/>
          </a:stretch>
        </p:blipFill>
        <p:spPr>
          <a:xfrm rot="21600000">
            <a:off x="0" y="0"/>
            <a:ext cx="12192000" cy="288035"/>
          </a:xfrm>
          <a:prstGeom prst="rect">
            <a:avLst/>
          </a:prstGeom>
        </p:spPr>
      </p:pic>
      <p:pic>
        <p:nvPicPr>
          <p:cNvPr id="200" name="picture 200"/>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 name="table 202"/>
          <p:cNvGraphicFramePr>
            <a:graphicFrameLocks noGrp="1"/>
          </p:cNvGraphicFramePr>
          <p:nvPr/>
        </p:nvGraphicFramePr>
        <p:xfrm>
          <a:off x="161544" y="986218"/>
          <a:ext cx="11879579" cy="5493384"/>
        </p:xfrm>
        <a:graphic>
          <a:graphicData uri="http://schemas.openxmlformats.org/drawingml/2006/table">
            <a:tbl>
              <a:tblPr/>
              <a:tblGrid>
                <a:gridCol w="148589"/>
                <a:gridCol w="1396365"/>
                <a:gridCol w="10019665"/>
                <a:gridCol w="314959"/>
              </a:tblGrid>
              <a:tr h="1688464">
                <a:tc row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w="28575" cap="flat" cmpd="sng" algn="ctr">
                      <a:solidFill>
                        <a:srgbClr val="BF9000"/>
                      </a:solidFill>
                      <a:prstDash val="solid"/>
                      <a:round/>
                      <a:headEnd type="none" w="med" len="med"/>
                      <a:tailEnd type="none" w="med" len="med"/>
                    </a:lnR>
                    <a:lnT>
                      <a:noFill/>
                    </a:lnT>
                    <a:lnB>
                      <a:noFill/>
                    </a:lnB>
                  </a:tcPr>
                </a:tc>
                <a:tc>
                  <a:txBody>
                    <a:bodyPr/>
                    <a:lstStyle/>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518160" algn="l" rtl="0" eaLnBrk="0">
                        <a:lnSpc>
                          <a:spcPct val="92000"/>
                        </a:lnSpc>
                        <a:spcBef>
                          <a:spcPts val="0"/>
                        </a:spcBef>
                      </a:pPr>
                      <a:r>
                        <a:rPr sz="27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目标</a:t>
                      </a:r>
                      <a:endParaRPr sz="2700" dirty="0">
                        <a:latin typeface="微软雅黑" panose="020B0503020204020204" charset="-122"/>
                        <a:ea typeface="微软雅黑" panose="020B0503020204020204" charset="-122"/>
                        <a:cs typeface="微软雅黑" panose="020B0503020204020204" charset="-122"/>
                      </a:endParaRPr>
                    </a:p>
                  </a:txBody>
                  <a:tcPr marL="0" marR="0" marT="0" marB="0" vert="horz">
                    <a:lnL w="28575" cap="flat" cmpd="sng" algn="ctr">
                      <a:solidFill>
                        <a:srgbClr val="BF9000"/>
                      </a:solidFill>
                      <a:prstDash val="solid"/>
                      <a:round/>
                      <a:headEnd type="none" w="med" len="med"/>
                      <a:tailEnd type="none" w="med" len="med"/>
                    </a:lnL>
                    <a:lnR>
                      <a:noFill/>
                    </a:lnR>
                    <a:lnT w="28575" cap="flat" cmpd="sng" algn="ctr">
                      <a:solidFill>
                        <a:srgbClr val="BF9000"/>
                      </a:solidFill>
                      <a:prstDash val="solid"/>
                      <a:round/>
                      <a:headEnd type="none" w="med" len="med"/>
                      <a:tailEnd type="none" w="med" len="med"/>
                    </a:lnT>
                    <a:lnB>
                      <a:noFill/>
                    </a:lnB>
                  </a:tcPr>
                </a:tc>
                <a:tc>
                  <a:txBody>
                    <a:bodyPr/>
                    <a:lstStyle/>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07645" indent="7620" algn="l" rtl="0" eaLnBrk="0">
                        <a:lnSpc>
                          <a:spcPct val="97000"/>
                        </a:lnSpc>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为了解决当下存在的问题，一种理想的网络模型</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：每一个服务都认为分</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配给它的所有服务器通过一个独立、无干扰的以太交换机（即虚</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拟二层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Virtual</a:t>
                      </a:r>
                      <a:r>
                        <a:rPr sz="2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Layer 2）相连，并且服务器的数量可以从1扩展到100,0</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00。为</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了实现这样的愿景，需要构建满足以下三个特征的网络：</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a:noFill/>
                    </a:lnL>
                    <a:lnR w="28575" cap="flat" cmpd="sng" algn="ctr">
                      <a:solidFill>
                        <a:srgbClr val="BF9000"/>
                      </a:solidFill>
                      <a:prstDash val="solid"/>
                      <a:round/>
                      <a:headEnd type="none" w="med" len="med"/>
                      <a:tailEnd type="none" w="med" len="med"/>
                    </a:lnR>
                    <a:lnT w="28575" cap="flat" cmpd="sng" algn="ctr">
                      <a:solidFill>
                        <a:srgbClr val="BF9000"/>
                      </a:solidFill>
                      <a:prstDash val="solid"/>
                      <a:round/>
                      <a:headEnd type="none" w="med" len="med"/>
                      <a:tailEnd type="none" w="med" len="med"/>
                    </a:lnT>
                    <a:lnB>
                      <a:noFill/>
                    </a:lnB>
                  </a:tcPr>
                </a:tc>
                <a:tc row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w="28575" cap="flat" cmpd="sng" algn="ctr">
                      <a:solidFill>
                        <a:srgbClr val="BF9000"/>
                      </a:solidFill>
                      <a:prstDash val="solid"/>
                      <a:round/>
                      <a:headEnd type="none" w="med" len="med"/>
                      <a:tailEnd type="none" w="med" len="med"/>
                    </a:lnL>
                    <a:lnR>
                      <a:noFill/>
                    </a:lnR>
                    <a:lnT>
                      <a:noFill/>
                    </a:lnT>
                    <a:lnB>
                      <a:noFill/>
                    </a:lnB>
                  </a:tcPr>
                </a:tc>
              </a:tr>
              <a:tr h="3804920">
                <a:tc vMerge="1">
                  <a:tcPr marL="0" marR="0" marT="0" marB="0" vert="horz">
                    <a:lnL>
                      <a:noFill/>
                    </a:lnL>
                    <a:lnR w="28575" cap="flat" cmpd="sng" algn="ctr">
                      <a:solidFill>
                        <a:srgbClr val="BF9000"/>
                      </a:solidFill>
                      <a:prstDash val="solid"/>
                      <a:round/>
                      <a:headEnd type="none" w="med" len="med"/>
                      <a:tailEnd type="none" w="med" len="med"/>
                    </a:lnR>
                    <a:lnT>
                      <a:noFill/>
                    </a:lnT>
                    <a:lnB>
                      <a:noFill/>
                    </a:lnB>
                  </a:tcPr>
                </a:tc>
                <a:tc grid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a:noFill/>
                    </a:lnT>
                    <a:lnB>
                      <a:noFill/>
                    </a:lnB>
                  </a:tcPr>
                </a:tc>
                <a:tc hMerge="1">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a:noFill/>
                    </a:lnT>
                    <a:lnB>
                      <a:noFill/>
                    </a:lnB>
                  </a:tcPr>
                </a:tc>
                <a:tc vMerge="1">
                  <a:tcPr marL="0" marR="0" marT="0" marB="0" vert="horz">
                    <a:lnL w="28575" cap="flat" cmpd="sng" algn="ctr">
                      <a:solidFill>
                        <a:srgbClr val="BF9000"/>
                      </a:solidFill>
                      <a:prstDash val="solid"/>
                      <a:round/>
                      <a:headEnd type="none" w="med" len="med"/>
                      <a:tailEnd type="none" w="med" len="med"/>
                    </a:lnL>
                    <a:lnR>
                      <a:noFill/>
                    </a:lnR>
                    <a:lnT>
                      <a:noFill/>
                    </a:lnT>
                    <a:lnB>
                      <a:noFill/>
                    </a:lnB>
                  </a:tcPr>
                </a:tc>
              </a:tr>
            </a:tbl>
          </a:graphicData>
        </a:graphic>
      </p:graphicFrame>
      <p:grpSp>
        <p:nvGrpSpPr>
          <p:cNvPr id="6" name="group 6"/>
          <p:cNvGrpSpPr/>
          <p:nvPr/>
        </p:nvGrpSpPr>
        <p:grpSpPr>
          <a:xfrm rot="21600000">
            <a:off x="915111" y="2762630"/>
            <a:ext cx="10362488" cy="3474694"/>
            <a:chOff x="0" y="0"/>
            <a:chExt cx="10362488" cy="3474694"/>
          </a:xfrm>
        </p:grpSpPr>
        <p:sp>
          <p:nvSpPr>
            <p:cNvPr id="204" name="path 204"/>
            <p:cNvSpPr/>
            <p:nvPr/>
          </p:nvSpPr>
          <p:spPr>
            <a:xfrm>
              <a:off x="0" y="0"/>
              <a:ext cx="10362488" cy="457200"/>
            </a:xfrm>
            <a:custGeom>
              <a:avLst/>
              <a:gdLst/>
              <a:ahLst/>
              <a:cxnLst/>
              <a:rect l="0" t="0" r="0" b="0"/>
              <a:pathLst>
                <a:path w="16318" h="720">
                  <a:moveTo>
                    <a:pt x="0" y="720"/>
                  </a:moveTo>
                  <a:lnTo>
                    <a:pt x="5439" y="720"/>
                  </a:lnTo>
                  <a:lnTo>
                    <a:pt x="5439" y="0"/>
                  </a:lnTo>
                  <a:lnTo>
                    <a:pt x="0" y="0"/>
                  </a:lnTo>
                  <a:lnTo>
                    <a:pt x="0" y="720"/>
                  </a:lnTo>
                  <a:close/>
                </a:path>
                <a:path w="16318" h="720">
                  <a:moveTo>
                    <a:pt x="5439" y="720"/>
                  </a:moveTo>
                  <a:lnTo>
                    <a:pt x="10879" y="720"/>
                  </a:lnTo>
                  <a:lnTo>
                    <a:pt x="10879" y="0"/>
                  </a:lnTo>
                  <a:lnTo>
                    <a:pt x="5439" y="0"/>
                  </a:lnTo>
                  <a:lnTo>
                    <a:pt x="5439" y="720"/>
                  </a:lnTo>
                  <a:close/>
                </a:path>
                <a:path w="16318" h="720">
                  <a:moveTo>
                    <a:pt x="10879" y="720"/>
                  </a:moveTo>
                  <a:lnTo>
                    <a:pt x="16318" y="720"/>
                  </a:lnTo>
                  <a:lnTo>
                    <a:pt x="16318" y="0"/>
                  </a:lnTo>
                  <a:lnTo>
                    <a:pt x="10879" y="0"/>
                  </a:lnTo>
                  <a:lnTo>
                    <a:pt x="10879" y="720"/>
                  </a:lnTo>
                  <a:close/>
                </a:path>
              </a:pathLst>
            </a:custGeom>
            <a:solidFill>
              <a:srgbClr val="4472C4">
                <a:alpha val="100000"/>
              </a:srgbClr>
            </a:solidFill>
            <a:ln w="0" cap="flat">
              <a:noFill/>
              <a:prstDash val="solid"/>
              <a:miter lim="0"/>
            </a:ln>
          </p:spPr>
          <p:txBody>
            <a:bodyPr rtlCol="0"/>
            <a:lstStyle/>
            <a:p>
              <a:pPr algn="ctr"/>
              <a:endParaRPr lang="zh-CN" altLang="en-US"/>
            </a:p>
          </p:txBody>
        </p:sp>
        <p:sp>
          <p:nvSpPr>
            <p:cNvPr id="206" name="path 206"/>
            <p:cNvSpPr/>
            <p:nvPr/>
          </p:nvSpPr>
          <p:spPr>
            <a:xfrm>
              <a:off x="0" y="457174"/>
              <a:ext cx="10362488" cy="3017520"/>
            </a:xfrm>
            <a:custGeom>
              <a:avLst/>
              <a:gdLst/>
              <a:ahLst/>
              <a:cxnLst/>
              <a:rect l="0" t="0" r="0" b="0"/>
              <a:pathLst>
                <a:path w="16318" h="4752">
                  <a:moveTo>
                    <a:pt x="0" y="4752"/>
                  </a:moveTo>
                  <a:lnTo>
                    <a:pt x="5439" y="4752"/>
                  </a:lnTo>
                  <a:lnTo>
                    <a:pt x="5439" y="0"/>
                  </a:lnTo>
                  <a:lnTo>
                    <a:pt x="0" y="0"/>
                  </a:lnTo>
                  <a:lnTo>
                    <a:pt x="0" y="4752"/>
                  </a:lnTo>
                  <a:close/>
                </a:path>
                <a:path w="16318" h="4752">
                  <a:moveTo>
                    <a:pt x="5439" y="4752"/>
                  </a:moveTo>
                  <a:lnTo>
                    <a:pt x="10879" y="4752"/>
                  </a:lnTo>
                  <a:lnTo>
                    <a:pt x="10879" y="0"/>
                  </a:lnTo>
                  <a:lnTo>
                    <a:pt x="5439" y="0"/>
                  </a:lnTo>
                  <a:lnTo>
                    <a:pt x="5439" y="4752"/>
                  </a:lnTo>
                  <a:close/>
                </a:path>
                <a:path w="16318" h="4752">
                  <a:moveTo>
                    <a:pt x="10879" y="4752"/>
                  </a:moveTo>
                  <a:lnTo>
                    <a:pt x="16318" y="4752"/>
                  </a:lnTo>
                  <a:lnTo>
                    <a:pt x="16318" y="0"/>
                  </a:lnTo>
                  <a:lnTo>
                    <a:pt x="10879" y="0"/>
                  </a:lnTo>
                  <a:lnTo>
                    <a:pt x="10879" y="4752"/>
                  </a:lnTo>
                  <a:close/>
                </a:path>
              </a:pathLst>
            </a:custGeom>
            <a:solidFill>
              <a:srgbClr val="CFD5EA">
                <a:alpha val="100000"/>
              </a:srgbClr>
            </a:solidFill>
            <a:ln w="0" cap="flat">
              <a:noFill/>
              <a:prstDash val="solid"/>
              <a:miter lim="0"/>
            </a:ln>
          </p:spPr>
          <p:txBody>
            <a:bodyPr rtlCol="0"/>
            <a:lstStyle/>
            <a:p>
              <a:pPr algn="ctr"/>
              <a:endParaRPr lang="zh-CN" altLang="en-US"/>
            </a:p>
          </p:txBody>
        </p:sp>
      </p:grpSp>
      <p:graphicFrame>
        <p:nvGraphicFramePr>
          <p:cNvPr id="208" name="table 208"/>
          <p:cNvGraphicFramePr>
            <a:graphicFrameLocks noGrp="1"/>
          </p:cNvGraphicFramePr>
          <p:nvPr/>
        </p:nvGraphicFramePr>
        <p:xfrm>
          <a:off x="908761" y="2756280"/>
          <a:ext cx="10374630" cy="3486785"/>
        </p:xfrm>
        <a:graphic>
          <a:graphicData uri="http://schemas.openxmlformats.org/drawingml/2006/table">
            <a:tbl>
              <a:tblPr/>
              <a:tblGrid>
                <a:gridCol w="3460750"/>
                <a:gridCol w="3453765"/>
                <a:gridCol w="3460115"/>
              </a:tblGrid>
              <a:tr h="463550">
                <a:tc>
                  <a:txBody>
                    <a:bodyPr/>
                    <a:lstStyle/>
                    <a:p>
                      <a:pPr algn="l" rtl="0" eaLnBrk="0">
                        <a:lnSpc>
                          <a:spcPct val="106000"/>
                        </a:lnSpc>
                      </a:pPr>
                      <a:endParaRPr sz="600" dirty="0">
                        <a:latin typeface="Arial" panose="020B0604020202020204"/>
                        <a:ea typeface="Arial" panose="020B0604020202020204"/>
                        <a:cs typeface="Arial" panose="020B0604020202020204"/>
                      </a:endParaRPr>
                    </a:p>
                    <a:p>
                      <a:pPr marL="101600" algn="l" rtl="0" eaLnBrk="0">
                        <a:lnSpc>
                          <a:spcPct val="89000"/>
                        </a:lnSpc>
                      </a:pPr>
                      <a:r>
                        <a:rPr sz="2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统一高带宽</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rtl="0" eaLnBrk="0">
                        <a:lnSpc>
                          <a:spcPct val="106000"/>
                        </a:lnSpc>
                      </a:pPr>
                      <a:endParaRPr sz="600" dirty="0">
                        <a:latin typeface="Arial" panose="020B0604020202020204"/>
                        <a:ea typeface="Arial" panose="020B0604020202020204"/>
                        <a:cs typeface="Arial" panose="020B0604020202020204"/>
                      </a:endParaRPr>
                    </a:p>
                    <a:p>
                      <a:pPr marL="96520" algn="l" rtl="0" eaLnBrk="0">
                        <a:lnSpc>
                          <a:spcPct val="89000"/>
                        </a:lnSpc>
                      </a:pPr>
                      <a:r>
                        <a:rPr sz="2400" b="1"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性能隔离</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rtl="0" eaLnBrk="0">
                        <a:lnSpc>
                          <a:spcPct val="106000"/>
                        </a:lnSpc>
                      </a:pPr>
                      <a:endParaRPr sz="600" dirty="0">
                        <a:latin typeface="Arial" panose="020B0604020202020204"/>
                        <a:ea typeface="Arial" panose="020B0604020202020204"/>
                        <a:cs typeface="Arial" panose="020B0604020202020204"/>
                      </a:endParaRPr>
                    </a:p>
                    <a:p>
                      <a:pPr marL="101600" algn="l" rtl="0" eaLnBrk="0">
                        <a:lnSpc>
                          <a:spcPct val="89000"/>
                        </a:lnSpc>
                      </a:pPr>
                      <a:r>
                        <a:rPr sz="2400" b="1"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二层语义</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3023235">
                <a:tc>
                  <a:txBody>
                    <a:bodyPr/>
                    <a:lstStyle/>
                    <a:p>
                      <a:pPr algn="l" rtl="0" eaLnBrk="0">
                        <a:lnSpc>
                          <a:spcPct val="114000"/>
                        </a:lnSpc>
                      </a:pPr>
                      <a:endParaRPr sz="500" dirty="0">
                        <a:latin typeface="Arial" panose="020B0604020202020204"/>
                        <a:ea typeface="Arial" panose="020B0604020202020204"/>
                        <a:cs typeface="Arial" panose="020B0604020202020204"/>
                      </a:endParaRPr>
                    </a:p>
                    <a:p>
                      <a:pPr marL="386715" indent="-263525" algn="l" rtl="0" eaLnBrk="0">
                        <a:lnSpc>
                          <a:spcPct val="98000"/>
                        </a:lnSpc>
                        <a:spcBef>
                          <a:spcPts val="5"/>
                        </a:spcBef>
                        <a:tabLst>
                          <a:tab pos="3397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服务器到服务器的最</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大传输速率应该只受</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发送端和接收端服务</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器的网络接口速率限</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制</a:t>
                      </a:r>
                      <a:endParaRPr sz="2400" dirty="0">
                        <a:latin typeface="微软雅黑" panose="020B0503020204020204" charset="-122"/>
                        <a:ea typeface="微软雅黑" panose="020B0503020204020204" charset="-122"/>
                        <a:cs typeface="微软雅黑" panose="020B0503020204020204" charset="-122"/>
                      </a:endParaRPr>
                    </a:p>
                    <a:p>
                      <a:pPr marL="386715" indent="-263525" algn="l" rtl="0" eaLnBrk="0">
                        <a:lnSpc>
                          <a:spcPct val="96000"/>
                        </a:lnSpc>
                        <a:spcBef>
                          <a:spcPts val="350"/>
                        </a:spcBef>
                        <a:tabLst>
                          <a:tab pos="3397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为一个服务分配服务</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器应该和网络拓扑无</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关</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14000"/>
                        </a:lnSpc>
                      </a:pPr>
                      <a:endParaRPr sz="500" dirty="0">
                        <a:latin typeface="Arial" panose="020B0604020202020204"/>
                        <a:ea typeface="Arial" panose="020B0604020202020204"/>
                        <a:cs typeface="Arial" panose="020B0604020202020204"/>
                      </a:endParaRPr>
                    </a:p>
                    <a:p>
                      <a:pPr marL="95250" indent="635" algn="l" rtl="0" eaLnBrk="0">
                        <a:lnSpc>
                          <a:spcPct val="98000"/>
                        </a:lnSpc>
                        <a:spcBef>
                          <a:spcPts val="5"/>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一个服务的流量不应该</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受到其他服务的流量影</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响，达到每个服务都是</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通过一个独立的物理交</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换机相连的效果</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a:ea typeface="Arial" panose="020B0604020202020204"/>
                        <a:cs typeface="Arial" panose="020B0604020202020204"/>
                      </a:endParaRPr>
                    </a:p>
                    <a:p>
                      <a:pPr marL="118110" algn="l" rtl="0" eaLnBrk="0">
                        <a:lnSpc>
                          <a:spcPct val="89000"/>
                        </a:lnSpc>
                        <a:spcBef>
                          <a:spcPts val="5"/>
                        </a:spcBef>
                        <a:tabLst>
                          <a:tab pos="3333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任意</a:t>
                      </a:r>
                      <a:r>
                        <a:rPr sz="2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 可绑任意端口</a:t>
                      </a:r>
                      <a:endParaRPr sz="2400" dirty="0">
                        <a:latin typeface="微软雅黑" panose="020B0503020204020204" charset="-122"/>
                        <a:ea typeface="微软雅黑" panose="020B0503020204020204" charset="-122"/>
                        <a:cs typeface="微软雅黑" panose="020B0503020204020204" charset="-122"/>
                      </a:endParaRPr>
                    </a:p>
                    <a:p>
                      <a:pPr marL="118110" algn="l" rtl="0" eaLnBrk="0">
                        <a:lnSpc>
                          <a:spcPct val="89000"/>
                        </a:lnSpc>
                        <a:spcBef>
                          <a:spcPts val="320"/>
                        </a:spcBef>
                        <a:tabLst>
                          <a:tab pos="33464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VM</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热迁不改地址</a:t>
                      </a:r>
                      <a:endParaRPr sz="2400" dirty="0">
                        <a:latin typeface="微软雅黑" panose="020B0503020204020204" charset="-122"/>
                        <a:ea typeface="微软雅黑" panose="020B0503020204020204" charset="-122"/>
                        <a:cs typeface="微软雅黑" panose="020B0503020204020204" charset="-122"/>
                      </a:endParaRPr>
                    </a:p>
                    <a:p>
                      <a:pPr marL="404495" indent="-286385" algn="l" rtl="0" eaLnBrk="0">
                        <a:lnSpc>
                          <a:spcPct val="97000"/>
                        </a:lnSpc>
                        <a:spcBef>
                          <a:spcPts val="350"/>
                        </a:spcBef>
                        <a:tabLst>
                          <a:tab pos="3333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ARP/DHCP/广播</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legacy 应用零修改</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pic>
        <p:nvPicPr>
          <p:cNvPr id="210" name="picture 210"/>
          <p:cNvPicPr>
            <a:picLocks noChangeAspect="1"/>
          </p:cNvPicPr>
          <p:nvPr/>
        </p:nvPicPr>
        <p:blipFill>
          <a:blip r:embed="rId1"/>
          <a:stretch>
            <a:fillRect/>
          </a:stretch>
        </p:blipFill>
        <p:spPr>
          <a:xfrm rot="21600000">
            <a:off x="7941512" y="4066971"/>
            <a:ext cx="216407" cy="223723"/>
          </a:xfrm>
          <a:prstGeom prst="rect">
            <a:avLst/>
          </a:prstGeom>
        </p:spPr>
      </p:pic>
      <p:pic>
        <p:nvPicPr>
          <p:cNvPr id="212" name="picture 212"/>
          <p:cNvPicPr>
            <a:picLocks noChangeAspect="1"/>
          </p:cNvPicPr>
          <p:nvPr/>
        </p:nvPicPr>
        <p:blipFill>
          <a:blip r:embed="rId2"/>
          <a:stretch>
            <a:fillRect/>
          </a:stretch>
        </p:blipFill>
        <p:spPr>
          <a:xfrm rot="21600000">
            <a:off x="7941538" y="3700607"/>
            <a:ext cx="216624" cy="223946"/>
          </a:xfrm>
          <a:prstGeom prst="rect">
            <a:avLst/>
          </a:prstGeom>
        </p:spPr>
      </p:pic>
      <p:pic>
        <p:nvPicPr>
          <p:cNvPr id="214" name="picture 214"/>
          <p:cNvPicPr>
            <a:picLocks noChangeAspect="1"/>
          </p:cNvPicPr>
          <p:nvPr/>
        </p:nvPicPr>
        <p:blipFill>
          <a:blip r:embed="rId3"/>
          <a:stretch>
            <a:fillRect/>
          </a:stretch>
        </p:blipFill>
        <p:spPr>
          <a:xfrm rot="21600000">
            <a:off x="7941512" y="3335070"/>
            <a:ext cx="216407" cy="223723"/>
          </a:xfrm>
          <a:prstGeom prst="rect">
            <a:avLst/>
          </a:prstGeom>
        </p:spPr>
      </p:pic>
      <p:pic>
        <p:nvPicPr>
          <p:cNvPr id="216" name="picture 216"/>
          <p:cNvPicPr>
            <a:picLocks noChangeAspect="1"/>
          </p:cNvPicPr>
          <p:nvPr/>
        </p:nvPicPr>
        <p:blipFill>
          <a:blip r:embed="rId4"/>
          <a:stretch>
            <a:fillRect/>
          </a:stretch>
        </p:blipFill>
        <p:spPr>
          <a:xfrm rot="21600000">
            <a:off x="1032383" y="5164028"/>
            <a:ext cx="216624" cy="223946"/>
          </a:xfrm>
          <a:prstGeom prst="rect">
            <a:avLst/>
          </a:prstGeom>
        </p:spPr>
      </p:pic>
      <p:pic>
        <p:nvPicPr>
          <p:cNvPr id="218" name="picture 218"/>
          <p:cNvPicPr>
            <a:picLocks noChangeAspect="1"/>
          </p:cNvPicPr>
          <p:nvPr/>
        </p:nvPicPr>
        <p:blipFill>
          <a:blip r:embed="rId5"/>
          <a:stretch>
            <a:fillRect/>
          </a:stretch>
        </p:blipFill>
        <p:spPr>
          <a:xfrm rot="21600000">
            <a:off x="1032357" y="3335070"/>
            <a:ext cx="216408" cy="223723"/>
          </a:xfrm>
          <a:prstGeom prst="rect">
            <a:avLst/>
          </a:prstGeom>
        </p:spPr>
      </p:pic>
      <p:sp>
        <p:nvSpPr>
          <p:cNvPr id="220" name="textbox 220"/>
          <p:cNvSpPr/>
          <p:nvPr/>
        </p:nvSpPr>
        <p:spPr>
          <a:xfrm>
            <a:off x="332072" y="268903"/>
            <a:ext cx="8413750" cy="45910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3200" b="1" kern="0" spc="-10" dirty="0">
                <a:solidFill>
                  <a:srgbClr val="F26849">
                    <a:alpha val="100000"/>
                  </a:srgbClr>
                </a:solidFill>
                <a:latin typeface="微软雅黑" panose="020B0503020204020204" charset="-122"/>
                <a:ea typeface="微软雅黑" panose="020B0503020204020204" charset="-122"/>
                <a:cs typeface="微软雅黑" panose="020B0503020204020204" charset="-122"/>
              </a:rPr>
              <a:t>Introduction：VL2 Goals &amp; Contributions</a:t>
            </a:r>
            <a:endParaRPr sz="3200" dirty="0">
              <a:latin typeface="微软雅黑" panose="020B0503020204020204" charset="-122"/>
              <a:ea typeface="微软雅黑" panose="020B0503020204020204" charset="-122"/>
              <a:cs typeface="微软雅黑" panose="020B0503020204020204" charset="-122"/>
            </a:endParaRPr>
          </a:p>
        </p:txBody>
      </p:sp>
      <p:pic>
        <p:nvPicPr>
          <p:cNvPr id="222" name="picture 222"/>
          <p:cNvPicPr>
            <a:picLocks noChangeAspect="1"/>
          </p:cNvPicPr>
          <p:nvPr/>
        </p:nvPicPr>
        <p:blipFill>
          <a:blip r:embed="rId6"/>
          <a:stretch>
            <a:fillRect/>
          </a:stretch>
        </p:blipFill>
        <p:spPr>
          <a:xfrm rot="21600000">
            <a:off x="11338559" y="18288"/>
            <a:ext cx="720852" cy="719328"/>
          </a:xfrm>
          <a:prstGeom prst="rect">
            <a:avLst/>
          </a:prstGeom>
        </p:spPr>
      </p:pic>
      <p:sp>
        <p:nvSpPr>
          <p:cNvPr id="224" name="path 224"/>
          <p:cNvSpPr/>
          <p:nvPr/>
        </p:nvSpPr>
        <p:spPr>
          <a:xfrm>
            <a:off x="691006" y="6445186"/>
            <a:ext cx="10654538" cy="28574"/>
          </a:xfrm>
          <a:custGeom>
            <a:avLst/>
            <a:gdLst/>
            <a:ahLst/>
            <a:cxnLst/>
            <a:rect l="0" t="0" r="0" b="0"/>
            <a:pathLst>
              <a:path w="16778" h="44">
                <a:moveTo>
                  <a:pt x="16778" y="22"/>
                </a:moveTo>
                <a:lnTo>
                  <a:pt x="0" y="22"/>
                </a:lnTo>
              </a:path>
            </a:pathLst>
          </a:custGeom>
          <a:noFill/>
          <a:ln w="28575" cap="flat">
            <a:solidFill>
              <a:srgbClr val="BF9000"/>
            </a:solidFill>
            <a:prstDash val="dash"/>
            <a:bevel/>
          </a:ln>
        </p:spPr>
        <p:txBody>
          <a:bodyPr rtlCol="0"/>
          <a:lstStyle/>
          <a:p>
            <a:pPr algn="ctr"/>
            <a:endParaRPr lang="zh-CN" altLang="en-US"/>
          </a:p>
        </p:txBody>
      </p:sp>
      <p:pic>
        <p:nvPicPr>
          <p:cNvPr id="226" name="picture 226"/>
          <p:cNvPicPr>
            <a:picLocks noChangeAspect="1"/>
          </p:cNvPicPr>
          <p:nvPr/>
        </p:nvPicPr>
        <p:blipFill>
          <a:blip r:embed="rId7"/>
          <a:stretch>
            <a:fillRect/>
          </a:stretch>
        </p:blipFill>
        <p:spPr>
          <a:xfrm rot="21600000">
            <a:off x="155447" y="751332"/>
            <a:ext cx="11881104" cy="19811"/>
          </a:xfrm>
          <a:prstGeom prst="rect">
            <a:avLst/>
          </a:prstGeom>
        </p:spPr>
      </p:pic>
      <p:sp>
        <p:nvSpPr>
          <p:cNvPr id="228" name="textbox 228"/>
          <p:cNvSpPr/>
          <p:nvPr/>
        </p:nvSpPr>
        <p:spPr>
          <a:xfrm>
            <a:off x="11594999" y="6559321"/>
            <a:ext cx="23812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50" dirty="0">
                <a:solidFill>
                  <a:srgbClr val="000000">
                    <a:alpha val="100000"/>
                  </a:srgbClr>
                </a:solidFill>
                <a:latin typeface="Calibri" panose="020F0502020204030204"/>
                <a:ea typeface="Calibri" panose="020F0502020204030204"/>
                <a:cs typeface="Calibri" panose="020F0502020204030204"/>
              </a:rPr>
              <a:t>11</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textbox 230"/>
          <p:cNvSpPr/>
          <p:nvPr/>
        </p:nvSpPr>
        <p:spPr>
          <a:xfrm>
            <a:off x="297434" y="1594358"/>
            <a:ext cx="11442065" cy="4314190"/>
          </a:xfrm>
          <a:prstGeom prst="roundRect">
            <a:avLst>
              <a:gd name="adj" fmla="val 7592"/>
            </a:avLst>
          </a:prstGeom>
          <a:noFill/>
          <a:ln w="28575" cap="flat">
            <a:solidFill>
              <a:srgbClr val="BF9000"/>
            </a:solidFill>
            <a:prstDash val="solid"/>
            <a:miter lim="0"/>
          </a:ln>
        </p:spPr>
        <p:txBody>
          <a:bodyPr vert="horz" wrap="square" lIns="0" tIns="0" rIns="0" bIns="0"/>
          <a:lstStyle/>
          <a:p>
            <a:pPr algn="l" rtl="0" eaLnBrk="0">
              <a:lnSpc>
                <a:spcPct val="147000"/>
              </a:lnSpc>
            </a:pPr>
            <a:endParaRPr sz="1000" dirty="0">
              <a:latin typeface="Arial" panose="020B0604020202020204"/>
              <a:ea typeface="Arial" panose="020B0604020202020204"/>
              <a:cs typeface="Arial" panose="020B0604020202020204"/>
            </a:endParaRPr>
          </a:p>
          <a:p>
            <a:pPr algn="l" rtl="0" eaLnBrk="0">
              <a:lnSpc>
                <a:spcPct val="148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336550" algn="l" rtl="0" eaLnBrk="0">
              <a:lnSpc>
                <a:spcPct val="89000"/>
              </a:lnSpc>
              <a:tabLst>
                <a:tab pos="55245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可部署</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：不改变交换机和服务器的硬件，不修改遗留应用代码</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90000"/>
              </a:lnSpc>
            </a:pPr>
            <a:endParaRPr sz="1000" dirty="0">
              <a:latin typeface="Arial" panose="020B0604020202020204"/>
              <a:ea typeface="Arial" panose="020B0604020202020204"/>
              <a:cs typeface="Arial" panose="020B0604020202020204"/>
            </a:endParaRPr>
          </a:p>
          <a:p>
            <a:pPr marL="657860" indent="-321310" algn="l" rtl="0" eaLnBrk="0">
              <a:lnSpc>
                <a:spcPct val="132000"/>
              </a:lnSpc>
              <a:spcBef>
                <a:spcPts val="720"/>
              </a:spcBef>
              <a:tabLst>
                <a:tab pos="55245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VLB的应用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：使用Valian</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t</a:t>
            </a:r>
            <a:r>
              <a:rPr sz="24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Load</a:t>
            </a:r>
            <a:r>
              <a:rPr sz="2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Balancing应对数据中心流量的多变。VLB不</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需要中心化的协调或流量工程，服务器自动把每条流分摊到随机</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路径来达到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负载均衡和减轻拥塞效果</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64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657225" indent="-320675" algn="l" rtl="0" eaLnBrk="0">
              <a:lnSpc>
                <a:spcPct val="124000"/>
              </a:lnSpc>
              <a:spcBef>
                <a:spcPts val="0"/>
              </a:spcBef>
              <a:tabLst>
                <a:tab pos="55245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IP地址分离</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：为了灵活性，</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将拓扑意义从应用的IP地址中分离，采用目录系</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统建立应用IP和物理</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IP的映射</a:t>
            </a:r>
            <a:endParaRPr sz="2400" dirty="0">
              <a:latin typeface="微软雅黑" panose="020B0503020204020204" charset="-122"/>
              <a:ea typeface="微软雅黑" panose="020B0503020204020204" charset="-122"/>
              <a:cs typeface="微软雅黑" panose="020B0503020204020204" charset="-122"/>
            </a:endParaRPr>
          </a:p>
        </p:txBody>
      </p:sp>
      <p:pic>
        <p:nvPicPr>
          <p:cNvPr id="232" name="picture 232"/>
          <p:cNvPicPr>
            <a:picLocks noChangeAspect="1"/>
          </p:cNvPicPr>
          <p:nvPr/>
        </p:nvPicPr>
        <p:blipFill>
          <a:blip r:embed="rId1"/>
          <a:stretch>
            <a:fillRect/>
          </a:stretch>
        </p:blipFill>
        <p:spPr>
          <a:xfrm rot="21600000">
            <a:off x="729996" y="4665903"/>
            <a:ext cx="216408" cy="223723"/>
          </a:xfrm>
          <a:prstGeom prst="rect">
            <a:avLst/>
          </a:prstGeom>
        </p:spPr>
      </p:pic>
      <p:pic>
        <p:nvPicPr>
          <p:cNvPr id="234" name="picture 234"/>
          <p:cNvPicPr>
            <a:picLocks noChangeAspect="1"/>
          </p:cNvPicPr>
          <p:nvPr/>
        </p:nvPicPr>
        <p:blipFill>
          <a:blip r:embed="rId2"/>
          <a:stretch>
            <a:fillRect/>
          </a:stretch>
        </p:blipFill>
        <p:spPr>
          <a:xfrm rot="21600000">
            <a:off x="729996" y="2867202"/>
            <a:ext cx="216408" cy="223723"/>
          </a:xfrm>
          <a:prstGeom prst="rect">
            <a:avLst/>
          </a:prstGeom>
        </p:spPr>
      </p:pic>
      <p:pic>
        <p:nvPicPr>
          <p:cNvPr id="236" name="picture 236"/>
          <p:cNvPicPr>
            <a:picLocks noChangeAspect="1"/>
          </p:cNvPicPr>
          <p:nvPr/>
        </p:nvPicPr>
        <p:blipFill>
          <a:blip r:embed="rId2"/>
          <a:stretch>
            <a:fillRect/>
          </a:stretch>
        </p:blipFill>
        <p:spPr>
          <a:xfrm rot="21600000">
            <a:off x="729996" y="2165908"/>
            <a:ext cx="216408" cy="223723"/>
          </a:xfrm>
          <a:prstGeom prst="rect">
            <a:avLst/>
          </a:prstGeom>
        </p:spPr>
      </p:pic>
      <p:sp>
        <p:nvSpPr>
          <p:cNvPr id="238" name="textbox 238"/>
          <p:cNvSpPr/>
          <p:nvPr/>
        </p:nvSpPr>
        <p:spPr>
          <a:xfrm>
            <a:off x="332072" y="268903"/>
            <a:ext cx="8413750" cy="45910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3200" b="1" kern="0" spc="-10" dirty="0">
                <a:solidFill>
                  <a:srgbClr val="F26849">
                    <a:alpha val="100000"/>
                  </a:srgbClr>
                </a:solidFill>
                <a:latin typeface="微软雅黑" panose="020B0503020204020204" charset="-122"/>
                <a:ea typeface="微软雅黑" panose="020B0503020204020204" charset="-122"/>
                <a:cs typeface="微软雅黑" panose="020B0503020204020204" charset="-122"/>
              </a:rPr>
              <a:t>Introduction：VL2 Goals &amp; Contributions</a:t>
            </a:r>
            <a:endParaRPr sz="3200" dirty="0">
              <a:latin typeface="微软雅黑" panose="020B0503020204020204" charset="-122"/>
              <a:ea typeface="微软雅黑" panose="020B0503020204020204" charset="-122"/>
              <a:cs typeface="微软雅黑" panose="020B0503020204020204" charset="-122"/>
            </a:endParaRPr>
          </a:p>
        </p:txBody>
      </p:sp>
      <p:pic>
        <p:nvPicPr>
          <p:cNvPr id="240" name="picture 240"/>
          <p:cNvPicPr>
            <a:picLocks noChangeAspect="1"/>
          </p:cNvPicPr>
          <p:nvPr/>
        </p:nvPicPr>
        <p:blipFill>
          <a:blip r:embed="rId3"/>
          <a:stretch>
            <a:fillRect/>
          </a:stretch>
        </p:blipFill>
        <p:spPr>
          <a:xfrm rot="21600000">
            <a:off x="11338559" y="18288"/>
            <a:ext cx="720852" cy="719328"/>
          </a:xfrm>
          <a:prstGeom prst="rect">
            <a:avLst/>
          </a:prstGeom>
        </p:spPr>
      </p:pic>
      <p:sp>
        <p:nvSpPr>
          <p:cNvPr id="242" name="textbox 242"/>
          <p:cNvSpPr/>
          <p:nvPr/>
        </p:nvSpPr>
        <p:spPr>
          <a:xfrm>
            <a:off x="389636" y="1041552"/>
            <a:ext cx="1205864" cy="350520"/>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9000"/>
              </a:lnSpc>
            </a:pP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VL2要点</a:t>
            </a:r>
            <a:endParaRPr sz="2400" dirty="0">
              <a:latin typeface="微软雅黑" panose="020B0503020204020204" charset="-122"/>
              <a:ea typeface="微软雅黑" panose="020B0503020204020204" charset="-122"/>
              <a:cs typeface="微软雅黑" panose="020B0503020204020204" charset="-122"/>
            </a:endParaRPr>
          </a:p>
        </p:txBody>
      </p:sp>
      <p:pic>
        <p:nvPicPr>
          <p:cNvPr id="244" name="picture 244"/>
          <p:cNvPicPr>
            <a:picLocks noChangeAspect="1"/>
          </p:cNvPicPr>
          <p:nvPr/>
        </p:nvPicPr>
        <p:blipFill>
          <a:blip r:embed="rId4"/>
          <a:stretch>
            <a:fillRect/>
          </a:stretch>
        </p:blipFill>
        <p:spPr>
          <a:xfrm rot="21600000">
            <a:off x="155447" y="751332"/>
            <a:ext cx="11881104" cy="19811"/>
          </a:xfrm>
          <a:prstGeom prst="rect">
            <a:avLst/>
          </a:prstGeom>
        </p:spPr>
      </p:pic>
      <p:pic>
        <p:nvPicPr>
          <p:cNvPr id="246" name="picture 246"/>
          <p:cNvPicPr>
            <a:picLocks noChangeAspect="1"/>
          </p:cNvPicPr>
          <p:nvPr/>
        </p:nvPicPr>
        <p:blipFill>
          <a:blip r:embed="rId5"/>
          <a:stretch>
            <a:fillRect/>
          </a:stretch>
        </p:blipFill>
        <p:spPr>
          <a:xfrm rot="21600000">
            <a:off x="161544" y="6461759"/>
            <a:ext cx="11879580" cy="18288"/>
          </a:xfrm>
          <a:prstGeom prst="rect">
            <a:avLst/>
          </a:prstGeom>
        </p:spPr>
      </p:pic>
      <p:sp>
        <p:nvSpPr>
          <p:cNvPr id="248" name="textbox 248"/>
          <p:cNvSpPr/>
          <p:nvPr/>
        </p:nvSpPr>
        <p:spPr>
          <a:xfrm>
            <a:off x="11594999" y="6559321"/>
            <a:ext cx="23812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50" dirty="0">
                <a:solidFill>
                  <a:srgbClr val="000000">
                    <a:alpha val="100000"/>
                  </a:srgbClr>
                </a:solidFill>
                <a:latin typeface="Calibri" panose="020F0502020204030204"/>
                <a:ea typeface="Calibri" panose="020F0502020204030204"/>
                <a:cs typeface="Calibri" panose="020F0502020204030204"/>
              </a:rPr>
              <a:t>12</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0" name="table 250"/>
          <p:cNvGraphicFramePr>
            <a:graphicFrameLocks noGrp="1"/>
          </p:cNvGraphicFramePr>
          <p:nvPr/>
        </p:nvGraphicFramePr>
        <p:xfrm>
          <a:off x="161544" y="1592770"/>
          <a:ext cx="11878945" cy="4886959"/>
        </p:xfrm>
        <a:graphic>
          <a:graphicData uri="http://schemas.openxmlformats.org/drawingml/2006/table">
            <a:tbl>
              <a:tblPr/>
              <a:tblGrid>
                <a:gridCol w="148589"/>
                <a:gridCol w="11416030"/>
                <a:gridCol w="314325"/>
              </a:tblGrid>
              <a:tr h="48869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w="28575" cap="flat" cmpd="sng" algn="ctr">
                      <a:solidFill>
                        <a:srgbClr val="BF9000"/>
                      </a:solidFill>
                      <a:prstDash val="solid"/>
                      <a:round/>
                      <a:headEnd type="none" w="med" len="med"/>
                      <a:tailEnd type="none" w="med" len="med"/>
                    </a:lnR>
                    <a:lnT>
                      <a:noFill/>
                    </a:lnT>
                    <a:lnB>
                      <a:noFill/>
                    </a:lnB>
                  </a:tcPr>
                </a:tc>
                <a:tc>
                  <a:txBody>
                    <a:bodyPr/>
                    <a:lstStyle/>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419735" algn="l" rtl="0" eaLnBrk="0">
                        <a:lnSpc>
                          <a:spcPct val="89000"/>
                        </a:lnSpc>
                        <a:tabLst>
                          <a:tab pos="63563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对生产环境的数据中心进行流量模型研究，发现流量具有巨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大的波动性</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85000"/>
                        </a:lnSpc>
                      </a:pPr>
                      <a:endParaRPr sz="1000" dirty="0">
                        <a:latin typeface="Arial" panose="020B0604020202020204"/>
                        <a:ea typeface="Arial" panose="020B0604020202020204"/>
                        <a:cs typeface="Arial" panose="020B0604020202020204"/>
                      </a:endParaRPr>
                    </a:p>
                    <a:p>
                      <a:pPr marL="743585" indent="-323850" algn="l" rtl="0" eaLnBrk="0">
                        <a:lnSpc>
                          <a:spcPct val="124000"/>
                        </a:lnSpc>
                        <a:spcBef>
                          <a:spcPts val="720"/>
                        </a:spcBef>
                        <a:tabLst>
                          <a:tab pos="63563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在80台服务器的集群中设计、实现和部署了VL2的所有组件，</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验证VL2满足了</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前面提出的所有目标，同时</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网络的速度优良</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65000"/>
                        </a:lnSpc>
                      </a:pPr>
                      <a:endParaRPr sz="1000" dirty="0">
                        <a:latin typeface="Arial" panose="020B0604020202020204"/>
                        <a:ea typeface="Arial" panose="020B0604020202020204"/>
                        <a:cs typeface="Arial" panose="020B0604020202020204"/>
                      </a:endParaRPr>
                    </a:p>
                    <a:p>
                      <a:pPr marL="741680" indent="-321945" algn="l" rtl="0" eaLnBrk="0">
                        <a:lnSpc>
                          <a:spcPct val="124000"/>
                        </a:lnSpc>
                        <a:spcBef>
                          <a:spcPts val="720"/>
                        </a:spcBef>
                        <a:tabLst>
                          <a:tab pos="63563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第一次把Valiant</a:t>
                      </a:r>
                      <a:r>
                        <a:rPr sz="24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Load</a:t>
                      </a:r>
                      <a:r>
                        <a:rPr sz="24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alancing(VLB)算法用于数据中心交换机之间，并验</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证按流粒度对流量进行划分能达到几乎相同</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的划分效果</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66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419735" algn="l" rtl="0" eaLnBrk="0">
                        <a:lnSpc>
                          <a:spcPct val="89000"/>
                        </a:lnSpc>
                        <a:spcBef>
                          <a:spcPts val="5"/>
                        </a:spcBef>
                        <a:tabLst>
                          <a:tab pos="63563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通过和同等能力的传统网络比较价格，证明了VL2所做tr</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ade-off的合理性</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28575" cap="flat" cmpd="sng" algn="ctr">
                      <a:solidFill>
                        <a:srgbClr val="BF9000"/>
                      </a:solidFill>
                      <a:prstDash val="solid"/>
                      <a:round/>
                      <a:headEnd type="none" w="med" len="med"/>
                      <a:tailEnd type="none" w="med" len="med"/>
                    </a:lnL>
                    <a:lnR w="28575" cap="flat" cmpd="sng" algn="ctr">
                      <a:solidFill>
                        <a:srgbClr val="BF9000"/>
                      </a:solidFill>
                      <a:prstDash val="solid"/>
                      <a:round/>
                      <a:headEnd type="none" w="med" len="med"/>
                      <a:tailEnd type="none" w="med" len="med"/>
                    </a:lnR>
                    <a:lnT w="28575" cap="flat" cmpd="sng" algn="ctr">
                      <a:solidFill>
                        <a:srgbClr val="BF9000"/>
                      </a:solidFill>
                      <a:prstDash val="solid"/>
                      <a:round/>
                      <a:headEnd type="none" w="med" len="med"/>
                      <a:tailEnd type="none" w="med" len="med"/>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w="28575" cap="flat" cmpd="sng" algn="ctr">
                      <a:solidFill>
                        <a:srgbClr val="BF9000"/>
                      </a:solidFill>
                      <a:prstDash val="solid"/>
                      <a:round/>
                      <a:headEnd type="none" w="med" len="med"/>
                      <a:tailEnd type="none" w="med" len="med"/>
                    </a:lnL>
                    <a:lnR>
                      <a:noFill/>
                    </a:lnR>
                    <a:lnT>
                      <a:noFill/>
                    </a:lnT>
                    <a:lnB>
                      <a:noFill/>
                    </a:lnB>
                  </a:tcPr>
                </a:tc>
              </a:tr>
            </a:tbl>
          </a:graphicData>
        </a:graphic>
      </p:graphicFrame>
      <p:pic>
        <p:nvPicPr>
          <p:cNvPr id="252" name="picture 252"/>
          <p:cNvPicPr>
            <a:picLocks noChangeAspect="1"/>
          </p:cNvPicPr>
          <p:nvPr/>
        </p:nvPicPr>
        <p:blipFill>
          <a:blip r:embed="rId1"/>
          <a:stretch>
            <a:fillRect/>
          </a:stretch>
        </p:blipFill>
        <p:spPr>
          <a:xfrm rot="21600000">
            <a:off x="729996" y="5366918"/>
            <a:ext cx="216408" cy="223723"/>
          </a:xfrm>
          <a:prstGeom prst="rect">
            <a:avLst/>
          </a:prstGeom>
        </p:spPr>
      </p:pic>
      <p:pic>
        <p:nvPicPr>
          <p:cNvPr id="254" name="picture 254"/>
          <p:cNvPicPr>
            <a:picLocks noChangeAspect="1"/>
          </p:cNvPicPr>
          <p:nvPr/>
        </p:nvPicPr>
        <p:blipFill>
          <a:blip r:embed="rId2"/>
          <a:stretch>
            <a:fillRect/>
          </a:stretch>
        </p:blipFill>
        <p:spPr>
          <a:xfrm rot="21600000">
            <a:off x="730021" y="4116658"/>
            <a:ext cx="216624" cy="223946"/>
          </a:xfrm>
          <a:prstGeom prst="rect">
            <a:avLst/>
          </a:prstGeom>
        </p:spPr>
      </p:pic>
      <p:pic>
        <p:nvPicPr>
          <p:cNvPr id="256" name="picture 256"/>
          <p:cNvPicPr>
            <a:picLocks noChangeAspect="1"/>
          </p:cNvPicPr>
          <p:nvPr/>
        </p:nvPicPr>
        <p:blipFill>
          <a:blip r:embed="rId1"/>
          <a:stretch>
            <a:fillRect/>
          </a:stretch>
        </p:blipFill>
        <p:spPr>
          <a:xfrm rot="21600000">
            <a:off x="729996" y="2867202"/>
            <a:ext cx="216408" cy="223723"/>
          </a:xfrm>
          <a:prstGeom prst="rect">
            <a:avLst/>
          </a:prstGeom>
        </p:spPr>
      </p:pic>
      <p:pic>
        <p:nvPicPr>
          <p:cNvPr id="258" name="picture 258"/>
          <p:cNvPicPr>
            <a:picLocks noChangeAspect="1"/>
          </p:cNvPicPr>
          <p:nvPr/>
        </p:nvPicPr>
        <p:blipFill>
          <a:blip r:embed="rId1"/>
          <a:stretch>
            <a:fillRect/>
          </a:stretch>
        </p:blipFill>
        <p:spPr>
          <a:xfrm rot="21600000">
            <a:off x="729996" y="2165908"/>
            <a:ext cx="216408" cy="223723"/>
          </a:xfrm>
          <a:prstGeom prst="rect">
            <a:avLst/>
          </a:prstGeom>
        </p:spPr>
      </p:pic>
      <p:sp>
        <p:nvSpPr>
          <p:cNvPr id="260" name="textbox 260"/>
          <p:cNvSpPr/>
          <p:nvPr/>
        </p:nvSpPr>
        <p:spPr>
          <a:xfrm>
            <a:off x="332072" y="268903"/>
            <a:ext cx="8413750" cy="45910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3200" b="1" kern="0" spc="-10" dirty="0">
                <a:solidFill>
                  <a:srgbClr val="F26849">
                    <a:alpha val="100000"/>
                  </a:srgbClr>
                </a:solidFill>
                <a:latin typeface="微软雅黑" panose="020B0503020204020204" charset="-122"/>
                <a:ea typeface="微软雅黑" panose="020B0503020204020204" charset="-122"/>
                <a:cs typeface="微软雅黑" panose="020B0503020204020204" charset="-122"/>
              </a:rPr>
              <a:t>Introduction：VL2 Goals &amp; Contributions</a:t>
            </a:r>
            <a:endParaRPr sz="3200" dirty="0">
              <a:latin typeface="微软雅黑" panose="020B0503020204020204" charset="-122"/>
              <a:ea typeface="微软雅黑" panose="020B0503020204020204" charset="-122"/>
              <a:cs typeface="微软雅黑" panose="020B0503020204020204" charset="-122"/>
            </a:endParaRPr>
          </a:p>
        </p:txBody>
      </p:sp>
      <p:sp>
        <p:nvSpPr>
          <p:cNvPr id="262" name="textbox 262"/>
          <p:cNvSpPr/>
          <p:nvPr/>
        </p:nvSpPr>
        <p:spPr>
          <a:xfrm>
            <a:off x="392373" y="1049483"/>
            <a:ext cx="1442719"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本文贡献</a:t>
            </a:r>
            <a:endParaRPr sz="2700" dirty="0">
              <a:latin typeface="微软雅黑" panose="020B0503020204020204" charset="-122"/>
              <a:ea typeface="微软雅黑" panose="020B0503020204020204" charset="-122"/>
              <a:cs typeface="微软雅黑" panose="020B0503020204020204" charset="-122"/>
            </a:endParaRPr>
          </a:p>
        </p:txBody>
      </p:sp>
      <p:pic>
        <p:nvPicPr>
          <p:cNvPr id="264" name="picture 264"/>
          <p:cNvPicPr>
            <a:picLocks noChangeAspect="1"/>
          </p:cNvPicPr>
          <p:nvPr/>
        </p:nvPicPr>
        <p:blipFill>
          <a:blip r:embed="rId3"/>
          <a:stretch>
            <a:fillRect/>
          </a:stretch>
        </p:blipFill>
        <p:spPr>
          <a:xfrm rot="21600000">
            <a:off x="11338559" y="18288"/>
            <a:ext cx="720852" cy="719328"/>
          </a:xfrm>
          <a:prstGeom prst="rect">
            <a:avLst/>
          </a:prstGeom>
        </p:spPr>
      </p:pic>
      <p:sp>
        <p:nvSpPr>
          <p:cNvPr id="266" name="path 266"/>
          <p:cNvSpPr/>
          <p:nvPr/>
        </p:nvSpPr>
        <p:spPr>
          <a:xfrm>
            <a:off x="648690" y="6445186"/>
            <a:ext cx="10739145" cy="28574"/>
          </a:xfrm>
          <a:custGeom>
            <a:avLst/>
            <a:gdLst/>
            <a:ahLst/>
            <a:cxnLst/>
            <a:rect l="0" t="0" r="0" b="0"/>
            <a:pathLst>
              <a:path w="16912" h="44">
                <a:moveTo>
                  <a:pt x="16912" y="22"/>
                </a:moveTo>
                <a:lnTo>
                  <a:pt x="0" y="22"/>
                </a:lnTo>
              </a:path>
            </a:pathLst>
          </a:custGeom>
          <a:noFill/>
          <a:ln w="28575" cap="flat">
            <a:solidFill>
              <a:srgbClr val="BF9000"/>
            </a:solidFill>
            <a:prstDash val="dash"/>
            <a:bevel/>
          </a:ln>
        </p:spPr>
        <p:txBody>
          <a:bodyPr rtlCol="0"/>
          <a:lstStyle/>
          <a:p>
            <a:pPr algn="ctr"/>
            <a:endParaRPr lang="zh-CN" altLang="en-US"/>
          </a:p>
        </p:txBody>
      </p:sp>
      <p:pic>
        <p:nvPicPr>
          <p:cNvPr id="268" name="picture 268"/>
          <p:cNvPicPr>
            <a:picLocks noChangeAspect="1"/>
          </p:cNvPicPr>
          <p:nvPr/>
        </p:nvPicPr>
        <p:blipFill>
          <a:blip r:embed="rId4"/>
          <a:stretch>
            <a:fillRect/>
          </a:stretch>
        </p:blipFill>
        <p:spPr>
          <a:xfrm rot="21600000">
            <a:off x="155447" y="751332"/>
            <a:ext cx="11881104" cy="19811"/>
          </a:xfrm>
          <a:prstGeom prst="rect">
            <a:avLst/>
          </a:prstGeom>
        </p:spPr>
      </p:pic>
      <p:sp>
        <p:nvSpPr>
          <p:cNvPr id="270" name="textbox 270"/>
          <p:cNvSpPr/>
          <p:nvPr/>
        </p:nvSpPr>
        <p:spPr>
          <a:xfrm>
            <a:off x="11594999" y="6559321"/>
            <a:ext cx="23812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50" dirty="0">
                <a:solidFill>
                  <a:srgbClr val="000000">
                    <a:alpha val="100000"/>
                  </a:srgbClr>
                </a:solidFill>
                <a:latin typeface="Calibri" panose="020F0502020204030204"/>
                <a:ea typeface="Calibri" panose="020F0502020204030204"/>
                <a:cs typeface="Calibri" panose="020F0502020204030204"/>
              </a:rPr>
              <a:t>13</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rect 272"/>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274" name="textbox 274"/>
          <p:cNvSpPr/>
          <p:nvPr/>
        </p:nvSpPr>
        <p:spPr>
          <a:xfrm>
            <a:off x="1919729" y="1139825"/>
            <a:ext cx="8268969" cy="505587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343916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40" dirty="0">
                <a:solidFill>
                  <a:srgbClr val="4472C4">
                    <a:alpha val="100000"/>
                  </a:srgbClr>
                </a:solidFill>
                <a:latin typeface="微软雅黑" panose="020B0503020204020204" charset="-122"/>
                <a:ea typeface="微软雅黑" panose="020B0503020204020204" charset="-122"/>
                <a:cs typeface="微软雅黑" panose="020B0503020204020204" charset="-122"/>
              </a:rPr>
              <a:t>1.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Why</a:t>
            </a:r>
            <a:r>
              <a:rPr sz="2700" b="1" kern="0" spc="14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conventional</a:t>
            </a:r>
            <a:r>
              <a:rPr sz="2700" b="1" kern="0" spc="31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DCN</a:t>
            </a:r>
            <a:r>
              <a:rPr sz="2700" b="1" kern="0" spc="14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arch</a:t>
            </a:r>
            <a:r>
              <a:rPr sz="2700" b="1" kern="0" spc="14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falls</a:t>
            </a:r>
            <a:r>
              <a:rPr sz="2700" b="1" kern="0" spc="19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short</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100000"/>
              </a:lnSpc>
              <a:spcBef>
                <a:spcPts val="13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Valiant</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Load</a:t>
            </a:r>
            <a:r>
              <a:rPr sz="2700" b="1" kern="0" spc="2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Balancing</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5"/>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276" name="picture 276"/>
          <p:cNvPicPr>
            <a:picLocks noChangeAspect="1"/>
          </p:cNvPicPr>
          <p:nvPr/>
        </p:nvPicPr>
        <p:blipFill>
          <a:blip r:embed="rId1"/>
          <a:stretch>
            <a:fillRect/>
          </a:stretch>
        </p:blipFill>
        <p:spPr>
          <a:xfrm rot="21600000">
            <a:off x="0" y="0"/>
            <a:ext cx="12192000" cy="288035"/>
          </a:xfrm>
          <a:prstGeom prst="rect">
            <a:avLst/>
          </a:prstGeom>
        </p:spPr>
      </p:pic>
      <p:pic>
        <p:nvPicPr>
          <p:cNvPr id="278" name="picture 278"/>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0" name="table 280"/>
          <p:cNvGraphicFramePr>
            <a:graphicFrameLocks noGrp="1"/>
          </p:cNvGraphicFramePr>
          <p:nvPr/>
        </p:nvGraphicFramePr>
        <p:xfrm>
          <a:off x="0" y="751332"/>
          <a:ext cx="12040870" cy="5728335"/>
        </p:xfrm>
        <a:graphic>
          <a:graphicData uri="http://schemas.openxmlformats.org/drawingml/2006/table">
            <a:tbl>
              <a:tblPr/>
              <a:tblGrid>
                <a:gridCol w="5281295"/>
                <a:gridCol w="6759575"/>
              </a:tblGrid>
              <a:tr h="5627370">
                <a:tc rowSpan="2">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404495" algn="l" rtl="0" eaLnBrk="0">
                        <a:lnSpc>
                          <a:spcPct val="92000"/>
                        </a:lnSpc>
                      </a:pPr>
                      <a:r>
                        <a:rPr sz="2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传统数据中心网络架构</a:t>
                      </a:r>
                      <a:endParaRPr sz="2700" dirty="0">
                        <a:latin typeface="微软雅黑" panose="020B0503020204020204" charset="-122"/>
                        <a:ea typeface="微软雅黑" panose="020B0503020204020204" charset="-122"/>
                        <a:cs typeface="微软雅黑" panose="020B0503020204020204" charset="-122"/>
                      </a:endParaRPr>
                    </a:p>
                  </a:txBody>
                  <a:tcPr marL="0" marR="0" marT="0" marB="0" vert="horz">
                    <a:lnL>
                      <a:noFill/>
                    </a:lnL>
                    <a:lnR w="25400" cap="flat" cmpd="sng" algn="ctr">
                      <a:solidFill>
                        <a:srgbClr val="A5A5A5"/>
                      </a:solidFill>
                      <a:prstDash val="solid"/>
                      <a:round/>
                      <a:headEnd type="none" w="med" len="med"/>
                      <a:tailEnd type="none" w="med" len="med"/>
                    </a:lnR>
                    <a:lnT>
                      <a:noFill/>
                    </a:lnT>
                    <a:lnB>
                      <a:noFill/>
                    </a:lnB>
                  </a:tcPr>
                </a:tc>
                <a:tc>
                  <a:txBody>
                    <a:bodyPr/>
                    <a:lstStyle/>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346075" algn="l" rtl="0" eaLnBrk="0">
                        <a:lnSpc>
                          <a:spcPct val="89000"/>
                        </a:lnSpc>
                        <a:tabLst>
                          <a:tab pos="561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从ToR交换机到核心</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路由器形成</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层级结构</a:t>
                      </a:r>
                      <a:endParaRPr sz="2400" dirty="0">
                        <a:latin typeface="微软雅黑" panose="020B0503020204020204" charset="-122"/>
                        <a:ea typeface="微软雅黑" panose="020B0503020204020204" charset="-122"/>
                        <a:cs typeface="微软雅黑" panose="020B0503020204020204" charset="-122"/>
                      </a:endParaRPr>
                    </a:p>
                    <a:p>
                      <a:pPr marL="1065530" indent="-262255" algn="l" rtl="0" eaLnBrk="0">
                        <a:lnSpc>
                          <a:spcPct val="94000"/>
                        </a:lnSpc>
                        <a:spcBef>
                          <a:spcPts val="350"/>
                        </a:spcBef>
                        <a:tabLst>
                          <a:tab pos="101981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每个机柜通常有20到40</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台服务器，每台服</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务器连接到ToR交换机</a:t>
                      </a:r>
                      <a:endParaRPr sz="2400" dirty="0">
                        <a:latin typeface="微软雅黑" panose="020B0503020204020204" charset="-122"/>
                        <a:ea typeface="微软雅黑" panose="020B0503020204020204" charset="-122"/>
                        <a:cs typeface="微软雅黑" panose="020B0503020204020204" charset="-122"/>
                      </a:endParaRPr>
                    </a:p>
                    <a:p>
                      <a:pPr marL="1067435" indent="-264160" algn="l" rtl="0" eaLnBrk="0">
                        <a:lnSpc>
                          <a:spcPct val="94000"/>
                        </a:lnSpc>
                        <a:spcBef>
                          <a:spcPts val="345"/>
                        </a:spcBef>
                        <a:tabLst>
                          <a:tab pos="101981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每个ToR交换机连接</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到两个汇聚交换机AS</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来达到冗余</a:t>
                      </a:r>
                      <a:endParaRPr sz="2400" dirty="0">
                        <a:latin typeface="微软雅黑" panose="020B0503020204020204" charset="-122"/>
                        <a:ea typeface="微软雅黑" panose="020B0503020204020204" charset="-122"/>
                        <a:cs typeface="微软雅黑" panose="020B0503020204020204" charset="-122"/>
                      </a:endParaRPr>
                    </a:p>
                    <a:p>
                      <a:pPr marL="1067435" indent="-264160" algn="l" rtl="0" eaLnBrk="0">
                        <a:lnSpc>
                          <a:spcPct val="94000"/>
                        </a:lnSpc>
                        <a:spcBef>
                          <a:spcPts val="350"/>
                        </a:spcBef>
                        <a:tabLst>
                          <a:tab pos="101981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汇聚交换机AS继续连接接入路由器AR</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达到</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进一步的汇聚</a:t>
                      </a:r>
                      <a:endParaRPr sz="2400" dirty="0">
                        <a:latin typeface="微软雅黑" panose="020B0503020204020204" charset="-122"/>
                        <a:ea typeface="微软雅黑" panose="020B0503020204020204" charset="-122"/>
                        <a:cs typeface="微软雅黑" panose="020B0503020204020204" charset="-122"/>
                      </a:endParaRPr>
                    </a:p>
                    <a:p>
                      <a:pPr marL="1068705" indent="-265430" algn="l" rtl="0" eaLnBrk="0">
                        <a:lnSpc>
                          <a:spcPct val="96000"/>
                        </a:lnSpc>
                        <a:spcBef>
                          <a:spcPts val="345"/>
                        </a:spcBef>
                        <a:tabLst>
                          <a:tab pos="101981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在层级结构的顶端，核心路由器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完成接入</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路由器间的数据交换，同时管</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理进出数据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中心的流量</a:t>
                      </a:r>
                      <a:endParaRPr sz="2400" dirty="0">
                        <a:latin typeface="微软雅黑" panose="020B0503020204020204" charset="-122"/>
                        <a:ea typeface="微软雅黑" panose="020B0503020204020204" charset="-122"/>
                        <a:cs typeface="微软雅黑" panose="020B0503020204020204" charset="-122"/>
                      </a:endParaRPr>
                    </a:p>
                    <a:p>
                      <a:pPr marL="610235" indent="-264160" algn="l" rtl="0" eaLnBrk="0">
                        <a:lnSpc>
                          <a:spcPct val="94000"/>
                        </a:lnSpc>
                        <a:spcBef>
                          <a:spcPts val="350"/>
                        </a:spcBef>
                        <a:tabLst>
                          <a:tab pos="561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每一对接入路由器下的所有交换机</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形成一个L2</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域。</a:t>
                      </a:r>
                      <a:endParaRPr sz="2400" dirty="0">
                        <a:latin typeface="微软雅黑" panose="020B0503020204020204" charset="-122"/>
                        <a:ea typeface="微软雅黑" panose="020B0503020204020204" charset="-122"/>
                        <a:cs typeface="微软雅黑" panose="020B0503020204020204" charset="-122"/>
                      </a:endParaRPr>
                    </a:p>
                    <a:p>
                      <a:pPr marL="616585" indent="-270510" algn="l" rtl="0" eaLnBrk="0">
                        <a:lnSpc>
                          <a:spcPct val="94000"/>
                        </a:lnSpc>
                        <a:spcBef>
                          <a:spcPts val="345"/>
                        </a:spcBef>
                        <a:tabLst>
                          <a:tab pos="561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为了限制开销(例如包泛洪、A</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RP广播)以及隔</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离不同服务，服务器划分为VLA</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N。</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25400" cap="flat" cmpd="sng" algn="ctr">
                      <a:solidFill>
                        <a:srgbClr val="A5A5A5"/>
                      </a:solidFill>
                      <a:prstDash val="solid"/>
                      <a:round/>
                      <a:headEnd type="none" w="med" len="med"/>
                      <a:tailEnd type="none" w="med" len="med"/>
                    </a:lnL>
                    <a:lnR w="25400" cap="flat" cmpd="sng" algn="ctr">
                      <a:solidFill>
                        <a:srgbClr val="A5A5A5"/>
                      </a:solidFill>
                      <a:prstDash val="solid"/>
                      <a:round/>
                      <a:headEnd type="none" w="med" len="med"/>
                      <a:tailEnd type="none" w="med" len="med"/>
                    </a:lnR>
                    <a:lnT>
                      <a:noFill/>
                    </a:lnT>
                    <a:lnB w="25400" cap="flat" cmpd="sng" algn="ctr">
                      <a:solidFill>
                        <a:srgbClr val="A5A5A5"/>
                      </a:solidFill>
                      <a:prstDash val="solid"/>
                      <a:round/>
                      <a:headEnd type="none" w="med" len="med"/>
                      <a:tailEnd type="none" w="med" len="med"/>
                    </a:lnB>
                  </a:tcPr>
                </a:tc>
              </a:tr>
              <a:tr h="0">
                <a:tc vMerge="1">
                  <a:tcPr marL="0" marR="0" marT="0" marB="0" vert="horz">
                    <a:lnL>
                      <a:noFill/>
                    </a:lnL>
                    <a:lnR w="25400" cap="flat" cmpd="sng" algn="ctr">
                      <a:solidFill>
                        <a:srgbClr val="A5A5A5"/>
                      </a:solidFill>
                      <a:prstDash val="solid"/>
                      <a:round/>
                      <a:headEnd type="none" w="med" len="med"/>
                      <a:tailEnd type="none" w="med" len="med"/>
                    </a:lnR>
                    <a:lnT>
                      <a:noFill/>
                    </a:lnT>
                    <a:lnB>
                      <a:noFill/>
                    </a:lnB>
                  </a:tcPr>
                </a:tc>
                <a:tc>
                  <a:txBody>
                    <a:bodyPr/>
                    <a:lstStyle/>
                    <a:p>
                      <a:pPr algn="l" rtl="0" eaLnBrk="0">
                        <a:lnSpc>
                          <a:spcPts val="745"/>
                        </a:lnSpc>
                      </a:pPr>
                      <a:endParaRPr sz="600" dirty="0">
                        <a:latin typeface="Arial" panose="020B0604020202020204"/>
                        <a:ea typeface="Arial" panose="020B0604020202020204"/>
                        <a:cs typeface="Arial" panose="020B0604020202020204"/>
                      </a:endParaRPr>
                    </a:p>
                  </a:txBody>
                  <a:tcPr marL="0" marR="0" marT="0" marB="0" vert="horz">
                    <a:lnL>
                      <a:noFill/>
                    </a:lnL>
                    <a:lnR>
                      <a:noFill/>
                    </a:lnR>
                    <a:lnT w="25400" cap="flat" cmpd="sng" algn="ctr">
                      <a:solidFill>
                        <a:srgbClr val="A5A5A5"/>
                      </a:solidFill>
                      <a:prstDash val="solid"/>
                      <a:round/>
                      <a:headEnd type="none" w="med" len="med"/>
                      <a:tailEnd type="none" w="med" len="med"/>
                    </a:lnT>
                    <a:lnB>
                      <a:noFill/>
                    </a:lnB>
                  </a:tcPr>
                </a:tc>
              </a:tr>
            </a:tbl>
          </a:graphicData>
        </a:graphic>
      </p:graphicFrame>
      <p:pic>
        <p:nvPicPr>
          <p:cNvPr id="282" name="picture 282"/>
          <p:cNvPicPr>
            <a:picLocks noChangeAspect="1"/>
          </p:cNvPicPr>
          <p:nvPr/>
        </p:nvPicPr>
        <p:blipFill>
          <a:blip r:embed="rId1"/>
          <a:stretch>
            <a:fillRect/>
          </a:stretch>
        </p:blipFill>
        <p:spPr>
          <a:xfrm rot="21600000">
            <a:off x="5627573" y="5538825"/>
            <a:ext cx="216408" cy="223723"/>
          </a:xfrm>
          <a:prstGeom prst="rect">
            <a:avLst/>
          </a:prstGeom>
        </p:spPr>
      </p:pic>
      <p:pic>
        <p:nvPicPr>
          <p:cNvPr id="284" name="picture 284"/>
          <p:cNvPicPr>
            <a:picLocks noChangeAspect="1"/>
          </p:cNvPicPr>
          <p:nvPr/>
        </p:nvPicPr>
        <p:blipFill>
          <a:blip r:embed="rId2"/>
          <a:stretch>
            <a:fillRect/>
          </a:stretch>
        </p:blipFill>
        <p:spPr>
          <a:xfrm rot="21600000">
            <a:off x="5627573" y="4807254"/>
            <a:ext cx="216408" cy="223723"/>
          </a:xfrm>
          <a:prstGeom prst="rect">
            <a:avLst/>
          </a:prstGeom>
        </p:spPr>
      </p:pic>
      <p:pic>
        <p:nvPicPr>
          <p:cNvPr id="286" name="picture 286"/>
          <p:cNvPicPr>
            <a:picLocks noChangeAspect="1"/>
          </p:cNvPicPr>
          <p:nvPr/>
        </p:nvPicPr>
        <p:blipFill>
          <a:blip r:embed="rId1"/>
          <a:stretch>
            <a:fillRect/>
          </a:stretch>
        </p:blipFill>
        <p:spPr>
          <a:xfrm rot="21600000">
            <a:off x="6085027" y="3709720"/>
            <a:ext cx="216408" cy="223723"/>
          </a:xfrm>
          <a:prstGeom prst="rect">
            <a:avLst/>
          </a:prstGeom>
        </p:spPr>
      </p:pic>
      <p:pic>
        <p:nvPicPr>
          <p:cNvPr id="288" name="picture 288"/>
          <p:cNvPicPr>
            <a:picLocks noChangeAspect="1"/>
          </p:cNvPicPr>
          <p:nvPr/>
        </p:nvPicPr>
        <p:blipFill>
          <a:blip r:embed="rId3"/>
          <a:stretch>
            <a:fillRect/>
          </a:stretch>
        </p:blipFill>
        <p:spPr>
          <a:xfrm rot="21600000">
            <a:off x="6085052" y="2977723"/>
            <a:ext cx="216624" cy="223946"/>
          </a:xfrm>
          <a:prstGeom prst="rect">
            <a:avLst/>
          </a:prstGeom>
        </p:spPr>
      </p:pic>
      <p:pic>
        <p:nvPicPr>
          <p:cNvPr id="290" name="picture 290"/>
          <p:cNvPicPr>
            <a:picLocks noChangeAspect="1"/>
          </p:cNvPicPr>
          <p:nvPr/>
        </p:nvPicPr>
        <p:blipFill>
          <a:blip r:embed="rId2"/>
          <a:stretch>
            <a:fillRect/>
          </a:stretch>
        </p:blipFill>
        <p:spPr>
          <a:xfrm rot="21600000">
            <a:off x="6085027" y="2246426"/>
            <a:ext cx="216408" cy="223723"/>
          </a:xfrm>
          <a:prstGeom prst="rect">
            <a:avLst/>
          </a:prstGeom>
        </p:spPr>
      </p:pic>
      <p:pic>
        <p:nvPicPr>
          <p:cNvPr id="292" name="picture 292"/>
          <p:cNvPicPr>
            <a:picLocks noChangeAspect="1"/>
          </p:cNvPicPr>
          <p:nvPr/>
        </p:nvPicPr>
        <p:blipFill>
          <a:blip r:embed="rId3"/>
          <a:stretch>
            <a:fillRect/>
          </a:stretch>
        </p:blipFill>
        <p:spPr>
          <a:xfrm rot="21600000">
            <a:off x="6085052" y="1514302"/>
            <a:ext cx="216624" cy="223946"/>
          </a:xfrm>
          <a:prstGeom prst="rect">
            <a:avLst/>
          </a:prstGeom>
        </p:spPr>
      </p:pic>
      <p:pic>
        <p:nvPicPr>
          <p:cNvPr id="294" name="picture 294"/>
          <p:cNvPicPr>
            <a:picLocks noChangeAspect="1"/>
          </p:cNvPicPr>
          <p:nvPr/>
        </p:nvPicPr>
        <p:blipFill>
          <a:blip r:embed="rId2"/>
          <a:stretch>
            <a:fillRect/>
          </a:stretch>
        </p:blipFill>
        <p:spPr>
          <a:xfrm rot="21600000">
            <a:off x="5627573" y="1148765"/>
            <a:ext cx="216408" cy="223723"/>
          </a:xfrm>
          <a:prstGeom prst="rect">
            <a:avLst/>
          </a:prstGeom>
        </p:spPr>
      </p:pic>
      <p:pic>
        <p:nvPicPr>
          <p:cNvPr id="296" name="picture 296"/>
          <p:cNvPicPr>
            <a:picLocks noChangeAspect="1"/>
          </p:cNvPicPr>
          <p:nvPr/>
        </p:nvPicPr>
        <p:blipFill>
          <a:blip r:embed="rId4"/>
          <a:stretch>
            <a:fillRect/>
          </a:stretch>
        </p:blipFill>
        <p:spPr>
          <a:xfrm rot="21600000">
            <a:off x="0" y="1778508"/>
            <a:ext cx="5187695" cy="3465575"/>
          </a:xfrm>
          <a:prstGeom prst="rect">
            <a:avLst/>
          </a:prstGeom>
        </p:spPr>
      </p:pic>
      <p:sp>
        <p:nvSpPr>
          <p:cNvPr id="298" name="textbox 298"/>
          <p:cNvSpPr/>
          <p:nvPr/>
        </p:nvSpPr>
        <p:spPr>
          <a:xfrm>
            <a:off x="327564" y="317074"/>
            <a:ext cx="9439275"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Background：</a:t>
            </a:r>
            <a:r>
              <a:rPr sz="2700" b="1" kern="0" spc="-6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Why conventional</a:t>
            </a:r>
            <a:r>
              <a:rPr sz="2700" b="1" kern="0" spc="27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DCN arch falls short</a:t>
            </a:r>
            <a:endParaRPr sz="2700" dirty="0">
              <a:latin typeface="微软雅黑" panose="020B0503020204020204" charset="-122"/>
              <a:ea typeface="微软雅黑" panose="020B0503020204020204" charset="-122"/>
              <a:cs typeface="微软雅黑" panose="020B0503020204020204" charset="-122"/>
            </a:endParaRPr>
          </a:p>
        </p:txBody>
      </p:sp>
      <p:pic>
        <p:nvPicPr>
          <p:cNvPr id="300" name="picture 300"/>
          <p:cNvPicPr>
            <a:picLocks noChangeAspect="1"/>
          </p:cNvPicPr>
          <p:nvPr/>
        </p:nvPicPr>
        <p:blipFill>
          <a:blip r:embed="rId5"/>
          <a:stretch>
            <a:fillRect/>
          </a:stretch>
        </p:blipFill>
        <p:spPr>
          <a:xfrm rot="21600000">
            <a:off x="11338559" y="18288"/>
            <a:ext cx="720852" cy="719328"/>
          </a:xfrm>
          <a:prstGeom prst="rect">
            <a:avLst/>
          </a:prstGeom>
        </p:spPr>
      </p:pic>
      <p:sp>
        <p:nvSpPr>
          <p:cNvPr id="302" name="path 302"/>
          <p:cNvSpPr/>
          <p:nvPr/>
        </p:nvSpPr>
        <p:spPr>
          <a:xfrm>
            <a:off x="5672835" y="843026"/>
            <a:ext cx="5956300" cy="25400"/>
          </a:xfrm>
          <a:custGeom>
            <a:avLst/>
            <a:gdLst/>
            <a:ahLst/>
            <a:cxnLst/>
            <a:rect l="0" t="0" r="0" b="0"/>
            <a:pathLst>
              <a:path w="9380" h="40">
                <a:moveTo>
                  <a:pt x="0" y="20"/>
                </a:moveTo>
                <a:lnTo>
                  <a:pt x="9380" y="20"/>
                </a:lnTo>
              </a:path>
            </a:pathLst>
          </a:custGeom>
          <a:noFill/>
          <a:ln w="25400" cap="flat">
            <a:solidFill>
              <a:srgbClr val="A5A5A5"/>
            </a:solidFill>
            <a:prstDash val="dash"/>
            <a:bevel/>
          </a:ln>
        </p:spPr>
        <p:txBody>
          <a:bodyPr rtlCol="0"/>
          <a:lstStyle/>
          <a:p>
            <a:pPr algn="ctr"/>
            <a:endParaRPr lang="zh-CN" altLang="en-US"/>
          </a:p>
        </p:txBody>
      </p:sp>
      <p:sp>
        <p:nvSpPr>
          <p:cNvPr id="304" name="textbox 304"/>
          <p:cNvSpPr/>
          <p:nvPr/>
        </p:nvSpPr>
        <p:spPr>
          <a:xfrm>
            <a:off x="11594999" y="6559321"/>
            <a:ext cx="23812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50" dirty="0">
                <a:solidFill>
                  <a:srgbClr val="000000">
                    <a:alpha val="100000"/>
                  </a:srgbClr>
                </a:solidFill>
                <a:latin typeface="Calibri" panose="020F0502020204030204"/>
                <a:ea typeface="Calibri" panose="020F0502020204030204"/>
                <a:cs typeface="Calibri" panose="020F0502020204030204"/>
              </a:rPr>
              <a:t>15</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6" name="table 306"/>
          <p:cNvGraphicFramePr>
            <a:graphicFrameLocks noGrp="1"/>
          </p:cNvGraphicFramePr>
          <p:nvPr/>
        </p:nvGraphicFramePr>
        <p:xfrm>
          <a:off x="0" y="751332"/>
          <a:ext cx="12040869" cy="5728335"/>
        </p:xfrm>
        <a:graphic>
          <a:graphicData uri="http://schemas.openxmlformats.org/drawingml/2006/table">
            <a:tbl>
              <a:tblPr/>
              <a:tblGrid>
                <a:gridCol w="5281294"/>
                <a:gridCol w="6759575"/>
              </a:tblGrid>
              <a:tr h="5627370">
                <a:tc rowSpan="2">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404495" algn="l" rtl="0" eaLnBrk="0">
                        <a:lnSpc>
                          <a:spcPct val="92000"/>
                        </a:lnSpc>
                      </a:pPr>
                      <a:r>
                        <a:rPr sz="2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传统数据中心网络架构的不足</a:t>
                      </a:r>
                      <a:endParaRPr sz="2700" dirty="0">
                        <a:latin typeface="微软雅黑" panose="020B0503020204020204" charset="-122"/>
                        <a:ea typeface="微软雅黑" panose="020B0503020204020204" charset="-122"/>
                        <a:cs typeface="微软雅黑" panose="020B0503020204020204" charset="-122"/>
                      </a:endParaRPr>
                    </a:p>
                  </a:txBody>
                  <a:tcPr marL="0" marR="0" marT="0" marB="0" vert="horz">
                    <a:lnL>
                      <a:noFill/>
                    </a:lnL>
                    <a:lnR w="25400" cap="flat" cmpd="sng" algn="ctr">
                      <a:solidFill>
                        <a:srgbClr val="A5A5A5"/>
                      </a:solidFill>
                      <a:prstDash val="solid"/>
                      <a:round/>
                      <a:headEnd type="none" w="med" len="med"/>
                      <a:tailEnd type="none" w="med" len="med"/>
                    </a:lnR>
                    <a:lnT>
                      <a:noFill/>
                    </a:lnT>
                    <a:lnB>
                      <a:noFill/>
                    </a:lnB>
                  </a:tcPr>
                </a:tc>
                <a:tc>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325755" algn="l" rtl="0" eaLnBrk="0">
                        <a:lnSpc>
                          <a:spcPct val="92000"/>
                        </a:lnSpc>
                        <a:spcBef>
                          <a:spcPts val="5"/>
                        </a:spcBef>
                      </a:pPr>
                      <a:r>
                        <a:rPr sz="2700" b="1" kern="0" spc="90" dirty="0">
                          <a:solidFill>
                            <a:srgbClr val="4472C4">
                              <a:alpha val="100000"/>
                            </a:srgbClr>
                          </a:solidFill>
                          <a:latin typeface="微软雅黑" panose="020B0503020204020204" charset="-122"/>
                          <a:ea typeface="微软雅黑" panose="020B0503020204020204" charset="-122"/>
                          <a:cs typeface="微软雅黑" panose="020B0503020204020204" charset="-122"/>
                        </a:rPr>
                        <a:t>有限的服务器-服务器</a:t>
                      </a: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容量</a:t>
                      </a:r>
                      <a:endParaRPr sz="2700" dirty="0">
                        <a:latin typeface="微软雅黑" panose="020B0503020204020204" charset="-122"/>
                        <a:ea typeface="微软雅黑" panose="020B0503020204020204" charset="-122"/>
                        <a:cs typeface="微软雅黑" panose="020B0503020204020204" charset="-122"/>
                      </a:endParaRPr>
                    </a:p>
                    <a:p>
                      <a:pPr marL="662305" indent="-316230" algn="l" rtl="0" eaLnBrk="0">
                        <a:lnSpc>
                          <a:spcPct val="119000"/>
                        </a:lnSpc>
                        <a:spcBef>
                          <a:spcPts val="1850"/>
                        </a:spcBef>
                        <a:tabLst>
                          <a:tab pos="56070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层级结构向上时，面临严重的技术和经济障</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碍，所以over-subs</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cription的比率急速上升。</a:t>
                      </a:r>
                      <a:endParaRPr sz="2400" dirty="0">
                        <a:latin typeface="微软雅黑" panose="020B0503020204020204" charset="-122"/>
                        <a:ea typeface="微软雅黑" panose="020B0503020204020204" charset="-122"/>
                        <a:cs typeface="微软雅黑" panose="020B0503020204020204" charset="-122"/>
                      </a:endParaRPr>
                    </a:p>
                    <a:p>
                      <a:pPr marL="803275" algn="l" rtl="0" eaLnBrk="0">
                        <a:lnSpc>
                          <a:spcPct val="89000"/>
                        </a:lnSpc>
                        <a:spcBef>
                          <a:spcPts val="1780"/>
                        </a:spcBef>
                        <a:tabLst>
                          <a:tab pos="101981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机柜内1：</a:t>
                      </a:r>
                      <a:r>
                        <a:rPr sz="2400" kern="0" spc="-4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endParaRPr sz="2400" dirty="0">
                        <a:latin typeface="微软雅黑" panose="020B0503020204020204" charset="-122"/>
                        <a:ea typeface="微软雅黑" panose="020B0503020204020204" charset="-122"/>
                        <a:cs typeface="微软雅黑" panose="020B0503020204020204" charset="-122"/>
                      </a:endParaRPr>
                    </a:p>
                    <a:p>
                      <a:pPr marL="803275" algn="l" rtl="0" eaLnBrk="0">
                        <a:lnSpc>
                          <a:spcPct val="89000"/>
                        </a:lnSpc>
                        <a:spcBef>
                          <a:spcPts val="1760"/>
                        </a:spcBef>
                        <a:tabLst>
                          <a:tab pos="101981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ToR交换机向上1:5到</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1:20</a:t>
                      </a:r>
                      <a:endParaRPr sz="2400" dirty="0">
                        <a:latin typeface="微软雅黑" panose="020B0503020204020204" charset="-122"/>
                        <a:ea typeface="微软雅黑" panose="020B0503020204020204" charset="-122"/>
                        <a:cs typeface="微软雅黑" panose="020B0503020204020204" charset="-122"/>
                      </a:endParaRPr>
                    </a:p>
                    <a:p>
                      <a:pPr marL="803275" algn="l" rtl="0" eaLnBrk="0">
                        <a:lnSpc>
                          <a:spcPct val="89000"/>
                        </a:lnSpc>
                        <a:spcBef>
                          <a:spcPts val="1755"/>
                        </a:spcBef>
                        <a:tabLst>
                          <a:tab pos="101981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最上层的达到1:240</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4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682625" indent="-336550" algn="l" rtl="0" eaLnBrk="0">
                        <a:lnSpc>
                          <a:spcPct val="124000"/>
                        </a:lnSpc>
                        <a:tabLst>
                          <a:tab pos="561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严重的over-subscription导致服务器池被分</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隔，阻碍了空闲的服务器分配给超载的服务</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25400" cap="flat" cmpd="sng" algn="ctr">
                      <a:solidFill>
                        <a:srgbClr val="A5A5A5"/>
                      </a:solidFill>
                      <a:prstDash val="solid"/>
                      <a:round/>
                      <a:headEnd type="none" w="med" len="med"/>
                      <a:tailEnd type="none" w="med" len="med"/>
                    </a:lnL>
                    <a:lnR w="25400" cap="flat" cmpd="sng" algn="ctr">
                      <a:solidFill>
                        <a:srgbClr val="A5A5A5"/>
                      </a:solidFill>
                      <a:prstDash val="solid"/>
                      <a:round/>
                      <a:headEnd type="none" w="med" len="med"/>
                      <a:tailEnd type="none" w="med" len="med"/>
                    </a:lnR>
                    <a:lnT>
                      <a:noFill/>
                    </a:lnT>
                    <a:lnB w="25400" cap="flat" cmpd="sng" algn="ctr">
                      <a:solidFill>
                        <a:srgbClr val="A5A5A5"/>
                      </a:solidFill>
                      <a:prstDash val="solid"/>
                      <a:round/>
                      <a:headEnd type="none" w="med" len="med"/>
                      <a:tailEnd type="none" w="med" len="med"/>
                    </a:lnB>
                  </a:tcPr>
                </a:tc>
              </a:tr>
              <a:tr h="0">
                <a:tc vMerge="1">
                  <a:tcPr marL="0" marR="0" marT="0" marB="0" vert="horz">
                    <a:lnL>
                      <a:noFill/>
                    </a:lnL>
                    <a:lnR w="25400" cap="flat" cmpd="sng" algn="ctr">
                      <a:solidFill>
                        <a:srgbClr val="A5A5A5"/>
                      </a:solidFill>
                      <a:prstDash val="solid"/>
                      <a:round/>
                      <a:headEnd type="none" w="med" len="med"/>
                      <a:tailEnd type="none" w="med" len="med"/>
                    </a:lnR>
                    <a:lnT>
                      <a:noFill/>
                    </a:lnT>
                    <a:lnB>
                      <a:noFill/>
                    </a:lnB>
                  </a:tcPr>
                </a:tc>
                <a:tc>
                  <a:txBody>
                    <a:bodyPr/>
                    <a:lstStyle/>
                    <a:p>
                      <a:pPr algn="l" rtl="0" eaLnBrk="0">
                        <a:lnSpc>
                          <a:spcPts val="745"/>
                        </a:lnSpc>
                      </a:pPr>
                      <a:endParaRPr sz="600" dirty="0">
                        <a:latin typeface="Arial" panose="020B0604020202020204"/>
                        <a:ea typeface="Arial" panose="020B0604020202020204"/>
                        <a:cs typeface="Arial" panose="020B0604020202020204"/>
                      </a:endParaRPr>
                    </a:p>
                  </a:txBody>
                  <a:tcPr marL="0" marR="0" marT="0" marB="0" vert="horz">
                    <a:lnL>
                      <a:noFill/>
                    </a:lnL>
                    <a:lnR>
                      <a:noFill/>
                    </a:lnR>
                    <a:lnT w="25400" cap="flat" cmpd="sng" algn="ctr">
                      <a:solidFill>
                        <a:srgbClr val="A5A5A5"/>
                      </a:solidFill>
                      <a:prstDash val="solid"/>
                      <a:round/>
                      <a:headEnd type="none" w="med" len="med"/>
                      <a:tailEnd type="none" w="med" len="med"/>
                    </a:lnT>
                    <a:lnB>
                      <a:noFill/>
                    </a:lnB>
                  </a:tcPr>
                </a:tc>
              </a:tr>
            </a:tbl>
          </a:graphicData>
        </a:graphic>
      </p:graphicFrame>
      <p:pic>
        <p:nvPicPr>
          <p:cNvPr id="308" name="picture 308"/>
          <p:cNvPicPr>
            <a:picLocks noChangeAspect="1"/>
          </p:cNvPicPr>
          <p:nvPr/>
        </p:nvPicPr>
        <p:blipFill>
          <a:blip r:embed="rId1"/>
          <a:stretch>
            <a:fillRect/>
          </a:stretch>
        </p:blipFill>
        <p:spPr>
          <a:xfrm rot="21600000">
            <a:off x="5627573" y="4651806"/>
            <a:ext cx="216408" cy="223723"/>
          </a:xfrm>
          <a:prstGeom prst="rect">
            <a:avLst/>
          </a:prstGeom>
        </p:spPr>
      </p:pic>
      <p:pic>
        <p:nvPicPr>
          <p:cNvPr id="310" name="picture 310"/>
          <p:cNvPicPr>
            <a:picLocks noChangeAspect="1"/>
          </p:cNvPicPr>
          <p:nvPr/>
        </p:nvPicPr>
        <p:blipFill>
          <a:blip r:embed="rId2"/>
          <a:stretch>
            <a:fillRect/>
          </a:stretch>
        </p:blipFill>
        <p:spPr>
          <a:xfrm rot="21600000">
            <a:off x="6085027" y="4102912"/>
            <a:ext cx="216408" cy="223723"/>
          </a:xfrm>
          <a:prstGeom prst="rect">
            <a:avLst/>
          </a:prstGeom>
        </p:spPr>
      </p:pic>
      <p:pic>
        <p:nvPicPr>
          <p:cNvPr id="312" name="picture 312"/>
          <p:cNvPicPr>
            <a:picLocks noChangeAspect="1"/>
          </p:cNvPicPr>
          <p:nvPr/>
        </p:nvPicPr>
        <p:blipFill>
          <a:blip r:embed="rId1"/>
          <a:stretch>
            <a:fillRect/>
          </a:stretch>
        </p:blipFill>
        <p:spPr>
          <a:xfrm rot="21600000">
            <a:off x="6085027" y="3554272"/>
            <a:ext cx="216408" cy="223723"/>
          </a:xfrm>
          <a:prstGeom prst="rect">
            <a:avLst/>
          </a:prstGeom>
        </p:spPr>
      </p:pic>
      <p:pic>
        <p:nvPicPr>
          <p:cNvPr id="314" name="picture 314"/>
          <p:cNvPicPr>
            <a:picLocks noChangeAspect="1"/>
          </p:cNvPicPr>
          <p:nvPr/>
        </p:nvPicPr>
        <p:blipFill>
          <a:blip r:embed="rId3"/>
          <a:stretch>
            <a:fillRect/>
          </a:stretch>
        </p:blipFill>
        <p:spPr>
          <a:xfrm rot="21600000">
            <a:off x="6085052" y="3005154"/>
            <a:ext cx="216624" cy="223946"/>
          </a:xfrm>
          <a:prstGeom prst="rect">
            <a:avLst/>
          </a:prstGeom>
        </p:spPr>
      </p:pic>
      <p:pic>
        <p:nvPicPr>
          <p:cNvPr id="316" name="picture 316"/>
          <p:cNvPicPr>
            <a:picLocks noChangeAspect="1"/>
          </p:cNvPicPr>
          <p:nvPr/>
        </p:nvPicPr>
        <p:blipFill>
          <a:blip r:embed="rId4"/>
          <a:stretch>
            <a:fillRect/>
          </a:stretch>
        </p:blipFill>
        <p:spPr>
          <a:xfrm rot="21600000">
            <a:off x="5627573" y="1908098"/>
            <a:ext cx="215021" cy="223723"/>
          </a:xfrm>
          <a:prstGeom prst="rect">
            <a:avLst/>
          </a:prstGeom>
        </p:spPr>
      </p:pic>
      <p:pic>
        <p:nvPicPr>
          <p:cNvPr id="318" name="picture 318"/>
          <p:cNvPicPr>
            <a:picLocks noChangeAspect="1"/>
          </p:cNvPicPr>
          <p:nvPr/>
        </p:nvPicPr>
        <p:blipFill>
          <a:blip r:embed="rId5"/>
          <a:stretch>
            <a:fillRect/>
          </a:stretch>
        </p:blipFill>
        <p:spPr>
          <a:xfrm rot="21600000">
            <a:off x="0" y="1778508"/>
            <a:ext cx="5187695" cy="3465575"/>
          </a:xfrm>
          <a:prstGeom prst="rect">
            <a:avLst/>
          </a:prstGeom>
        </p:spPr>
      </p:pic>
      <p:sp>
        <p:nvSpPr>
          <p:cNvPr id="320" name="textbox 320"/>
          <p:cNvSpPr/>
          <p:nvPr/>
        </p:nvSpPr>
        <p:spPr>
          <a:xfrm>
            <a:off x="327564" y="317074"/>
            <a:ext cx="9439275"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Background：</a:t>
            </a:r>
            <a:r>
              <a:rPr sz="2700" b="1" kern="0" spc="-6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Why conventional</a:t>
            </a:r>
            <a:r>
              <a:rPr sz="2700" b="1" kern="0" spc="27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DCN arch falls short</a:t>
            </a:r>
            <a:endParaRPr sz="2700" dirty="0">
              <a:latin typeface="微软雅黑" panose="020B0503020204020204" charset="-122"/>
              <a:ea typeface="微软雅黑" panose="020B0503020204020204" charset="-122"/>
              <a:cs typeface="微软雅黑" panose="020B0503020204020204" charset="-122"/>
            </a:endParaRPr>
          </a:p>
        </p:txBody>
      </p:sp>
      <p:pic>
        <p:nvPicPr>
          <p:cNvPr id="322" name="picture 322"/>
          <p:cNvPicPr>
            <a:picLocks noChangeAspect="1"/>
          </p:cNvPicPr>
          <p:nvPr/>
        </p:nvPicPr>
        <p:blipFill>
          <a:blip r:embed="rId6"/>
          <a:stretch>
            <a:fillRect/>
          </a:stretch>
        </p:blipFill>
        <p:spPr>
          <a:xfrm rot="21600000">
            <a:off x="11338559" y="18288"/>
            <a:ext cx="720852" cy="719328"/>
          </a:xfrm>
          <a:prstGeom prst="rect">
            <a:avLst/>
          </a:prstGeom>
        </p:spPr>
      </p:pic>
      <p:sp>
        <p:nvSpPr>
          <p:cNvPr id="324" name="path 324"/>
          <p:cNvSpPr/>
          <p:nvPr/>
        </p:nvSpPr>
        <p:spPr>
          <a:xfrm>
            <a:off x="5672835" y="843026"/>
            <a:ext cx="5956300" cy="25400"/>
          </a:xfrm>
          <a:custGeom>
            <a:avLst/>
            <a:gdLst/>
            <a:ahLst/>
            <a:cxnLst/>
            <a:rect l="0" t="0" r="0" b="0"/>
            <a:pathLst>
              <a:path w="9380" h="40">
                <a:moveTo>
                  <a:pt x="0" y="20"/>
                </a:moveTo>
                <a:lnTo>
                  <a:pt x="9380" y="20"/>
                </a:lnTo>
              </a:path>
            </a:pathLst>
          </a:custGeom>
          <a:noFill/>
          <a:ln w="25400" cap="flat">
            <a:solidFill>
              <a:srgbClr val="A5A5A5"/>
            </a:solidFill>
            <a:prstDash val="dash"/>
            <a:bevel/>
          </a:ln>
        </p:spPr>
        <p:txBody>
          <a:bodyPr rtlCol="0"/>
          <a:lstStyle/>
          <a:p>
            <a:pPr algn="ctr"/>
            <a:endParaRPr lang="zh-CN" altLang="en-US"/>
          </a:p>
        </p:txBody>
      </p:sp>
      <p:sp>
        <p:nvSpPr>
          <p:cNvPr id="326" name="textbox 326"/>
          <p:cNvSpPr/>
          <p:nvPr/>
        </p:nvSpPr>
        <p:spPr>
          <a:xfrm>
            <a:off x="11594999" y="6559321"/>
            <a:ext cx="23812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50" dirty="0">
                <a:solidFill>
                  <a:srgbClr val="000000">
                    <a:alpha val="100000"/>
                  </a:srgbClr>
                </a:solidFill>
                <a:latin typeface="Calibri" panose="020F0502020204030204"/>
                <a:ea typeface="Calibri" panose="020F0502020204030204"/>
                <a:cs typeface="Calibri" panose="020F0502020204030204"/>
              </a:rPr>
              <a:t>16</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8" name="table 328"/>
          <p:cNvGraphicFramePr>
            <a:graphicFrameLocks noGrp="1"/>
          </p:cNvGraphicFramePr>
          <p:nvPr/>
        </p:nvGraphicFramePr>
        <p:xfrm>
          <a:off x="0" y="751332"/>
          <a:ext cx="12040870" cy="5728335"/>
        </p:xfrm>
        <a:graphic>
          <a:graphicData uri="http://schemas.openxmlformats.org/drawingml/2006/table">
            <a:tbl>
              <a:tblPr/>
              <a:tblGrid>
                <a:gridCol w="5281295"/>
                <a:gridCol w="6759575"/>
              </a:tblGrid>
              <a:tr h="5627370">
                <a:tc rowSpan="2">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404495" algn="l" rtl="0" eaLnBrk="0">
                        <a:lnSpc>
                          <a:spcPct val="92000"/>
                        </a:lnSpc>
                      </a:pPr>
                      <a:r>
                        <a:rPr sz="2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传统数据中心网络架构的不足</a:t>
                      </a:r>
                      <a:endParaRPr sz="2700" dirty="0">
                        <a:latin typeface="微软雅黑" panose="020B0503020204020204" charset="-122"/>
                        <a:ea typeface="微软雅黑" panose="020B0503020204020204" charset="-122"/>
                        <a:cs typeface="微软雅黑" panose="020B0503020204020204" charset="-122"/>
                      </a:endParaRPr>
                    </a:p>
                  </a:txBody>
                  <a:tcPr marL="0" marR="0" marT="0" marB="0" vert="horz">
                    <a:lnL>
                      <a:noFill/>
                    </a:lnL>
                    <a:lnR w="25400" cap="flat" cmpd="sng" algn="ctr">
                      <a:solidFill>
                        <a:srgbClr val="A5A5A5"/>
                      </a:solidFill>
                      <a:prstDash val="solid"/>
                      <a:round/>
                      <a:headEnd type="none" w="med" len="med"/>
                      <a:tailEnd type="none" w="med" len="med"/>
                    </a:lnR>
                    <a:lnT>
                      <a:noFill/>
                    </a:lnT>
                    <a:lnB>
                      <a:noFill/>
                    </a:lnB>
                  </a:tcPr>
                </a:tc>
                <a:tc>
                  <a:txBody>
                    <a:bodyPr/>
                    <a:lstStyle/>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325755" algn="l" rtl="0" eaLnBrk="0">
                        <a:lnSpc>
                          <a:spcPct val="92000"/>
                        </a:lnSpc>
                        <a:spcBef>
                          <a:spcPts val="0"/>
                        </a:spcBef>
                      </a:pP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资源碎片化</a:t>
                      </a:r>
                      <a:endParaRPr sz="2700" dirty="0">
                        <a:latin typeface="微软雅黑" panose="020B0503020204020204" charset="-122"/>
                        <a:ea typeface="微软雅黑" panose="020B0503020204020204" charset="-122"/>
                        <a:cs typeface="微软雅黑" panose="020B0503020204020204" charset="-122"/>
                      </a:endParaRPr>
                    </a:p>
                    <a:p>
                      <a:pPr marL="667385" indent="-321310" algn="l" rtl="0" eaLnBrk="0">
                        <a:lnSpc>
                          <a:spcPct val="111000"/>
                        </a:lnSpc>
                        <a:spcBef>
                          <a:spcPts val="750"/>
                        </a:spcBef>
                        <a:tabLst>
                          <a:tab pos="561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服务器在层级结构中的距离影</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响着通信的开</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销和性能</a:t>
                      </a:r>
                      <a:r>
                        <a:rPr sz="2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3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&gt; 传统设计鼓励将距离近的服务器</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归为一簇</a:t>
                      </a:r>
                      <a:endParaRPr sz="2400" dirty="0">
                        <a:latin typeface="微软雅黑" panose="020B0503020204020204" charset="-122"/>
                        <a:ea typeface="微软雅黑" panose="020B0503020204020204" charset="-122"/>
                        <a:cs typeface="微软雅黑" panose="020B0503020204020204" charset="-122"/>
                      </a:endParaRPr>
                    </a:p>
                    <a:p>
                      <a:pPr marL="666750" indent="-320675" algn="l" rtl="0" eaLnBrk="0">
                        <a:lnSpc>
                          <a:spcPct val="115000"/>
                        </a:lnSpc>
                        <a:spcBef>
                          <a:spcPts val="620"/>
                        </a:spcBef>
                        <a:tabLst>
                          <a:tab pos="561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把服务扩展出layer-2域需要经常配置IP地址</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和VLAN，因为服务器的IP地址由其上的接入</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交换机(AR)决定。如今</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的方案用资源换时间，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即为每个服务分配冗余的资源，使</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其在遇到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流量高峰时能能扩展到临近的服务</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器。即便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如此，有时仍需要管理员驱逐临近</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服务器上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的服务</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25400" cap="flat" cmpd="sng" algn="ctr">
                      <a:solidFill>
                        <a:srgbClr val="A5A5A5"/>
                      </a:solidFill>
                      <a:prstDash val="solid"/>
                      <a:round/>
                      <a:headEnd type="none" w="med" len="med"/>
                      <a:tailEnd type="none" w="med" len="med"/>
                    </a:lnL>
                    <a:lnR w="25400" cap="flat" cmpd="sng" algn="ctr">
                      <a:solidFill>
                        <a:srgbClr val="A5A5A5"/>
                      </a:solidFill>
                      <a:prstDash val="solid"/>
                      <a:round/>
                      <a:headEnd type="none" w="med" len="med"/>
                      <a:tailEnd type="none" w="med" len="med"/>
                    </a:lnR>
                    <a:lnT>
                      <a:noFill/>
                    </a:lnT>
                    <a:lnB w="25400" cap="flat" cmpd="sng" algn="ctr">
                      <a:solidFill>
                        <a:srgbClr val="A5A5A5"/>
                      </a:solidFill>
                      <a:prstDash val="solid"/>
                      <a:round/>
                      <a:headEnd type="none" w="med" len="med"/>
                      <a:tailEnd type="none" w="med" len="med"/>
                    </a:lnB>
                  </a:tcPr>
                </a:tc>
              </a:tr>
              <a:tr h="0">
                <a:tc vMerge="1">
                  <a:tcPr marL="0" marR="0" marT="0" marB="0" vert="horz">
                    <a:lnL>
                      <a:noFill/>
                    </a:lnL>
                    <a:lnR w="25400" cap="flat" cmpd="sng" algn="ctr">
                      <a:solidFill>
                        <a:srgbClr val="A5A5A5"/>
                      </a:solidFill>
                      <a:prstDash val="solid"/>
                      <a:round/>
                      <a:headEnd type="none" w="med" len="med"/>
                      <a:tailEnd type="none" w="med" len="med"/>
                    </a:lnR>
                    <a:lnT>
                      <a:noFill/>
                    </a:lnT>
                    <a:lnB>
                      <a:noFill/>
                    </a:lnB>
                  </a:tcPr>
                </a:tc>
                <a:tc>
                  <a:txBody>
                    <a:bodyPr/>
                    <a:lstStyle/>
                    <a:p>
                      <a:pPr algn="l" rtl="0" eaLnBrk="0">
                        <a:lnSpc>
                          <a:spcPts val="745"/>
                        </a:lnSpc>
                      </a:pPr>
                      <a:endParaRPr sz="600" dirty="0">
                        <a:latin typeface="Arial" panose="020B0604020202020204"/>
                        <a:ea typeface="Arial" panose="020B0604020202020204"/>
                        <a:cs typeface="Arial" panose="020B0604020202020204"/>
                      </a:endParaRPr>
                    </a:p>
                  </a:txBody>
                  <a:tcPr marL="0" marR="0" marT="0" marB="0" vert="horz">
                    <a:lnL>
                      <a:noFill/>
                    </a:lnL>
                    <a:lnR>
                      <a:noFill/>
                    </a:lnR>
                    <a:lnT w="25400" cap="flat" cmpd="sng" algn="ctr">
                      <a:solidFill>
                        <a:srgbClr val="A5A5A5"/>
                      </a:solidFill>
                      <a:prstDash val="solid"/>
                      <a:round/>
                      <a:headEnd type="none" w="med" len="med"/>
                      <a:tailEnd type="none" w="med" len="med"/>
                    </a:lnT>
                    <a:lnB>
                      <a:noFill/>
                    </a:lnB>
                  </a:tcPr>
                </a:tc>
              </a:tr>
            </a:tbl>
          </a:graphicData>
        </a:graphic>
      </p:graphicFrame>
      <p:pic>
        <p:nvPicPr>
          <p:cNvPr id="330" name="picture 330"/>
          <p:cNvPicPr>
            <a:picLocks noChangeAspect="1"/>
          </p:cNvPicPr>
          <p:nvPr/>
        </p:nvPicPr>
        <p:blipFill>
          <a:blip r:embed="rId1"/>
          <a:stretch>
            <a:fillRect/>
          </a:stretch>
        </p:blipFill>
        <p:spPr>
          <a:xfrm rot="21600000">
            <a:off x="5627598" y="2907619"/>
            <a:ext cx="216624" cy="223946"/>
          </a:xfrm>
          <a:prstGeom prst="rect">
            <a:avLst/>
          </a:prstGeom>
        </p:spPr>
      </p:pic>
      <p:pic>
        <p:nvPicPr>
          <p:cNvPr id="332" name="picture 332"/>
          <p:cNvPicPr>
            <a:picLocks noChangeAspect="1"/>
          </p:cNvPicPr>
          <p:nvPr/>
        </p:nvPicPr>
        <p:blipFill>
          <a:blip r:embed="rId1"/>
          <a:stretch>
            <a:fillRect/>
          </a:stretch>
        </p:blipFill>
        <p:spPr>
          <a:xfrm rot="21600000">
            <a:off x="5627598" y="1611838"/>
            <a:ext cx="216624" cy="223946"/>
          </a:xfrm>
          <a:prstGeom prst="rect">
            <a:avLst/>
          </a:prstGeom>
        </p:spPr>
      </p:pic>
      <p:pic>
        <p:nvPicPr>
          <p:cNvPr id="334" name="picture 334"/>
          <p:cNvPicPr>
            <a:picLocks noChangeAspect="1"/>
          </p:cNvPicPr>
          <p:nvPr/>
        </p:nvPicPr>
        <p:blipFill>
          <a:blip r:embed="rId2"/>
          <a:stretch>
            <a:fillRect/>
          </a:stretch>
        </p:blipFill>
        <p:spPr>
          <a:xfrm rot="21600000">
            <a:off x="0" y="1778508"/>
            <a:ext cx="5187695" cy="3465575"/>
          </a:xfrm>
          <a:prstGeom prst="rect">
            <a:avLst/>
          </a:prstGeom>
        </p:spPr>
      </p:pic>
      <p:sp>
        <p:nvSpPr>
          <p:cNvPr id="336" name="textbox 336"/>
          <p:cNvSpPr/>
          <p:nvPr/>
        </p:nvSpPr>
        <p:spPr>
          <a:xfrm>
            <a:off x="327564" y="317074"/>
            <a:ext cx="9439275"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Background：</a:t>
            </a:r>
            <a:r>
              <a:rPr sz="2700" b="1" kern="0" spc="-6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Why conventional</a:t>
            </a:r>
            <a:r>
              <a:rPr sz="2700" b="1" kern="0" spc="27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DCN arch falls short</a:t>
            </a:r>
            <a:endParaRPr sz="2700" dirty="0">
              <a:latin typeface="微软雅黑" panose="020B0503020204020204" charset="-122"/>
              <a:ea typeface="微软雅黑" panose="020B0503020204020204" charset="-122"/>
              <a:cs typeface="微软雅黑" panose="020B0503020204020204" charset="-122"/>
            </a:endParaRPr>
          </a:p>
        </p:txBody>
      </p:sp>
      <p:pic>
        <p:nvPicPr>
          <p:cNvPr id="338" name="picture 338"/>
          <p:cNvPicPr>
            <a:picLocks noChangeAspect="1"/>
          </p:cNvPicPr>
          <p:nvPr/>
        </p:nvPicPr>
        <p:blipFill>
          <a:blip r:embed="rId3"/>
          <a:stretch>
            <a:fillRect/>
          </a:stretch>
        </p:blipFill>
        <p:spPr>
          <a:xfrm rot="21600000">
            <a:off x="11338559" y="18288"/>
            <a:ext cx="720852" cy="719328"/>
          </a:xfrm>
          <a:prstGeom prst="rect">
            <a:avLst/>
          </a:prstGeom>
        </p:spPr>
      </p:pic>
      <p:sp>
        <p:nvSpPr>
          <p:cNvPr id="340" name="path 340"/>
          <p:cNvSpPr/>
          <p:nvPr/>
        </p:nvSpPr>
        <p:spPr>
          <a:xfrm>
            <a:off x="5672835" y="843026"/>
            <a:ext cx="5956300" cy="25400"/>
          </a:xfrm>
          <a:custGeom>
            <a:avLst/>
            <a:gdLst/>
            <a:ahLst/>
            <a:cxnLst/>
            <a:rect l="0" t="0" r="0" b="0"/>
            <a:pathLst>
              <a:path w="9380" h="40">
                <a:moveTo>
                  <a:pt x="0" y="20"/>
                </a:moveTo>
                <a:lnTo>
                  <a:pt x="9380" y="20"/>
                </a:lnTo>
              </a:path>
            </a:pathLst>
          </a:custGeom>
          <a:noFill/>
          <a:ln w="25400" cap="flat">
            <a:solidFill>
              <a:srgbClr val="A5A5A5"/>
            </a:solidFill>
            <a:prstDash val="dash"/>
            <a:bevel/>
          </a:ln>
        </p:spPr>
        <p:txBody>
          <a:bodyPr rtlCol="0"/>
          <a:lstStyle/>
          <a:p>
            <a:pPr algn="ctr"/>
            <a:endParaRPr lang="zh-CN" altLang="en-US"/>
          </a:p>
        </p:txBody>
      </p:sp>
      <p:sp>
        <p:nvSpPr>
          <p:cNvPr id="342" name="textbox 342"/>
          <p:cNvSpPr/>
          <p:nvPr/>
        </p:nvSpPr>
        <p:spPr>
          <a:xfrm>
            <a:off x="11594999" y="6559321"/>
            <a:ext cx="23812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50" dirty="0">
                <a:solidFill>
                  <a:srgbClr val="000000">
                    <a:alpha val="100000"/>
                  </a:srgbClr>
                </a:solidFill>
                <a:latin typeface="Calibri" panose="020F0502020204030204"/>
                <a:ea typeface="Calibri" panose="020F0502020204030204"/>
                <a:cs typeface="Calibri" panose="020F0502020204030204"/>
              </a:rPr>
              <a:t>17</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4" name="table 344"/>
          <p:cNvGraphicFramePr>
            <a:graphicFrameLocks noGrp="1"/>
          </p:cNvGraphicFramePr>
          <p:nvPr/>
        </p:nvGraphicFramePr>
        <p:xfrm>
          <a:off x="0" y="751332"/>
          <a:ext cx="12040869" cy="5728335"/>
        </p:xfrm>
        <a:graphic>
          <a:graphicData uri="http://schemas.openxmlformats.org/drawingml/2006/table">
            <a:tbl>
              <a:tblPr/>
              <a:tblGrid>
                <a:gridCol w="5283200"/>
                <a:gridCol w="6757669"/>
              </a:tblGrid>
              <a:tr h="5136515">
                <a:tc rowSpan="2">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404495" algn="l" rtl="0" eaLnBrk="0">
                        <a:lnSpc>
                          <a:spcPct val="92000"/>
                        </a:lnSpc>
                      </a:pPr>
                      <a:r>
                        <a:rPr sz="2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传统数据中心网络架构的不足</a:t>
                      </a:r>
                      <a:endParaRPr sz="2700" dirty="0">
                        <a:latin typeface="微软雅黑" panose="020B0503020204020204" charset="-122"/>
                        <a:ea typeface="微软雅黑" panose="020B0503020204020204" charset="-122"/>
                        <a:cs typeface="微软雅黑" panose="020B0503020204020204" charset="-122"/>
                      </a:endParaRPr>
                    </a:p>
                  </a:txBody>
                  <a:tcPr marL="0" marR="0" marT="0" marB="0" vert="horz">
                    <a:lnL>
                      <a:noFill/>
                    </a:lnL>
                    <a:lnR w="25400" cap="flat" cmpd="sng" algn="ctr">
                      <a:solidFill>
                        <a:srgbClr val="A5A5A5"/>
                      </a:solidFill>
                      <a:prstDash val="solid"/>
                      <a:round/>
                      <a:headEnd type="none" w="med" len="med"/>
                      <a:tailEnd type="none" w="med" len="med"/>
                    </a:lnR>
                    <a:lnT>
                      <a:noFill/>
                    </a:lnT>
                    <a:lnB>
                      <a:noFill/>
                    </a:lnB>
                  </a:tcPr>
                </a:tc>
                <a:tc>
                  <a:txBody>
                    <a:bodyPr/>
                    <a:lstStyle/>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322580" algn="l" rtl="0" eaLnBrk="0">
                        <a:lnSpc>
                          <a:spcPct val="92000"/>
                        </a:lnSpc>
                        <a:spcBef>
                          <a:spcPts val="0"/>
                        </a:spcBef>
                      </a:pPr>
                      <a:r>
                        <a:rPr sz="2700" b="1" kern="0" spc="90" dirty="0">
                          <a:solidFill>
                            <a:srgbClr val="4472C4">
                              <a:alpha val="100000"/>
                            </a:srgbClr>
                          </a:solidFill>
                          <a:latin typeface="微软雅黑" panose="020B0503020204020204" charset="-122"/>
                          <a:ea typeface="微软雅黑" panose="020B0503020204020204" charset="-122"/>
                          <a:cs typeface="微软雅黑" panose="020B0503020204020204" charset="-122"/>
                        </a:rPr>
                        <a:t>糟糕的可靠性和利用率</a:t>
                      </a:r>
                      <a:endParaRPr sz="2700" dirty="0">
                        <a:latin typeface="微软雅黑" panose="020B0503020204020204" charset="-122"/>
                        <a:ea typeface="微软雅黑" panose="020B0503020204020204" charset="-122"/>
                        <a:cs typeface="微软雅黑" panose="020B0503020204020204" charset="-122"/>
                      </a:endParaRPr>
                    </a:p>
                    <a:p>
                      <a:pPr marL="344170" algn="l" rtl="0" eaLnBrk="0">
                        <a:lnSpc>
                          <a:spcPct val="89000"/>
                        </a:lnSpc>
                        <a:spcBef>
                          <a:spcPts val="735"/>
                        </a:spcBef>
                        <a:tabLst>
                          <a:tab pos="56070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ToR以上部分，冗余度达</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50%</a:t>
                      </a:r>
                      <a:endParaRPr sz="2400" dirty="0">
                        <a:latin typeface="微软雅黑" panose="020B0503020204020204" charset="-122"/>
                        <a:ea typeface="微软雅黑" panose="020B0503020204020204" charset="-122"/>
                        <a:cs typeface="微软雅黑" panose="020B0503020204020204" charset="-122"/>
                      </a:endParaRPr>
                    </a:p>
                    <a:p>
                      <a:pPr marL="1122045" indent="-320675" algn="l" rtl="0" eaLnBrk="0">
                        <a:lnSpc>
                          <a:spcPct val="111000"/>
                        </a:lnSpc>
                        <a:spcBef>
                          <a:spcPts val="850"/>
                        </a:spcBef>
                        <a:tabLst>
                          <a:tab pos="101790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汇聚交换机和接入路由器成对使用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，并且</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每一个都要能够提供足够带宽，</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即使一个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发生故障，也不影响</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网络功能</a:t>
                      </a:r>
                      <a:endParaRPr sz="2400" dirty="0">
                        <a:latin typeface="微软雅黑" panose="020B0503020204020204" charset="-122"/>
                        <a:ea typeface="微软雅黑" panose="020B0503020204020204" charset="-122"/>
                        <a:cs typeface="微软雅黑" panose="020B0503020204020204" charset="-122"/>
                      </a:endParaRPr>
                    </a:p>
                    <a:p>
                      <a:pPr marL="801370" algn="l" rtl="0" eaLnBrk="0">
                        <a:lnSpc>
                          <a:spcPct val="89000"/>
                        </a:lnSpc>
                        <a:spcBef>
                          <a:spcPts val="595"/>
                        </a:spcBef>
                        <a:tabLst>
                          <a:tab pos="101790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导致链路只能跑到最大</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容量的50%</a:t>
                      </a:r>
                      <a:endParaRPr sz="2400" dirty="0">
                        <a:latin typeface="微软雅黑" panose="020B0503020204020204" charset="-122"/>
                        <a:ea typeface="微软雅黑" panose="020B0503020204020204" charset="-122"/>
                        <a:cs typeface="微软雅黑" panose="020B0503020204020204" charset="-122"/>
                      </a:endParaRPr>
                    </a:p>
                    <a:p>
                      <a:pPr marL="344170" algn="l" rtl="0" eaLnBrk="0">
                        <a:lnSpc>
                          <a:spcPct val="89000"/>
                        </a:lnSpc>
                        <a:spcBef>
                          <a:spcPts val="845"/>
                        </a:spcBef>
                        <a:tabLst>
                          <a:tab pos="56070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多路径方案不存在或低效</a:t>
                      </a:r>
                      <a:endParaRPr sz="2400" dirty="0">
                        <a:latin typeface="微软雅黑" panose="020B0503020204020204" charset="-122"/>
                        <a:ea typeface="微软雅黑" panose="020B0503020204020204" charset="-122"/>
                        <a:cs typeface="微软雅黑" panose="020B0503020204020204" charset="-122"/>
                      </a:endParaRPr>
                    </a:p>
                    <a:p>
                      <a:pPr marL="1123315" indent="-321945" algn="l" rtl="0" eaLnBrk="0">
                        <a:lnSpc>
                          <a:spcPct val="108000"/>
                        </a:lnSpc>
                        <a:spcBef>
                          <a:spcPts val="830"/>
                        </a:spcBef>
                        <a:tabLst>
                          <a:tab pos="101790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L2：</a:t>
                      </a:r>
                      <a:r>
                        <a:rPr sz="2400" kern="0" spc="-5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Spanning Tree协议只能利用一条链</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路</a:t>
                      </a:r>
                      <a:endParaRPr sz="2400" dirty="0">
                        <a:latin typeface="微软雅黑" panose="020B0503020204020204" charset="-122"/>
                        <a:ea typeface="微软雅黑" panose="020B0503020204020204" charset="-122"/>
                        <a:cs typeface="微软雅黑" panose="020B0503020204020204" charset="-122"/>
                      </a:endParaRPr>
                    </a:p>
                    <a:p>
                      <a:pPr marL="1121410" indent="-320040" algn="l" rtl="0" eaLnBrk="0">
                        <a:lnSpc>
                          <a:spcPct val="108000"/>
                        </a:lnSpc>
                        <a:spcBef>
                          <a:spcPts val="585"/>
                        </a:spcBef>
                        <a:tabLst>
                          <a:tab pos="101790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L3：</a:t>
                      </a:r>
                      <a:r>
                        <a:rPr sz="2400" kern="0" spc="-4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ECMP可以利用多</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路，但传统拓扑一</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般只有两路</a:t>
                      </a:r>
                      <a:endParaRPr sz="2400" dirty="0">
                        <a:latin typeface="微软雅黑" panose="020B0503020204020204" charset="-122"/>
                        <a:ea typeface="微软雅黑" panose="020B0503020204020204" charset="-122"/>
                        <a:cs typeface="微软雅黑" panose="020B0503020204020204" charset="-122"/>
                      </a:endParaRPr>
                    </a:p>
                  </a:txBody>
                  <a:tcPr marL="0" marR="0" marT="0" marB="0" vert="horz">
                    <a:lnL w="25400" cap="flat" cmpd="sng" algn="ctr">
                      <a:solidFill>
                        <a:srgbClr val="A5A5A5"/>
                      </a:solidFill>
                      <a:prstDash val="solid"/>
                      <a:round/>
                      <a:headEnd type="none" w="med" len="med"/>
                      <a:tailEnd type="none" w="med" len="med"/>
                    </a:lnL>
                    <a:lnR w="25400" cap="flat" cmpd="sng" algn="ctr">
                      <a:solidFill>
                        <a:srgbClr val="A5A5A5"/>
                      </a:solidFill>
                      <a:prstDash val="solid"/>
                      <a:round/>
                      <a:headEnd type="none" w="med" len="med"/>
                      <a:tailEnd type="none" w="med" len="med"/>
                    </a:lnR>
                    <a:lnT>
                      <a:noFill/>
                    </a:lnT>
                    <a:lnB w="25400" cap="flat" cmpd="sng" algn="ctr">
                      <a:solidFill>
                        <a:srgbClr val="A5A5A5"/>
                      </a:solidFill>
                      <a:prstDash val="solid"/>
                      <a:round/>
                      <a:headEnd type="none" w="med" len="med"/>
                      <a:tailEnd type="none" w="med" len="med"/>
                    </a:lnB>
                  </a:tcPr>
                </a:tc>
              </a:tr>
              <a:tr h="591819">
                <a:tc vMerge="1">
                  <a:tcPr marL="0" marR="0" marT="0" marB="0" vert="horz">
                    <a:lnL>
                      <a:noFill/>
                    </a:lnL>
                    <a:lnR w="25400" cap="flat" cmpd="sng" algn="ctr">
                      <a:solidFill>
                        <a:srgbClr val="A5A5A5"/>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w="25400" cap="flat" cmpd="sng" algn="ctr">
                      <a:solidFill>
                        <a:srgbClr val="A5A5A5"/>
                      </a:solidFill>
                      <a:prstDash val="solid"/>
                      <a:round/>
                      <a:headEnd type="none" w="med" len="med"/>
                      <a:tailEnd type="none" w="med" len="med"/>
                    </a:lnT>
                    <a:lnB>
                      <a:noFill/>
                    </a:lnB>
                  </a:tcPr>
                </a:tc>
              </a:tr>
            </a:tbl>
          </a:graphicData>
        </a:graphic>
      </p:graphicFrame>
      <p:pic>
        <p:nvPicPr>
          <p:cNvPr id="346" name="picture 346"/>
          <p:cNvPicPr>
            <a:picLocks noChangeAspect="1"/>
          </p:cNvPicPr>
          <p:nvPr/>
        </p:nvPicPr>
        <p:blipFill>
          <a:blip r:embed="rId1"/>
          <a:stretch>
            <a:fillRect/>
          </a:stretch>
        </p:blipFill>
        <p:spPr>
          <a:xfrm rot="21600000">
            <a:off x="6085027" y="5067858"/>
            <a:ext cx="216408" cy="223723"/>
          </a:xfrm>
          <a:prstGeom prst="rect">
            <a:avLst/>
          </a:prstGeom>
        </p:spPr>
      </p:pic>
      <p:pic>
        <p:nvPicPr>
          <p:cNvPr id="348" name="picture 348"/>
          <p:cNvPicPr>
            <a:picLocks noChangeAspect="1"/>
          </p:cNvPicPr>
          <p:nvPr/>
        </p:nvPicPr>
        <p:blipFill>
          <a:blip r:embed="rId1"/>
          <a:stretch>
            <a:fillRect/>
          </a:stretch>
        </p:blipFill>
        <p:spPr>
          <a:xfrm rot="21600000">
            <a:off x="6085027" y="4203496"/>
            <a:ext cx="216408" cy="223723"/>
          </a:xfrm>
          <a:prstGeom prst="rect">
            <a:avLst/>
          </a:prstGeom>
        </p:spPr>
      </p:pic>
      <p:pic>
        <p:nvPicPr>
          <p:cNvPr id="350" name="picture 350"/>
          <p:cNvPicPr>
            <a:picLocks noChangeAspect="1"/>
          </p:cNvPicPr>
          <p:nvPr/>
        </p:nvPicPr>
        <p:blipFill>
          <a:blip r:embed="rId1"/>
          <a:stretch>
            <a:fillRect/>
          </a:stretch>
        </p:blipFill>
        <p:spPr>
          <a:xfrm rot="21600000">
            <a:off x="5627573" y="3772204"/>
            <a:ext cx="216408" cy="223723"/>
          </a:xfrm>
          <a:prstGeom prst="rect">
            <a:avLst/>
          </a:prstGeom>
        </p:spPr>
      </p:pic>
      <p:pic>
        <p:nvPicPr>
          <p:cNvPr id="352" name="picture 352"/>
          <p:cNvPicPr>
            <a:picLocks noChangeAspect="1"/>
          </p:cNvPicPr>
          <p:nvPr/>
        </p:nvPicPr>
        <p:blipFill>
          <a:blip r:embed="rId2"/>
          <a:stretch>
            <a:fillRect/>
          </a:stretch>
        </p:blipFill>
        <p:spPr>
          <a:xfrm rot="21600000">
            <a:off x="6085027" y="3339388"/>
            <a:ext cx="216408" cy="223723"/>
          </a:xfrm>
          <a:prstGeom prst="rect">
            <a:avLst/>
          </a:prstGeom>
        </p:spPr>
      </p:pic>
      <p:pic>
        <p:nvPicPr>
          <p:cNvPr id="354" name="picture 354"/>
          <p:cNvPicPr>
            <a:picLocks noChangeAspect="1"/>
          </p:cNvPicPr>
          <p:nvPr/>
        </p:nvPicPr>
        <p:blipFill>
          <a:blip r:embed="rId2"/>
          <a:stretch>
            <a:fillRect/>
          </a:stretch>
        </p:blipFill>
        <p:spPr>
          <a:xfrm rot="21600000">
            <a:off x="6085027" y="2043734"/>
            <a:ext cx="216408" cy="223723"/>
          </a:xfrm>
          <a:prstGeom prst="rect">
            <a:avLst/>
          </a:prstGeom>
        </p:spPr>
      </p:pic>
      <p:pic>
        <p:nvPicPr>
          <p:cNvPr id="356" name="picture 356"/>
          <p:cNvPicPr>
            <a:picLocks noChangeAspect="1"/>
          </p:cNvPicPr>
          <p:nvPr/>
        </p:nvPicPr>
        <p:blipFill>
          <a:blip r:embed="rId3"/>
          <a:stretch>
            <a:fillRect/>
          </a:stretch>
        </p:blipFill>
        <p:spPr>
          <a:xfrm rot="21600000">
            <a:off x="5627598" y="1611838"/>
            <a:ext cx="216624" cy="223946"/>
          </a:xfrm>
          <a:prstGeom prst="rect">
            <a:avLst/>
          </a:prstGeom>
        </p:spPr>
      </p:pic>
      <p:pic>
        <p:nvPicPr>
          <p:cNvPr id="358" name="picture 358"/>
          <p:cNvPicPr>
            <a:picLocks noChangeAspect="1"/>
          </p:cNvPicPr>
          <p:nvPr/>
        </p:nvPicPr>
        <p:blipFill>
          <a:blip r:embed="rId4"/>
          <a:stretch>
            <a:fillRect/>
          </a:stretch>
        </p:blipFill>
        <p:spPr>
          <a:xfrm rot="21600000">
            <a:off x="0" y="1778508"/>
            <a:ext cx="5187695" cy="3465575"/>
          </a:xfrm>
          <a:prstGeom prst="rect">
            <a:avLst/>
          </a:prstGeom>
        </p:spPr>
      </p:pic>
      <p:sp>
        <p:nvSpPr>
          <p:cNvPr id="360" name="textbox 360"/>
          <p:cNvSpPr/>
          <p:nvPr/>
        </p:nvSpPr>
        <p:spPr>
          <a:xfrm>
            <a:off x="327564" y="317074"/>
            <a:ext cx="9439275"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Background：</a:t>
            </a:r>
            <a:r>
              <a:rPr sz="2700" b="1" kern="0" spc="-6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Why conventional</a:t>
            </a:r>
            <a:r>
              <a:rPr sz="2700" b="1" kern="0" spc="27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40" dirty="0">
                <a:solidFill>
                  <a:srgbClr val="F26849">
                    <a:alpha val="100000"/>
                  </a:srgbClr>
                </a:solidFill>
                <a:latin typeface="微软雅黑" panose="020B0503020204020204" charset="-122"/>
                <a:ea typeface="微软雅黑" panose="020B0503020204020204" charset="-122"/>
                <a:cs typeface="微软雅黑" panose="020B0503020204020204" charset="-122"/>
              </a:rPr>
              <a:t>DCN arch falls short</a:t>
            </a:r>
            <a:endParaRPr sz="2700" dirty="0">
              <a:latin typeface="微软雅黑" panose="020B0503020204020204" charset="-122"/>
              <a:ea typeface="微软雅黑" panose="020B0503020204020204" charset="-122"/>
              <a:cs typeface="微软雅黑" panose="020B0503020204020204" charset="-122"/>
            </a:endParaRPr>
          </a:p>
        </p:txBody>
      </p:sp>
      <p:pic>
        <p:nvPicPr>
          <p:cNvPr id="362" name="picture 362"/>
          <p:cNvPicPr>
            <a:picLocks noChangeAspect="1"/>
          </p:cNvPicPr>
          <p:nvPr/>
        </p:nvPicPr>
        <p:blipFill>
          <a:blip r:embed="rId5"/>
          <a:stretch>
            <a:fillRect/>
          </a:stretch>
        </p:blipFill>
        <p:spPr>
          <a:xfrm rot="21600000">
            <a:off x="11338559" y="18288"/>
            <a:ext cx="720852" cy="719328"/>
          </a:xfrm>
          <a:prstGeom prst="rect">
            <a:avLst/>
          </a:prstGeom>
        </p:spPr>
      </p:pic>
      <p:sp>
        <p:nvSpPr>
          <p:cNvPr id="364" name="path 364"/>
          <p:cNvSpPr/>
          <p:nvPr/>
        </p:nvSpPr>
        <p:spPr>
          <a:xfrm>
            <a:off x="5638672" y="843026"/>
            <a:ext cx="6024626" cy="25400"/>
          </a:xfrm>
          <a:custGeom>
            <a:avLst/>
            <a:gdLst/>
            <a:ahLst/>
            <a:cxnLst/>
            <a:rect l="0" t="0" r="0" b="0"/>
            <a:pathLst>
              <a:path w="9487" h="40">
                <a:moveTo>
                  <a:pt x="0" y="20"/>
                </a:moveTo>
                <a:lnTo>
                  <a:pt x="9487" y="20"/>
                </a:lnTo>
              </a:path>
            </a:pathLst>
          </a:custGeom>
          <a:noFill/>
          <a:ln w="25400" cap="flat">
            <a:solidFill>
              <a:srgbClr val="A5A5A5"/>
            </a:solidFill>
            <a:prstDash val="dash"/>
            <a:bevel/>
          </a:ln>
        </p:spPr>
        <p:txBody>
          <a:bodyPr rtlCol="0"/>
          <a:lstStyle/>
          <a:p>
            <a:pPr algn="ctr"/>
            <a:endParaRPr lang="zh-CN" altLang="en-US"/>
          </a:p>
        </p:txBody>
      </p:sp>
      <p:sp>
        <p:nvSpPr>
          <p:cNvPr id="366" name="textbox 366"/>
          <p:cNvSpPr/>
          <p:nvPr/>
        </p:nvSpPr>
        <p:spPr>
          <a:xfrm>
            <a:off x="11594999" y="6559321"/>
            <a:ext cx="23812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50" dirty="0">
                <a:solidFill>
                  <a:srgbClr val="000000">
                    <a:alpha val="100000"/>
                  </a:srgbClr>
                </a:solidFill>
                <a:latin typeface="Calibri" panose="020F0502020204030204"/>
                <a:ea typeface="Calibri" panose="020F0502020204030204"/>
                <a:cs typeface="Calibri" panose="020F0502020204030204"/>
              </a:rPr>
              <a:t>18</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rect 368"/>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370" name="textbox 370"/>
          <p:cNvSpPr/>
          <p:nvPr/>
        </p:nvSpPr>
        <p:spPr>
          <a:xfrm>
            <a:off x="1919729" y="1139825"/>
            <a:ext cx="8268969" cy="505587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343916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40" dirty="0">
                <a:solidFill>
                  <a:srgbClr val="D9D9D9">
                    <a:alpha val="100000"/>
                  </a:srgbClr>
                </a:solidFill>
                <a:latin typeface="微软雅黑" panose="020B0503020204020204" charset="-122"/>
                <a:ea typeface="微软雅黑" panose="020B0503020204020204" charset="-122"/>
                <a:cs typeface="微软雅黑" panose="020B0503020204020204" charset="-122"/>
              </a:rPr>
              <a:t>1.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Why</a:t>
            </a:r>
            <a:r>
              <a:rPr sz="2700" b="1" kern="0" spc="14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conventional</a:t>
            </a:r>
            <a:r>
              <a:rPr sz="2700" b="1" kern="0" spc="3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DCN</a:t>
            </a:r>
            <a:r>
              <a:rPr sz="2700" b="1" kern="0" spc="14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arch</a:t>
            </a:r>
            <a:r>
              <a:rPr sz="2700" b="1" kern="0" spc="14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falls</a:t>
            </a:r>
            <a:r>
              <a:rPr sz="2700" b="1" kern="0" spc="1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short</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100000"/>
              </a:lnSpc>
              <a:spcBef>
                <a:spcPts val="1320"/>
              </a:spcBef>
            </a:pPr>
            <a:r>
              <a:rPr sz="2700" b="1" kern="0" spc="50" dirty="0">
                <a:solidFill>
                  <a:srgbClr val="4472C4">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Valiant</a:t>
            </a:r>
            <a:r>
              <a:rPr sz="2700" b="1" kern="0" spc="3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Load</a:t>
            </a:r>
            <a:r>
              <a:rPr sz="2700" b="1" kern="0" spc="29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Balancing</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5"/>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372" name="picture 372"/>
          <p:cNvPicPr>
            <a:picLocks noChangeAspect="1"/>
          </p:cNvPicPr>
          <p:nvPr/>
        </p:nvPicPr>
        <p:blipFill>
          <a:blip r:embed="rId1"/>
          <a:stretch>
            <a:fillRect/>
          </a:stretch>
        </p:blipFill>
        <p:spPr>
          <a:xfrm rot="21600000">
            <a:off x="0" y="0"/>
            <a:ext cx="12192000" cy="288035"/>
          </a:xfrm>
          <a:prstGeom prst="rect">
            <a:avLst/>
          </a:prstGeom>
        </p:spPr>
      </p:pic>
      <p:pic>
        <p:nvPicPr>
          <p:cNvPr id="374" name="picture 374"/>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textbox 376"/>
          <p:cNvSpPr/>
          <p:nvPr/>
        </p:nvSpPr>
        <p:spPr>
          <a:xfrm>
            <a:off x="297434" y="1010666"/>
            <a:ext cx="6861175" cy="4355465"/>
          </a:xfrm>
          <a:prstGeom prst="roundRect">
            <a:avLst>
              <a:gd name="adj" fmla="val 7520"/>
            </a:avLst>
          </a:prstGeom>
          <a:noFill/>
          <a:ln w="25400" cap="flat">
            <a:solidFill>
              <a:srgbClr val="A5A5A5"/>
            </a:solidFill>
            <a:prstDash val="solid"/>
            <a:miter lim="0"/>
          </a:ln>
        </p:spPr>
        <p:txBody>
          <a:bodyPr vert="horz" wrap="square" lIns="0" tIns="0" rIns="0" bIns="0"/>
          <a:lstStyle/>
          <a:p>
            <a:pPr algn="l" rtl="0" eaLnBrk="0">
              <a:lnSpc>
                <a:spcPct val="139000"/>
              </a:lnSpc>
            </a:pPr>
            <a:endParaRPr sz="1000" dirty="0">
              <a:latin typeface="Arial" panose="020B0604020202020204"/>
              <a:ea typeface="Arial" panose="020B0604020202020204"/>
              <a:cs typeface="Arial" panose="020B0604020202020204"/>
            </a:endParaRPr>
          </a:p>
          <a:p>
            <a:pPr marL="193675" algn="l" rtl="0" eaLnBrk="0">
              <a:lnSpc>
                <a:spcPct val="89000"/>
              </a:lnSpc>
              <a:spcBef>
                <a:spcPts val="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在一个多路径网络中，直接将源节点</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的流量发</a:t>
            </a:r>
            <a:endParaRPr sz="2400" dirty="0">
              <a:latin typeface="微软雅黑" panose="020B0503020204020204" charset="-122"/>
              <a:ea typeface="微软雅黑" panose="020B0503020204020204" charset="-122"/>
              <a:cs typeface="微软雅黑" panose="020B0503020204020204" charset="-122"/>
            </a:endParaRPr>
          </a:p>
          <a:p>
            <a:pPr marL="193675" algn="l" rtl="0" eaLnBrk="0">
              <a:lnSpc>
                <a:spcPct val="120000"/>
              </a:lnSpc>
              <a:spcBef>
                <a:spcPts val="8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送到目标节点可能会导致链路或交</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换机上的不</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均衡。</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Valiant</a:t>
            </a:r>
            <a:r>
              <a:rPr sz="2400" b="1"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Load</a:t>
            </a:r>
            <a:r>
              <a:rPr sz="24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Balancing</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VLB)通过</a:t>
            </a:r>
            <a:r>
              <a:rPr sz="24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两</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阶段转发</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来解决。</a:t>
            </a:r>
            <a:endParaRPr sz="2400" dirty="0">
              <a:latin typeface="微软雅黑" panose="020B0503020204020204" charset="-122"/>
              <a:ea typeface="微软雅黑" panose="020B0503020204020204" charset="-122"/>
              <a:cs typeface="微软雅黑" panose="020B0503020204020204" charset="-122"/>
            </a:endParaRPr>
          </a:p>
          <a:p>
            <a:pPr marL="215265" algn="l" rtl="0" eaLnBrk="0">
              <a:lnSpc>
                <a:spcPct val="89000"/>
              </a:lnSpc>
              <a:spcBef>
                <a:spcPts val="590"/>
              </a:spcBef>
              <a:tabLst>
                <a:tab pos="43180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随机中转</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：源节点先将流量随机选择一个</a:t>
            </a:r>
            <a:endParaRPr sz="2400" dirty="0">
              <a:latin typeface="微软雅黑" panose="020B0503020204020204" charset="-122"/>
              <a:ea typeface="微软雅黑" panose="020B0503020204020204" charset="-122"/>
              <a:cs typeface="微软雅黑" panose="020B0503020204020204" charset="-122"/>
            </a:endParaRPr>
          </a:p>
          <a:p>
            <a:pPr marL="725170" algn="l" rtl="0" eaLnBrk="0">
              <a:lnSpc>
                <a:spcPts val="3395"/>
              </a:lnSpc>
            </a:pPr>
            <a:r>
              <a:rPr sz="2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“中间节点”（inte</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rmediate</a:t>
            </a:r>
            <a:r>
              <a:rPr sz="2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node</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并</a:t>
            </a:r>
            <a:endParaRPr sz="2400" dirty="0">
              <a:latin typeface="微软雅黑" panose="020B0503020204020204" charset="-122"/>
              <a:ea typeface="微软雅黑" panose="020B0503020204020204" charset="-122"/>
              <a:cs typeface="微软雅黑" panose="020B0503020204020204" charset="-122"/>
            </a:endParaRPr>
          </a:p>
          <a:p>
            <a:pPr marL="536575" algn="l" rtl="0" eaLnBrk="0">
              <a:lnSpc>
                <a:spcPct val="89000"/>
              </a:lnSpc>
              <a:spcBef>
                <a:spcPts val="845"/>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把数据包转发过去</a:t>
            </a:r>
            <a:endParaRPr sz="2400" dirty="0">
              <a:latin typeface="微软雅黑" panose="020B0503020204020204" charset="-122"/>
              <a:ea typeface="微软雅黑" panose="020B0503020204020204" charset="-122"/>
              <a:cs typeface="微软雅黑" panose="020B0503020204020204" charset="-122"/>
            </a:endParaRPr>
          </a:p>
          <a:p>
            <a:pPr marL="215265" algn="l" rtl="0" eaLnBrk="0">
              <a:lnSpc>
                <a:spcPct val="89000"/>
              </a:lnSpc>
              <a:spcBef>
                <a:spcPts val="835"/>
              </a:spcBef>
              <a:tabLst>
                <a:tab pos="43180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最终转发</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：该中间节点再</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将数据转发到真正</a:t>
            </a:r>
            <a:endParaRPr sz="2400" dirty="0">
              <a:latin typeface="微软雅黑" panose="020B0503020204020204" charset="-122"/>
              <a:ea typeface="微软雅黑" panose="020B0503020204020204" charset="-122"/>
              <a:cs typeface="微软雅黑" panose="020B0503020204020204" charset="-122"/>
            </a:endParaRPr>
          </a:p>
          <a:p>
            <a:pPr marL="549910" algn="l" rtl="0" eaLnBrk="0">
              <a:lnSpc>
                <a:spcPts val="3395"/>
              </a:lnSpc>
            </a:pPr>
            <a:r>
              <a:rPr sz="23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的目的节点。</a:t>
            </a:r>
            <a:endParaRPr sz="2300" dirty="0">
              <a:latin typeface="微软雅黑" panose="020B0503020204020204" charset="-122"/>
              <a:ea typeface="微软雅黑" panose="020B0503020204020204" charset="-122"/>
              <a:cs typeface="微软雅黑" panose="020B0503020204020204" charset="-122"/>
            </a:endParaRPr>
          </a:p>
        </p:txBody>
      </p:sp>
      <p:pic>
        <p:nvPicPr>
          <p:cNvPr id="378" name="picture 378"/>
          <p:cNvPicPr>
            <a:picLocks noChangeAspect="1"/>
          </p:cNvPicPr>
          <p:nvPr/>
        </p:nvPicPr>
        <p:blipFill>
          <a:blip r:embed="rId1"/>
          <a:stretch>
            <a:fillRect/>
          </a:stretch>
        </p:blipFill>
        <p:spPr>
          <a:xfrm rot="21600000">
            <a:off x="609016" y="4366341"/>
            <a:ext cx="216624" cy="223946"/>
          </a:xfrm>
          <a:prstGeom prst="rect">
            <a:avLst/>
          </a:prstGeom>
        </p:spPr>
      </p:pic>
      <p:pic>
        <p:nvPicPr>
          <p:cNvPr id="380" name="picture 380"/>
          <p:cNvPicPr>
            <a:picLocks noChangeAspect="1"/>
          </p:cNvPicPr>
          <p:nvPr/>
        </p:nvPicPr>
        <p:blipFill>
          <a:blip r:embed="rId2"/>
          <a:stretch>
            <a:fillRect/>
          </a:stretch>
        </p:blipFill>
        <p:spPr>
          <a:xfrm rot="21600000">
            <a:off x="608990" y="3071164"/>
            <a:ext cx="216408" cy="223723"/>
          </a:xfrm>
          <a:prstGeom prst="rect">
            <a:avLst/>
          </a:prstGeom>
        </p:spPr>
      </p:pic>
      <p:pic>
        <p:nvPicPr>
          <p:cNvPr id="382" name="picture 382"/>
          <p:cNvPicPr>
            <a:picLocks noChangeAspect="1"/>
          </p:cNvPicPr>
          <p:nvPr/>
        </p:nvPicPr>
        <p:blipFill>
          <a:blip r:embed="rId3"/>
          <a:stretch>
            <a:fillRect/>
          </a:stretch>
        </p:blipFill>
        <p:spPr>
          <a:xfrm rot="21600000">
            <a:off x="7292340" y="1755648"/>
            <a:ext cx="4876800" cy="3346703"/>
          </a:xfrm>
          <a:prstGeom prst="rect">
            <a:avLst/>
          </a:prstGeom>
        </p:spPr>
      </p:pic>
      <p:sp>
        <p:nvSpPr>
          <p:cNvPr id="384" name="textbox 384"/>
          <p:cNvSpPr/>
          <p:nvPr/>
        </p:nvSpPr>
        <p:spPr>
          <a:xfrm>
            <a:off x="327564" y="317074"/>
            <a:ext cx="655065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Background</a:t>
            </a:r>
            <a:r>
              <a:rPr sz="2700" b="1" kern="0" spc="500" dirty="0">
                <a:solidFill>
                  <a:srgbClr val="F26849">
                    <a:alpha val="100000"/>
                  </a:srgbClr>
                </a:solidFill>
                <a:latin typeface="微软雅黑" panose="020B0503020204020204" charset="-122"/>
                <a:ea typeface="微软雅黑" panose="020B0503020204020204" charset="-122"/>
                <a:cs typeface="微软雅黑" panose="020B0503020204020204" charset="-122"/>
              </a:rPr>
              <a:t>：</a:t>
            </a:r>
            <a:r>
              <a:rPr sz="2700" b="1" kern="0" spc="-70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Valiant</a:t>
            </a:r>
            <a:r>
              <a:rPr sz="2700" b="1" kern="0" spc="2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Load</a:t>
            </a:r>
            <a:r>
              <a:rPr sz="2700" b="1" kern="0" spc="2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Balancing</a:t>
            </a:r>
            <a:endParaRPr sz="2700" dirty="0">
              <a:latin typeface="微软雅黑" panose="020B0503020204020204" charset="-122"/>
              <a:ea typeface="微软雅黑" panose="020B0503020204020204" charset="-122"/>
              <a:cs typeface="微软雅黑" panose="020B0503020204020204" charset="-122"/>
            </a:endParaRPr>
          </a:p>
        </p:txBody>
      </p:sp>
      <p:pic>
        <p:nvPicPr>
          <p:cNvPr id="386" name="picture 386"/>
          <p:cNvPicPr>
            <a:picLocks noChangeAspect="1"/>
          </p:cNvPicPr>
          <p:nvPr/>
        </p:nvPicPr>
        <p:blipFill>
          <a:blip r:embed="rId4"/>
          <a:stretch>
            <a:fillRect/>
          </a:stretch>
        </p:blipFill>
        <p:spPr>
          <a:xfrm rot="21600000">
            <a:off x="11338559" y="18288"/>
            <a:ext cx="720852" cy="719328"/>
          </a:xfrm>
          <a:prstGeom prst="rect">
            <a:avLst/>
          </a:prstGeom>
        </p:spPr>
      </p:pic>
      <p:pic>
        <p:nvPicPr>
          <p:cNvPr id="388" name="picture 388"/>
          <p:cNvPicPr>
            <a:picLocks noChangeAspect="1"/>
          </p:cNvPicPr>
          <p:nvPr/>
        </p:nvPicPr>
        <p:blipFill>
          <a:blip r:embed="rId5"/>
          <a:stretch>
            <a:fillRect/>
          </a:stretch>
        </p:blipFill>
        <p:spPr>
          <a:xfrm rot="21600000">
            <a:off x="155447" y="751332"/>
            <a:ext cx="11881104" cy="19811"/>
          </a:xfrm>
          <a:prstGeom prst="rect">
            <a:avLst/>
          </a:prstGeom>
        </p:spPr>
      </p:pic>
      <p:pic>
        <p:nvPicPr>
          <p:cNvPr id="390" name="picture 390"/>
          <p:cNvPicPr>
            <a:picLocks noChangeAspect="1"/>
          </p:cNvPicPr>
          <p:nvPr/>
        </p:nvPicPr>
        <p:blipFill>
          <a:blip r:embed="rId6"/>
          <a:stretch>
            <a:fillRect/>
          </a:stretch>
        </p:blipFill>
        <p:spPr>
          <a:xfrm rot="21600000">
            <a:off x="161544" y="6461759"/>
            <a:ext cx="11879580" cy="18288"/>
          </a:xfrm>
          <a:prstGeom prst="rect">
            <a:avLst/>
          </a:prstGeom>
        </p:spPr>
      </p:pic>
      <p:sp>
        <p:nvSpPr>
          <p:cNvPr id="392" name="textbox 392"/>
          <p:cNvSpPr/>
          <p:nvPr/>
        </p:nvSpPr>
        <p:spPr>
          <a:xfrm>
            <a:off x="11588360" y="6559321"/>
            <a:ext cx="24447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40" dirty="0">
                <a:solidFill>
                  <a:srgbClr val="000000">
                    <a:alpha val="100000"/>
                  </a:srgbClr>
                </a:solidFill>
                <a:latin typeface="Calibri" panose="020F0502020204030204"/>
                <a:ea typeface="Calibri" panose="020F0502020204030204"/>
                <a:cs typeface="Calibri" panose="020F0502020204030204"/>
              </a:rPr>
              <a:t>20</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textbox 394"/>
          <p:cNvSpPr/>
          <p:nvPr/>
        </p:nvSpPr>
        <p:spPr>
          <a:xfrm>
            <a:off x="7406894" y="899414"/>
            <a:ext cx="4318634" cy="5380990"/>
          </a:xfrm>
          <a:prstGeom prst="roundRect">
            <a:avLst>
              <a:gd name="adj" fmla="val 7523"/>
            </a:avLst>
          </a:prstGeom>
          <a:noFill/>
          <a:ln w="25400" cap="flat">
            <a:solidFill>
              <a:srgbClr val="A5A5A5"/>
            </a:solidFill>
            <a:prstDash val="solid"/>
            <a:miter lim="0"/>
          </a:ln>
        </p:spPr>
        <p:txBody>
          <a:bodyPr vert="horz" wrap="square" lIns="0" tIns="0" rIns="0" bIns="0"/>
          <a:lstStyle/>
          <a:p>
            <a:pPr algn="l" rtl="0" eaLnBrk="0">
              <a:lnSpc>
                <a:spcPct val="103000"/>
              </a:lnSpc>
            </a:pPr>
            <a:endParaRPr sz="800" dirty="0">
              <a:latin typeface="Arial" panose="020B0604020202020204"/>
              <a:ea typeface="Arial" panose="020B0604020202020204"/>
              <a:cs typeface="Arial" panose="020B0604020202020204"/>
            </a:endParaRPr>
          </a:p>
          <a:p>
            <a:pPr marL="41910" algn="l" rtl="0" eaLnBrk="0">
              <a:lnSpc>
                <a:spcPct val="89000"/>
              </a:lnSpc>
              <a:spcBef>
                <a:spcPts val="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VLB</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优点</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386080" indent="-321310" algn="l" rtl="0" eaLnBrk="0">
              <a:lnSpc>
                <a:spcPct val="111000"/>
              </a:lnSpc>
              <a:spcBef>
                <a:spcPts val="865"/>
              </a:spcBef>
              <a:tabLst>
                <a:tab pos="2806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可以适应多种流量模式</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尤其适用于流量模式未知</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或复杂的网络</a:t>
            </a:r>
            <a:endParaRPr sz="2400" dirty="0">
              <a:latin typeface="微软雅黑" panose="020B0503020204020204" charset="-122"/>
              <a:ea typeface="微软雅黑" panose="020B0503020204020204" charset="-122"/>
              <a:cs typeface="微软雅黑" panose="020B0503020204020204" charset="-122"/>
            </a:endParaRPr>
          </a:p>
          <a:p>
            <a:pPr marL="398780" indent="-334010" algn="l" rtl="0" eaLnBrk="0">
              <a:lnSpc>
                <a:spcPct val="108000"/>
              </a:lnSpc>
              <a:spcBef>
                <a:spcPts val="575"/>
              </a:spcBef>
              <a:tabLst>
                <a:tab pos="2806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简单可扩展，不依赖复杂</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的集中式流量工程</a:t>
            </a:r>
            <a:endParaRPr sz="2400" dirty="0">
              <a:latin typeface="微软雅黑" panose="020B0503020204020204" charset="-122"/>
              <a:ea typeface="微软雅黑" panose="020B0503020204020204" charset="-122"/>
              <a:cs typeface="微软雅黑" panose="020B0503020204020204" charset="-122"/>
            </a:endParaRPr>
          </a:p>
          <a:p>
            <a:pPr marL="44450" algn="l" rtl="0" eaLnBrk="0">
              <a:lnSpc>
                <a:spcPct val="89000"/>
              </a:lnSpc>
              <a:spcBef>
                <a:spcPts val="595"/>
              </a:spcBef>
            </a:pP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缺点</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387985" indent="-323215" algn="l" rtl="0" eaLnBrk="0">
              <a:lnSpc>
                <a:spcPct val="108000"/>
              </a:lnSpc>
              <a:spcBef>
                <a:spcPts val="825"/>
              </a:spcBef>
              <a:tabLst>
                <a:tab pos="2806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路径绕行，可能引入额外</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延迟</a:t>
            </a:r>
            <a:endParaRPr sz="2400" dirty="0">
              <a:latin typeface="微软雅黑" panose="020B0503020204020204" charset="-122"/>
              <a:ea typeface="微软雅黑" panose="020B0503020204020204" charset="-122"/>
              <a:cs typeface="微软雅黑" panose="020B0503020204020204" charset="-122"/>
            </a:endParaRPr>
          </a:p>
          <a:p>
            <a:pPr marL="383540" indent="-318770" algn="l" rtl="0" eaLnBrk="0">
              <a:lnSpc>
                <a:spcPct val="108000"/>
              </a:lnSpc>
              <a:spcBef>
                <a:spcPts val="585"/>
              </a:spcBef>
              <a:tabLst>
                <a:tab pos="2806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大流若集中可能导致短期</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不均衡</a:t>
            </a:r>
            <a:endParaRPr sz="2400" dirty="0">
              <a:latin typeface="微软雅黑" panose="020B0503020204020204" charset="-122"/>
              <a:ea typeface="微软雅黑" panose="020B0503020204020204" charset="-122"/>
              <a:cs typeface="微软雅黑" panose="020B0503020204020204" charset="-122"/>
            </a:endParaRPr>
          </a:p>
        </p:txBody>
      </p:sp>
      <p:pic>
        <p:nvPicPr>
          <p:cNvPr id="396" name="picture 396"/>
          <p:cNvPicPr>
            <a:picLocks noChangeAspect="1"/>
          </p:cNvPicPr>
          <p:nvPr/>
        </p:nvPicPr>
        <p:blipFill>
          <a:blip r:embed="rId1"/>
          <a:stretch>
            <a:fillRect/>
          </a:stretch>
        </p:blipFill>
        <p:spPr>
          <a:xfrm rot="21600000">
            <a:off x="7567015" y="5031694"/>
            <a:ext cx="216624" cy="223946"/>
          </a:xfrm>
          <a:prstGeom prst="rect">
            <a:avLst/>
          </a:prstGeom>
        </p:spPr>
      </p:pic>
      <p:pic>
        <p:nvPicPr>
          <p:cNvPr id="398" name="picture 398"/>
          <p:cNvPicPr>
            <a:picLocks noChangeAspect="1"/>
          </p:cNvPicPr>
          <p:nvPr/>
        </p:nvPicPr>
        <p:blipFill>
          <a:blip r:embed="rId2"/>
          <a:stretch>
            <a:fillRect/>
          </a:stretch>
        </p:blipFill>
        <p:spPr>
          <a:xfrm rot="21600000">
            <a:off x="7566990" y="4167809"/>
            <a:ext cx="216407" cy="223723"/>
          </a:xfrm>
          <a:prstGeom prst="rect">
            <a:avLst/>
          </a:prstGeom>
        </p:spPr>
      </p:pic>
      <p:pic>
        <p:nvPicPr>
          <p:cNvPr id="400" name="picture 400"/>
          <p:cNvPicPr>
            <a:picLocks noChangeAspect="1"/>
          </p:cNvPicPr>
          <p:nvPr/>
        </p:nvPicPr>
        <p:blipFill>
          <a:blip r:embed="rId2"/>
          <a:stretch>
            <a:fillRect/>
          </a:stretch>
        </p:blipFill>
        <p:spPr>
          <a:xfrm rot="21600000">
            <a:off x="7566990" y="2872155"/>
            <a:ext cx="216407" cy="223723"/>
          </a:xfrm>
          <a:prstGeom prst="rect">
            <a:avLst/>
          </a:prstGeom>
        </p:spPr>
      </p:pic>
      <p:pic>
        <p:nvPicPr>
          <p:cNvPr id="402" name="picture 402"/>
          <p:cNvPicPr>
            <a:picLocks noChangeAspect="1"/>
          </p:cNvPicPr>
          <p:nvPr/>
        </p:nvPicPr>
        <p:blipFill>
          <a:blip r:embed="rId3"/>
          <a:stretch>
            <a:fillRect/>
          </a:stretch>
        </p:blipFill>
        <p:spPr>
          <a:xfrm rot="21600000">
            <a:off x="7566990" y="1576374"/>
            <a:ext cx="216407" cy="223723"/>
          </a:xfrm>
          <a:prstGeom prst="rect">
            <a:avLst/>
          </a:prstGeom>
        </p:spPr>
      </p:pic>
      <p:sp>
        <p:nvSpPr>
          <p:cNvPr id="404" name="textbox 404"/>
          <p:cNvSpPr/>
          <p:nvPr/>
        </p:nvSpPr>
        <p:spPr>
          <a:xfrm>
            <a:off x="297434" y="899414"/>
            <a:ext cx="6861175" cy="3017520"/>
          </a:xfrm>
          <a:prstGeom prst="roundRect">
            <a:avLst>
              <a:gd name="adj" fmla="val 7760"/>
            </a:avLst>
          </a:prstGeom>
          <a:noFill/>
          <a:ln w="25400" cap="flat">
            <a:solidFill>
              <a:srgbClr val="A5A5A5"/>
            </a:solidFill>
            <a:prstDash val="solid"/>
            <a:miter lim="0"/>
          </a:ln>
        </p:spPr>
        <p:txBody>
          <a:bodyPr vert="horz" wrap="square" lIns="0" tIns="0" rIns="0" bIns="0"/>
          <a:lstStyle/>
          <a:p>
            <a:pPr algn="l" rtl="0" eaLnBrk="0">
              <a:lnSpc>
                <a:spcPct val="128000"/>
              </a:lnSpc>
            </a:pPr>
            <a:endParaRPr sz="1000" dirty="0">
              <a:latin typeface="Arial" panose="020B0604020202020204"/>
              <a:ea typeface="Arial" panose="020B0604020202020204"/>
              <a:cs typeface="Arial" panose="020B0604020202020204"/>
            </a:endParaRPr>
          </a:p>
          <a:p>
            <a:pPr marL="207010" algn="l" rtl="0" eaLnBrk="0">
              <a:lnSpc>
                <a:spcPct val="89000"/>
              </a:lnSpc>
            </a:pPr>
            <a:r>
              <a:rPr sz="24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VLB</a:t>
            </a:r>
            <a:r>
              <a:rPr sz="2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的特点：</a:t>
            </a:r>
            <a:endParaRPr sz="2400" dirty="0">
              <a:latin typeface="微软雅黑" panose="020B0503020204020204" charset="-122"/>
              <a:ea typeface="微软雅黑" panose="020B0503020204020204" charset="-122"/>
              <a:cs typeface="微软雅黑" panose="020B0503020204020204" charset="-122"/>
            </a:endParaRPr>
          </a:p>
          <a:p>
            <a:pPr marL="231140" algn="l" rtl="0" eaLnBrk="0">
              <a:lnSpc>
                <a:spcPct val="89000"/>
              </a:lnSpc>
              <a:spcBef>
                <a:spcPts val="835"/>
              </a:spcBef>
              <a:tabLst>
                <a:tab pos="447675"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随机化路由</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：目标位置无关，均匀分散流量</a:t>
            </a:r>
            <a:endParaRPr sz="2400" dirty="0">
              <a:latin typeface="微软雅黑" panose="020B0503020204020204" charset="-122"/>
              <a:ea typeface="微软雅黑" panose="020B0503020204020204" charset="-122"/>
              <a:cs typeface="微软雅黑" panose="020B0503020204020204" charset="-122"/>
            </a:endParaRPr>
          </a:p>
          <a:p>
            <a:pPr marL="231140" algn="l" rtl="0" eaLnBrk="0">
              <a:lnSpc>
                <a:spcPct val="89000"/>
              </a:lnSpc>
              <a:spcBef>
                <a:spcPts val="835"/>
              </a:spcBef>
              <a:tabLst>
                <a:tab pos="447675"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理论保障</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：VLB证明</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了网络在满足</a:t>
            </a:r>
            <a:endParaRPr sz="2400" dirty="0">
              <a:latin typeface="微软雅黑" panose="020B0503020204020204" charset="-122"/>
              <a:ea typeface="微软雅黑" panose="020B0503020204020204" charset="-122"/>
              <a:cs typeface="微软雅黑" panose="020B0503020204020204" charset="-122"/>
            </a:endParaRPr>
          </a:p>
          <a:p>
            <a:pPr marL="676910" algn="l" rtl="0" eaLnBrk="0">
              <a:lnSpc>
                <a:spcPct val="89000"/>
              </a:lnSpc>
              <a:spcBef>
                <a:spcPts val="84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  随机化在小的</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包</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的粒度上进行</a:t>
            </a:r>
            <a:endParaRPr sz="2400" dirty="0">
              <a:latin typeface="微软雅黑" panose="020B0503020204020204" charset="-122"/>
              <a:ea typeface="微软雅黑" panose="020B0503020204020204" charset="-122"/>
              <a:cs typeface="微软雅黑" panose="020B0503020204020204" charset="-122"/>
            </a:endParaRPr>
          </a:p>
          <a:p>
            <a:pPr marL="688975" algn="l" rtl="0" eaLnBrk="0">
              <a:lnSpc>
                <a:spcPct val="89000"/>
              </a:lnSpc>
              <a:spcBef>
                <a:spcPts val="835"/>
              </a:spcBef>
            </a:pP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sz="2400" kern="0" spc="5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发送到网络中的流量满足</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hose</a:t>
            </a:r>
            <a:r>
              <a:rPr sz="24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model</a:t>
            </a:r>
            <a:endParaRPr sz="2400" dirty="0">
              <a:latin typeface="微软雅黑" panose="020B0503020204020204" charset="-122"/>
              <a:ea typeface="微软雅黑" panose="020B0503020204020204" charset="-122"/>
              <a:cs typeface="微软雅黑" panose="020B0503020204020204" charset="-122"/>
            </a:endParaRPr>
          </a:p>
          <a:p>
            <a:pPr marL="570865" algn="l" rtl="0" eaLnBrk="0">
              <a:lnSpc>
                <a:spcPts val="3395"/>
              </a:lnSpc>
            </a:pP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这两个条件时，网络可以视为无</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阻塞模型。</a:t>
            </a:r>
            <a:endParaRPr sz="2400" dirty="0">
              <a:latin typeface="微软雅黑" panose="020B0503020204020204" charset="-122"/>
              <a:ea typeface="微软雅黑" panose="020B0503020204020204" charset="-122"/>
              <a:cs typeface="微软雅黑" panose="020B0503020204020204" charset="-122"/>
            </a:endParaRPr>
          </a:p>
        </p:txBody>
      </p:sp>
      <p:pic>
        <p:nvPicPr>
          <p:cNvPr id="406" name="picture 406"/>
          <p:cNvPicPr>
            <a:picLocks noChangeAspect="1"/>
          </p:cNvPicPr>
          <p:nvPr/>
        </p:nvPicPr>
        <p:blipFill>
          <a:blip r:embed="rId4"/>
          <a:stretch>
            <a:fillRect/>
          </a:stretch>
        </p:blipFill>
        <p:spPr>
          <a:xfrm rot="21600000">
            <a:off x="597712" y="2050719"/>
            <a:ext cx="216408" cy="223723"/>
          </a:xfrm>
          <a:prstGeom prst="rect">
            <a:avLst/>
          </a:prstGeom>
        </p:spPr>
      </p:pic>
      <p:pic>
        <p:nvPicPr>
          <p:cNvPr id="408" name="picture 408"/>
          <p:cNvPicPr>
            <a:picLocks noChangeAspect="1"/>
          </p:cNvPicPr>
          <p:nvPr/>
        </p:nvPicPr>
        <p:blipFill>
          <a:blip r:embed="rId5"/>
          <a:stretch>
            <a:fillRect/>
          </a:stretch>
        </p:blipFill>
        <p:spPr>
          <a:xfrm rot="21600000">
            <a:off x="597738" y="1618823"/>
            <a:ext cx="216624" cy="223946"/>
          </a:xfrm>
          <a:prstGeom prst="rect">
            <a:avLst/>
          </a:prstGeom>
        </p:spPr>
      </p:pic>
      <p:sp>
        <p:nvSpPr>
          <p:cNvPr id="410" name="textbox 410"/>
          <p:cNvSpPr/>
          <p:nvPr/>
        </p:nvSpPr>
        <p:spPr>
          <a:xfrm>
            <a:off x="266954" y="4311650"/>
            <a:ext cx="6861175" cy="1968500"/>
          </a:xfrm>
          <a:prstGeom prst="roundRect">
            <a:avLst>
              <a:gd name="adj" fmla="val 8175"/>
            </a:avLst>
          </a:prstGeom>
          <a:noFill/>
          <a:ln w="25400" cap="flat">
            <a:solidFill>
              <a:srgbClr val="A5A5A5"/>
            </a:solidFill>
            <a:prstDash val="solid"/>
            <a:miter lim="0"/>
          </a:ln>
        </p:spPr>
        <p:txBody>
          <a:bodyPr vert="horz" wrap="square" lIns="0" tIns="0" rIns="0" bIns="0"/>
          <a:lstStyle/>
          <a:p>
            <a:pPr algn="l" rtl="0" eaLnBrk="0">
              <a:lnSpc>
                <a:spcPct val="113000"/>
              </a:lnSpc>
            </a:pPr>
            <a:endParaRPr sz="1000" dirty="0">
              <a:latin typeface="Arial" panose="020B0604020202020204"/>
              <a:ea typeface="Arial" panose="020B0604020202020204"/>
              <a:cs typeface="Arial" panose="020B0604020202020204"/>
            </a:endParaRPr>
          </a:p>
          <a:p>
            <a:pPr marL="257175" algn="l" rtl="0" eaLnBrk="0">
              <a:lnSpc>
                <a:spcPct val="89000"/>
              </a:lnSpc>
              <a:spcBef>
                <a:spcPts val="5"/>
              </a:spcBef>
            </a:pP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Hose</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model中，对于每个节点，只规定其</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最</a:t>
            </a:r>
            <a:endParaRPr sz="2400" dirty="0">
              <a:latin typeface="微软雅黑" panose="020B0503020204020204" charset="-122"/>
              <a:ea typeface="微软雅黑" panose="020B0503020204020204" charset="-122"/>
              <a:cs typeface="微软雅黑" panose="020B0503020204020204" charset="-122"/>
            </a:endParaRPr>
          </a:p>
          <a:p>
            <a:pPr marL="231775" algn="l" rtl="0" eaLnBrk="0">
              <a:lnSpc>
                <a:spcPct val="89000"/>
              </a:lnSpc>
              <a:spcBef>
                <a:spcPts val="83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大输入/输出带宽，而不关心具体的流量对</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端是</a:t>
            </a:r>
            <a:endParaRPr sz="2400" dirty="0">
              <a:latin typeface="微软雅黑" panose="020B0503020204020204" charset="-122"/>
              <a:ea typeface="微软雅黑" panose="020B0503020204020204" charset="-122"/>
              <a:cs typeface="微软雅黑" panose="020B0503020204020204" charset="-122"/>
            </a:endParaRPr>
          </a:p>
          <a:p>
            <a:pPr marL="232410" algn="l" rtl="0" eaLnBrk="0">
              <a:lnSpc>
                <a:spcPts val="3395"/>
              </a:lnSpc>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谁。例如，节点A的出口&lt;x Gbp</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s，入口&lt;y</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700" dirty="0">
              <a:latin typeface="Arial" panose="020B0604020202020204"/>
              <a:ea typeface="Arial" panose="020B0604020202020204"/>
              <a:cs typeface="Arial" panose="020B0604020202020204"/>
            </a:endParaRPr>
          </a:p>
          <a:p>
            <a:pPr marL="241935" algn="l" rtl="0" eaLnBrk="0">
              <a:lnSpc>
                <a:spcPct val="100000"/>
              </a:lnSpc>
              <a:spcBef>
                <a:spcPts val="5"/>
              </a:spcBef>
            </a:pPr>
            <a:r>
              <a:rPr sz="2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Gbps（例如网卡速度）。这是一种灵活的模型。</a:t>
            </a:r>
            <a:endParaRPr sz="2400" dirty="0">
              <a:latin typeface="微软雅黑" panose="020B0503020204020204" charset="-122"/>
              <a:ea typeface="微软雅黑" panose="020B0503020204020204" charset="-122"/>
              <a:cs typeface="微软雅黑" panose="020B0503020204020204" charset="-122"/>
            </a:endParaRPr>
          </a:p>
        </p:txBody>
      </p:sp>
      <p:sp>
        <p:nvSpPr>
          <p:cNvPr id="412" name="textbox 412"/>
          <p:cNvSpPr/>
          <p:nvPr/>
        </p:nvSpPr>
        <p:spPr>
          <a:xfrm>
            <a:off x="327564" y="317074"/>
            <a:ext cx="655065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Background</a:t>
            </a:r>
            <a:r>
              <a:rPr sz="2700" b="1" kern="0" spc="500" dirty="0">
                <a:solidFill>
                  <a:srgbClr val="F26849">
                    <a:alpha val="100000"/>
                  </a:srgbClr>
                </a:solidFill>
                <a:latin typeface="微软雅黑" panose="020B0503020204020204" charset="-122"/>
                <a:ea typeface="微软雅黑" panose="020B0503020204020204" charset="-122"/>
                <a:cs typeface="微软雅黑" panose="020B0503020204020204" charset="-122"/>
              </a:rPr>
              <a:t>：</a:t>
            </a:r>
            <a:r>
              <a:rPr sz="2700" b="1" kern="0" spc="-70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Valiant</a:t>
            </a:r>
            <a:r>
              <a:rPr sz="2700" b="1" kern="0" spc="2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Load</a:t>
            </a:r>
            <a:r>
              <a:rPr sz="2700" b="1" kern="0" spc="2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Balancing</a:t>
            </a:r>
            <a:endParaRPr sz="2700" dirty="0">
              <a:latin typeface="微软雅黑" panose="020B0503020204020204" charset="-122"/>
              <a:ea typeface="微软雅黑" panose="020B0503020204020204" charset="-122"/>
              <a:cs typeface="微软雅黑" panose="020B0503020204020204" charset="-122"/>
            </a:endParaRPr>
          </a:p>
        </p:txBody>
      </p:sp>
      <p:pic>
        <p:nvPicPr>
          <p:cNvPr id="414" name="picture 414"/>
          <p:cNvPicPr>
            <a:picLocks noChangeAspect="1"/>
          </p:cNvPicPr>
          <p:nvPr/>
        </p:nvPicPr>
        <p:blipFill>
          <a:blip r:embed="rId6"/>
          <a:stretch>
            <a:fillRect/>
          </a:stretch>
        </p:blipFill>
        <p:spPr>
          <a:xfrm rot="21600000">
            <a:off x="11338559" y="18288"/>
            <a:ext cx="720852" cy="719328"/>
          </a:xfrm>
          <a:prstGeom prst="rect">
            <a:avLst/>
          </a:prstGeom>
        </p:spPr>
      </p:pic>
      <p:pic>
        <p:nvPicPr>
          <p:cNvPr id="416" name="picture 416"/>
          <p:cNvPicPr>
            <a:picLocks noChangeAspect="1"/>
          </p:cNvPicPr>
          <p:nvPr/>
        </p:nvPicPr>
        <p:blipFill>
          <a:blip r:embed="rId7"/>
          <a:stretch>
            <a:fillRect/>
          </a:stretch>
        </p:blipFill>
        <p:spPr>
          <a:xfrm rot="21600000">
            <a:off x="155447" y="751332"/>
            <a:ext cx="11881104" cy="19811"/>
          </a:xfrm>
          <a:prstGeom prst="rect">
            <a:avLst/>
          </a:prstGeom>
        </p:spPr>
      </p:pic>
      <p:pic>
        <p:nvPicPr>
          <p:cNvPr id="418" name="picture 418"/>
          <p:cNvPicPr>
            <a:picLocks noChangeAspect="1"/>
          </p:cNvPicPr>
          <p:nvPr/>
        </p:nvPicPr>
        <p:blipFill>
          <a:blip r:embed="rId8"/>
          <a:stretch>
            <a:fillRect/>
          </a:stretch>
        </p:blipFill>
        <p:spPr>
          <a:xfrm rot="21600000">
            <a:off x="161544" y="6461759"/>
            <a:ext cx="11879580" cy="18288"/>
          </a:xfrm>
          <a:prstGeom prst="rect">
            <a:avLst/>
          </a:prstGeom>
        </p:spPr>
      </p:pic>
      <p:sp>
        <p:nvSpPr>
          <p:cNvPr id="420" name="textbox 420"/>
          <p:cNvSpPr/>
          <p:nvPr/>
        </p:nvSpPr>
        <p:spPr>
          <a:xfrm>
            <a:off x="11588360" y="6559321"/>
            <a:ext cx="24447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40" dirty="0">
                <a:solidFill>
                  <a:srgbClr val="000000">
                    <a:alpha val="100000"/>
                  </a:srgbClr>
                </a:solidFill>
                <a:latin typeface="Calibri" panose="020F0502020204030204"/>
                <a:ea typeface="Calibri" panose="020F0502020204030204"/>
                <a:cs typeface="Calibri" panose="020F0502020204030204"/>
              </a:rPr>
              <a:t>21</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rect 422"/>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424" name="textbox 424"/>
          <p:cNvSpPr/>
          <p:nvPr/>
        </p:nvSpPr>
        <p:spPr>
          <a:xfrm>
            <a:off x="2935602" y="1151763"/>
            <a:ext cx="6261100" cy="389699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2316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426" name="picture 426"/>
          <p:cNvPicPr>
            <a:picLocks noChangeAspect="1"/>
          </p:cNvPicPr>
          <p:nvPr/>
        </p:nvPicPr>
        <p:blipFill>
          <a:blip r:embed="rId1"/>
          <a:stretch>
            <a:fillRect/>
          </a:stretch>
        </p:blipFill>
        <p:spPr>
          <a:xfrm rot="21600000">
            <a:off x="0" y="0"/>
            <a:ext cx="12192000" cy="288035"/>
          </a:xfrm>
          <a:prstGeom prst="rect">
            <a:avLst/>
          </a:prstGeom>
        </p:spPr>
      </p:pic>
      <p:pic>
        <p:nvPicPr>
          <p:cNvPr id="428" name="picture 428"/>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textbox 430"/>
          <p:cNvSpPr/>
          <p:nvPr/>
        </p:nvSpPr>
        <p:spPr>
          <a:xfrm>
            <a:off x="702818" y="1342897"/>
            <a:ext cx="10693400" cy="4004945"/>
          </a:xfrm>
          <a:prstGeom prst="roundRect">
            <a:avLst>
              <a:gd name="adj" fmla="val 7566"/>
            </a:avLst>
          </a:prstGeom>
          <a:noFill/>
          <a:ln w="25400" cap="flat">
            <a:solidFill>
              <a:srgbClr val="A5A5A5"/>
            </a:solidFill>
            <a:prstDash val="solid"/>
            <a:miter lim="0"/>
          </a:ln>
        </p:spPr>
        <p:txBody>
          <a:bodyPr vert="horz" wrap="square" lIns="0" tIns="0" rIns="0" bIns="0"/>
          <a:lstStyle/>
          <a:p>
            <a:pPr algn="l" rtl="0" eaLnBrk="0">
              <a:lnSpc>
                <a:spcPct val="127000"/>
              </a:lnSpc>
            </a:pPr>
            <a:endParaRPr sz="200" dirty="0">
              <a:latin typeface="Arial" panose="020B0604020202020204"/>
              <a:ea typeface="Arial" panose="020B0604020202020204"/>
              <a:cs typeface="Arial" panose="020B0604020202020204"/>
            </a:endParaRPr>
          </a:p>
          <a:p>
            <a:pPr marL="288925" indent="5715" algn="l" rtl="0" eaLnBrk="0">
              <a:lnSpc>
                <a:spcPct val="147000"/>
              </a:lnSpc>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为了设计适合云服务的网络机制，作者对用于实际</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生产的数据中心网络进</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行观测，并得到了两条关键的信息，以及对于网络设计的指导：</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68000"/>
              </a:lnSpc>
            </a:pPr>
            <a:endParaRPr sz="1000" dirty="0">
              <a:latin typeface="Arial" panose="020B0604020202020204"/>
              <a:ea typeface="Arial" panose="020B0604020202020204"/>
              <a:cs typeface="Arial" panose="020B0604020202020204"/>
            </a:endParaRPr>
          </a:p>
          <a:p>
            <a:pPr marL="745490" indent="-429260" algn="l" rtl="0" eaLnBrk="0">
              <a:lnSpc>
                <a:spcPct val="122000"/>
              </a:lnSpc>
              <a:spcBef>
                <a:spcPts val="72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   流量模式高度发散（种类多，</a:t>
            </a:r>
            <a:r>
              <a:rPr sz="2400" kern="0" spc="-4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50个流量模式矩阵只能勉强代表DCN的</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流量模式</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变化迅速且不可预</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测</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72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744855" indent="-442595" algn="l" rtl="0" eaLnBrk="0">
              <a:lnSpc>
                <a:spcPct val="124000"/>
              </a:lnSpc>
              <a:spcBef>
                <a:spcPts val="5"/>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  层次拓扑不可</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靠：即使投入大量工作和开销，顶层网络设备的故障仍然</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造成严重downtime</a:t>
            </a:r>
            <a:endParaRPr sz="2400" dirty="0">
              <a:latin typeface="微软雅黑" panose="020B0503020204020204" charset="-122"/>
              <a:ea typeface="微软雅黑" panose="020B0503020204020204" charset="-122"/>
              <a:cs typeface="微软雅黑" panose="020B0503020204020204" charset="-122"/>
            </a:endParaRPr>
          </a:p>
        </p:txBody>
      </p:sp>
      <p:sp>
        <p:nvSpPr>
          <p:cNvPr id="432" name="textbox 432"/>
          <p:cNvSpPr/>
          <p:nvPr/>
        </p:nvSpPr>
        <p:spPr>
          <a:xfrm>
            <a:off x="327564" y="317074"/>
            <a:ext cx="5374004"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440" dirty="0">
                <a:solidFill>
                  <a:srgbClr val="F26849">
                    <a:alpha val="100000"/>
                  </a:srgbClr>
                </a:solidFill>
                <a:latin typeface="微软雅黑" panose="020B0503020204020204" charset="-122"/>
                <a:ea typeface="微软雅黑" panose="020B0503020204020204" charset="-122"/>
                <a:cs typeface="微软雅黑" panose="020B0503020204020204" charset="-122"/>
              </a:rPr>
              <a:t> &amp;</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p:txBody>
      </p:sp>
      <p:pic>
        <p:nvPicPr>
          <p:cNvPr id="434" name="picture 434"/>
          <p:cNvPicPr>
            <a:picLocks noChangeAspect="1"/>
          </p:cNvPicPr>
          <p:nvPr/>
        </p:nvPicPr>
        <p:blipFill>
          <a:blip r:embed="rId1"/>
          <a:stretch>
            <a:fillRect/>
          </a:stretch>
        </p:blipFill>
        <p:spPr>
          <a:xfrm rot="21600000">
            <a:off x="11338559" y="18288"/>
            <a:ext cx="720852" cy="719328"/>
          </a:xfrm>
          <a:prstGeom prst="rect">
            <a:avLst/>
          </a:prstGeom>
        </p:spPr>
      </p:pic>
      <p:pic>
        <p:nvPicPr>
          <p:cNvPr id="436" name="picture 436"/>
          <p:cNvPicPr>
            <a:picLocks noChangeAspect="1"/>
          </p:cNvPicPr>
          <p:nvPr/>
        </p:nvPicPr>
        <p:blipFill>
          <a:blip r:embed="rId2"/>
          <a:stretch>
            <a:fillRect/>
          </a:stretch>
        </p:blipFill>
        <p:spPr>
          <a:xfrm rot="21600000">
            <a:off x="155447" y="751332"/>
            <a:ext cx="11881104" cy="19811"/>
          </a:xfrm>
          <a:prstGeom prst="rect">
            <a:avLst/>
          </a:prstGeom>
        </p:spPr>
      </p:pic>
      <p:pic>
        <p:nvPicPr>
          <p:cNvPr id="438" name="picture 438"/>
          <p:cNvPicPr>
            <a:picLocks noChangeAspect="1"/>
          </p:cNvPicPr>
          <p:nvPr/>
        </p:nvPicPr>
        <p:blipFill>
          <a:blip r:embed="rId3"/>
          <a:stretch>
            <a:fillRect/>
          </a:stretch>
        </p:blipFill>
        <p:spPr>
          <a:xfrm rot="21600000">
            <a:off x="161544" y="6461759"/>
            <a:ext cx="11879580" cy="18288"/>
          </a:xfrm>
          <a:prstGeom prst="rect">
            <a:avLst/>
          </a:prstGeom>
        </p:spPr>
      </p:pic>
      <p:sp>
        <p:nvSpPr>
          <p:cNvPr id="440" name="textbox 440"/>
          <p:cNvSpPr/>
          <p:nvPr/>
        </p:nvSpPr>
        <p:spPr>
          <a:xfrm>
            <a:off x="11588360" y="6559321"/>
            <a:ext cx="24447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40" dirty="0">
                <a:solidFill>
                  <a:srgbClr val="000000">
                    <a:alpha val="100000"/>
                  </a:srgbClr>
                </a:solidFill>
                <a:latin typeface="Calibri" panose="020F0502020204030204"/>
                <a:ea typeface="Calibri" panose="020F0502020204030204"/>
                <a:cs typeface="Calibri" panose="020F0502020204030204"/>
              </a:rPr>
              <a:t>23</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rect 442"/>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444" name="textbox 444"/>
          <p:cNvSpPr/>
          <p:nvPr/>
        </p:nvSpPr>
        <p:spPr>
          <a:xfrm>
            <a:off x="2906265" y="436372"/>
            <a:ext cx="6320154" cy="6214109"/>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51735"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1.</a:t>
            </a:r>
            <a:r>
              <a:rPr sz="2700" b="1" kern="0" spc="9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Data</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Center</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Traffic</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100000"/>
              </a:lnSpc>
              <a:spcBef>
                <a:spcPts val="1325"/>
              </a:spcBef>
            </a:pPr>
            <a:r>
              <a:rPr sz="2700" b="1" kern="0" spc="210" dirty="0">
                <a:solidFill>
                  <a:srgbClr val="D9D9D9">
                    <a:alpha val="100000"/>
                  </a:srgbClr>
                </a:solidFill>
                <a:latin typeface="微软雅黑" panose="020B0503020204020204" charset="-122"/>
                <a:ea typeface="微软雅黑" panose="020B0503020204020204" charset="-122"/>
                <a:cs typeface="微软雅黑" panose="020B0503020204020204" charset="-122"/>
              </a:rPr>
              <a:t>2.</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Flow</a:t>
            </a:r>
            <a:r>
              <a:rPr sz="2700" b="1" kern="0" spc="2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Distribution</a:t>
            </a:r>
            <a:r>
              <a:rPr sz="2700" b="1" kern="0" spc="2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320"/>
              </a:spcBef>
            </a:pP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Traffic</a:t>
            </a:r>
            <a:r>
              <a:rPr sz="2700" b="1" kern="0" spc="3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Matrix</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73710" algn="l" rtl="0" eaLnBrk="0">
              <a:lnSpc>
                <a:spcPct val="92000"/>
              </a:lnSpc>
              <a:spcBef>
                <a:spcPts val="1320"/>
              </a:spcBef>
            </a:pP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4.</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Failure</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Characteristics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446" name="picture 446"/>
          <p:cNvPicPr>
            <a:picLocks noChangeAspect="1"/>
          </p:cNvPicPr>
          <p:nvPr/>
        </p:nvPicPr>
        <p:blipFill>
          <a:blip r:embed="rId1"/>
          <a:stretch>
            <a:fillRect/>
          </a:stretch>
        </p:blipFill>
        <p:spPr>
          <a:xfrm rot="21600000">
            <a:off x="0" y="0"/>
            <a:ext cx="12192000" cy="288035"/>
          </a:xfrm>
          <a:prstGeom prst="rect">
            <a:avLst/>
          </a:prstGeom>
        </p:spPr>
      </p:pic>
      <p:pic>
        <p:nvPicPr>
          <p:cNvPr id="448" name="picture 448"/>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textbox 450"/>
          <p:cNvSpPr/>
          <p:nvPr/>
        </p:nvSpPr>
        <p:spPr>
          <a:xfrm>
            <a:off x="519938" y="1579117"/>
            <a:ext cx="11158219" cy="4320540"/>
          </a:xfrm>
          <a:prstGeom prst="roundRect">
            <a:avLst>
              <a:gd name="adj" fmla="val 7523"/>
            </a:avLst>
          </a:prstGeom>
          <a:noFill/>
          <a:ln w="25400" cap="flat">
            <a:solidFill>
              <a:srgbClr val="A5A5A5"/>
            </a:solidFill>
            <a:prstDash val="solid"/>
            <a:miter lim="0"/>
          </a:ln>
        </p:spPr>
        <p:txBody>
          <a:bodyPr vert="horz" wrap="square" lIns="0" tIns="0" rIns="0" bIns="0"/>
          <a:lstStyle/>
          <a:p>
            <a:pPr algn="l" rtl="0" eaLnBrk="0">
              <a:lnSpc>
                <a:spcPct val="197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54000" algn="l" rtl="0" eaLnBrk="0">
              <a:lnSpc>
                <a:spcPct val="89000"/>
              </a:lnSpc>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对数据中心NetFlow和SNMP数据的观测展</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现了4个宏观特征</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85000"/>
              </a:lnSpc>
            </a:pPr>
            <a:endParaRPr sz="1000" dirty="0">
              <a:latin typeface="Arial" panose="020B0604020202020204"/>
              <a:ea typeface="Arial" panose="020B0604020202020204"/>
              <a:cs typeface="Arial" panose="020B0604020202020204"/>
            </a:endParaRPr>
          </a:p>
          <a:p>
            <a:pPr marL="597535" indent="-321945" algn="l" rtl="0" eaLnBrk="0">
              <a:lnSpc>
                <a:spcPct val="124000"/>
              </a:lnSpc>
              <a:spcBef>
                <a:spcPts val="720"/>
              </a:spcBef>
              <a:tabLst>
                <a:tab pos="4921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东西向</a:t>
            </a:r>
            <a:r>
              <a:rPr sz="2400" kern="0" spc="3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&gt; 南北向：数据中心服务器间的流量与进出数据中心的流量的</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比例大</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致是4:1</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66000"/>
              </a:lnSpc>
            </a:pPr>
            <a:endParaRPr sz="1000" dirty="0">
              <a:latin typeface="Arial" panose="020B0604020202020204"/>
              <a:ea typeface="Arial" panose="020B0604020202020204"/>
              <a:cs typeface="Arial" panose="020B0604020202020204"/>
            </a:endParaRPr>
          </a:p>
          <a:p>
            <a:pPr marL="275590" algn="l" rtl="0" eaLnBrk="0">
              <a:lnSpc>
                <a:spcPct val="89000"/>
              </a:lnSpc>
              <a:spcBef>
                <a:spcPts val="725"/>
              </a:spcBef>
              <a:tabLst>
                <a:tab pos="4921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数据中心计算集中在那些能够快速、低成本地访问内存或磁盘数</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据的地方</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86000"/>
              </a:lnSpc>
            </a:pPr>
            <a:endParaRPr sz="1000" dirty="0">
              <a:latin typeface="Arial" panose="020B0604020202020204"/>
              <a:ea typeface="Arial" panose="020B0604020202020204"/>
              <a:cs typeface="Arial" panose="020B0604020202020204"/>
            </a:endParaRPr>
          </a:p>
          <a:p>
            <a:pPr marL="275590" algn="l" rtl="0" eaLnBrk="0">
              <a:lnSpc>
                <a:spcPct val="89000"/>
              </a:lnSpc>
              <a:spcBef>
                <a:spcPts val="725"/>
              </a:spcBef>
              <a:tabLst>
                <a:tab pos="4921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数据中心内部服务器间的带宽需求增长速度快于对外部主机的带宽需</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求增长</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86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275590" algn="l" rtl="0" eaLnBrk="0">
              <a:lnSpc>
                <a:spcPct val="89000"/>
              </a:lnSpc>
              <a:spcBef>
                <a:spcPts val="0"/>
              </a:spcBef>
              <a:tabLst>
                <a:tab pos="4921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网络成为计算瓶颈：ToR交换机带宽往往可达80%以上</a:t>
            </a:r>
            <a:endParaRPr sz="2400" dirty="0">
              <a:latin typeface="微软雅黑" panose="020B0503020204020204" charset="-122"/>
              <a:ea typeface="微软雅黑" panose="020B0503020204020204" charset="-122"/>
              <a:cs typeface="微软雅黑" panose="020B0503020204020204" charset="-122"/>
            </a:endParaRPr>
          </a:p>
        </p:txBody>
      </p:sp>
      <p:pic>
        <p:nvPicPr>
          <p:cNvPr id="452" name="picture 452"/>
          <p:cNvPicPr>
            <a:picLocks noChangeAspect="1"/>
          </p:cNvPicPr>
          <p:nvPr/>
        </p:nvPicPr>
        <p:blipFill>
          <a:blip r:embed="rId1"/>
          <a:stretch>
            <a:fillRect/>
          </a:stretch>
        </p:blipFill>
        <p:spPr>
          <a:xfrm rot="21600000">
            <a:off x="890930" y="5353862"/>
            <a:ext cx="216408" cy="223723"/>
          </a:xfrm>
          <a:prstGeom prst="rect">
            <a:avLst/>
          </a:prstGeom>
        </p:spPr>
      </p:pic>
      <p:pic>
        <p:nvPicPr>
          <p:cNvPr id="454" name="picture 454"/>
          <p:cNvPicPr>
            <a:picLocks noChangeAspect="1"/>
          </p:cNvPicPr>
          <p:nvPr/>
        </p:nvPicPr>
        <p:blipFill>
          <a:blip r:embed="rId2"/>
          <a:stretch>
            <a:fillRect/>
          </a:stretch>
        </p:blipFill>
        <p:spPr>
          <a:xfrm rot="21600000">
            <a:off x="890955" y="4652217"/>
            <a:ext cx="216624" cy="223946"/>
          </a:xfrm>
          <a:prstGeom prst="rect">
            <a:avLst/>
          </a:prstGeom>
        </p:spPr>
      </p:pic>
      <p:pic>
        <p:nvPicPr>
          <p:cNvPr id="456" name="picture 456"/>
          <p:cNvPicPr>
            <a:picLocks noChangeAspect="1"/>
          </p:cNvPicPr>
          <p:nvPr/>
        </p:nvPicPr>
        <p:blipFill>
          <a:blip r:embed="rId3"/>
          <a:stretch>
            <a:fillRect/>
          </a:stretch>
        </p:blipFill>
        <p:spPr>
          <a:xfrm rot="21600000">
            <a:off x="890930" y="3951401"/>
            <a:ext cx="216408" cy="223723"/>
          </a:xfrm>
          <a:prstGeom prst="rect">
            <a:avLst/>
          </a:prstGeom>
        </p:spPr>
      </p:pic>
      <p:pic>
        <p:nvPicPr>
          <p:cNvPr id="458" name="picture 458"/>
          <p:cNvPicPr>
            <a:picLocks noChangeAspect="1"/>
          </p:cNvPicPr>
          <p:nvPr/>
        </p:nvPicPr>
        <p:blipFill>
          <a:blip r:embed="rId3"/>
          <a:stretch>
            <a:fillRect/>
          </a:stretch>
        </p:blipFill>
        <p:spPr>
          <a:xfrm rot="21600000">
            <a:off x="890930" y="2701467"/>
            <a:ext cx="216408" cy="223723"/>
          </a:xfrm>
          <a:prstGeom prst="rect">
            <a:avLst/>
          </a:prstGeom>
        </p:spPr>
      </p:pic>
      <p:sp>
        <p:nvSpPr>
          <p:cNvPr id="460" name="textbox 460"/>
          <p:cNvSpPr/>
          <p:nvPr/>
        </p:nvSpPr>
        <p:spPr>
          <a:xfrm>
            <a:off x="324014" y="317074"/>
            <a:ext cx="5624195"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20" dirty="0">
                <a:solidFill>
                  <a:srgbClr val="F26849">
                    <a:alpha val="100000"/>
                  </a:srgbClr>
                </a:solidFill>
                <a:latin typeface="微软雅黑" panose="020B0503020204020204" charset="-122"/>
                <a:ea typeface="微软雅黑" panose="020B0503020204020204" charset="-122"/>
                <a:cs typeface="微软雅黑" panose="020B0503020204020204" charset="-122"/>
              </a:rPr>
              <a:t>3.1</a:t>
            </a:r>
            <a:r>
              <a:rPr sz="2700" b="1" kern="0" spc="30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Data</a:t>
            </a:r>
            <a:r>
              <a:rPr sz="2700" b="1" kern="0" spc="120" dirty="0">
                <a:solidFill>
                  <a:srgbClr val="F26849">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Center</a:t>
            </a:r>
            <a:r>
              <a:rPr sz="2700" b="1" kern="0" spc="12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Traffic</a:t>
            </a:r>
            <a:r>
              <a:rPr sz="2700" b="1" kern="0" spc="12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p:txBody>
      </p:sp>
      <p:sp>
        <p:nvSpPr>
          <p:cNvPr id="462" name="textbox 462"/>
          <p:cNvSpPr/>
          <p:nvPr/>
        </p:nvSpPr>
        <p:spPr>
          <a:xfrm>
            <a:off x="613456" y="1059897"/>
            <a:ext cx="2863850"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数据中心流量分析</a:t>
            </a:r>
            <a:endParaRPr sz="2700" dirty="0">
              <a:latin typeface="微软雅黑" panose="020B0503020204020204" charset="-122"/>
              <a:ea typeface="微软雅黑" panose="020B0503020204020204" charset="-122"/>
              <a:cs typeface="微软雅黑" panose="020B0503020204020204" charset="-122"/>
            </a:endParaRPr>
          </a:p>
        </p:txBody>
      </p:sp>
      <p:pic>
        <p:nvPicPr>
          <p:cNvPr id="464" name="picture 464"/>
          <p:cNvPicPr>
            <a:picLocks noChangeAspect="1"/>
          </p:cNvPicPr>
          <p:nvPr/>
        </p:nvPicPr>
        <p:blipFill>
          <a:blip r:embed="rId4"/>
          <a:stretch>
            <a:fillRect/>
          </a:stretch>
        </p:blipFill>
        <p:spPr>
          <a:xfrm rot="21600000">
            <a:off x="11338559" y="18288"/>
            <a:ext cx="720852" cy="719328"/>
          </a:xfrm>
          <a:prstGeom prst="rect">
            <a:avLst/>
          </a:prstGeom>
        </p:spPr>
      </p:pic>
      <p:pic>
        <p:nvPicPr>
          <p:cNvPr id="466" name="picture 466"/>
          <p:cNvPicPr>
            <a:picLocks noChangeAspect="1"/>
          </p:cNvPicPr>
          <p:nvPr/>
        </p:nvPicPr>
        <p:blipFill>
          <a:blip r:embed="rId5"/>
          <a:stretch>
            <a:fillRect/>
          </a:stretch>
        </p:blipFill>
        <p:spPr>
          <a:xfrm rot="21600000">
            <a:off x="155447" y="751332"/>
            <a:ext cx="11881104" cy="19811"/>
          </a:xfrm>
          <a:prstGeom prst="rect">
            <a:avLst/>
          </a:prstGeom>
        </p:spPr>
      </p:pic>
      <p:pic>
        <p:nvPicPr>
          <p:cNvPr id="468" name="picture 468"/>
          <p:cNvPicPr>
            <a:picLocks noChangeAspect="1"/>
          </p:cNvPicPr>
          <p:nvPr/>
        </p:nvPicPr>
        <p:blipFill>
          <a:blip r:embed="rId6"/>
          <a:stretch>
            <a:fillRect/>
          </a:stretch>
        </p:blipFill>
        <p:spPr>
          <a:xfrm rot="21600000">
            <a:off x="161544" y="6461759"/>
            <a:ext cx="11879580" cy="18288"/>
          </a:xfrm>
          <a:prstGeom prst="rect">
            <a:avLst/>
          </a:prstGeom>
        </p:spPr>
      </p:pic>
      <p:sp>
        <p:nvSpPr>
          <p:cNvPr id="470" name="textbox 470"/>
          <p:cNvSpPr/>
          <p:nvPr/>
        </p:nvSpPr>
        <p:spPr>
          <a:xfrm>
            <a:off x="11588360" y="6559321"/>
            <a:ext cx="24447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40" dirty="0">
                <a:solidFill>
                  <a:srgbClr val="000000">
                    <a:alpha val="100000"/>
                  </a:srgbClr>
                </a:solidFill>
                <a:latin typeface="Calibri" panose="020F0502020204030204"/>
                <a:ea typeface="Calibri" panose="020F0502020204030204"/>
                <a:cs typeface="Calibri" panose="020F0502020204030204"/>
              </a:rPr>
              <a:t>25</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rect 472"/>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474" name="textbox 474"/>
          <p:cNvSpPr/>
          <p:nvPr/>
        </p:nvSpPr>
        <p:spPr>
          <a:xfrm>
            <a:off x="2906265" y="436372"/>
            <a:ext cx="6320154" cy="6214109"/>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51735"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1.</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Data</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Center</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Traffic</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100000"/>
              </a:lnSpc>
              <a:spcBef>
                <a:spcPts val="1325"/>
              </a:spcBef>
            </a:pPr>
            <a:r>
              <a:rPr sz="2700" b="1" kern="0" spc="210" dirty="0">
                <a:solidFill>
                  <a:srgbClr val="4472C4">
                    <a:alpha val="100000"/>
                  </a:srgbClr>
                </a:solidFill>
                <a:latin typeface="微软雅黑" panose="020B0503020204020204" charset="-122"/>
                <a:ea typeface="微软雅黑" panose="020B0503020204020204" charset="-122"/>
                <a:cs typeface="微软雅黑" panose="020B0503020204020204" charset="-122"/>
              </a:rPr>
              <a:t>2.</a:t>
            </a:r>
            <a:r>
              <a:rPr sz="2700" b="1" kern="0" spc="9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Flow</a:t>
            </a:r>
            <a:r>
              <a:rPr sz="2700" b="1" kern="0" spc="29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Distribution</a:t>
            </a:r>
            <a:r>
              <a:rPr sz="2700" b="1" kern="0" spc="21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320"/>
              </a:spcBef>
            </a:pP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Traffic</a:t>
            </a:r>
            <a:r>
              <a:rPr sz="2700" b="1" kern="0" spc="3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Matrix</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73710" algn="l" rtl="0" eaLnBrk="0">
              <a:lnSpc>
                <a:spcPct val="92000"/>
              </a:lnSpc>
              <a:spcBef>
                <a:spcPts val="1320"/>
              </a:spcBef>
            </a:pP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4.</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Failure</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Characteristics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476" name="picture 476"/>
          <p:cNvPicPr>
            <a:picLocks noChangeAspect="1"/>
          </p:cNvPicPr>
          <p:nvPr/>
        </p:nvPicPr>
        <p:blipFill>
          <a:blip r:embed="rId1"/>
          <a:stretch>
            <a:fillRect/>
          </a:stretch>
        </p:blipFill>
        <p:spPr>
          <a:xfrm rot="21600000">
            <a:off x="0" y="0"/>
            <a:ext cx="12192000" cy="288035"/>
          </a:xfrm>
          <a:prstGeom prst="rect">
            <a:avLst/>
          </a:prstGeom>
        </p:spPr>
      </p:pic>
      <p:pic>
        <p:nvPicPr>
          <p:cNvPr id="478" name="picture 478"/>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textbox 480"/>
          <p:cNvSpPr/>
          <p:nvPr/>
        </p:nvSpPr>
        <p:spPr>
          <a:xfrm>
            <a:off x="519938" y="3822445"/>
            <a:ext cx="6761480" cy="2497454"/>
          </a:xfrm>
          <a:prstGeom prst="roundRect">
            <a:avLst>
              <a:gd name="adj" fmla="val 7923"/>
            </a:avLst>
          </a:prstGeom>
          <a:noFill/>
          <a:ln w="25400" cap="flat">
            <a:solidFill>
              <a:srgbClr val="A5A5A5"/>
            </a:solidFill>
            <a:prstDash val="solid"/>
            <a:miter lim="0"/>
          </a:ln>
        </p:spPr>
        <p:txBody>
          <a:bodyPr vert="horz" wrap="square" lIns="0" tIns="0" rIns="0" bIns="0"/>
          <a:lstStyle/>
          <a:p>
            <a:pPr algn="l" rtl="0" eaLnBrk="0">
              <a:lnSpc>
                <a:spcPct val="117000"/>
              </a:lnSpc>
            </a:pPr>
            <a:endParaRPr sz="1000" dirty="0">
              <a:latin typeface="Arial" panose="020B0604020202020204"/>
              <a:ea typeface="Arial" panose="020B0604020202020204"/>
              <a:cs typeface="Arial" panose="020B0604020202020204"/>
            </a:endParaRPr>
          </a:p>
          <a:p>
            <a:pPr marL="116840" indent="635" algn="l" rtl="0" eaLnBrk="0">
              <a:lnSpc>
                <a:spcPct val="94000"/>
              </a:lnSpc>
              <a:spcBef>
                <a:spcPts val="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流大小和并发数量的分布都表明VL</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B在云服务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数据中心中会表现良好：</a:t>
            </a:r>
            <a:endParaRPr sz="2400" dirty="0">
              <a:latin typeface="微软雅黑" panose="020B0503020204020204" charset="-122"/>
              <a:ea typeface="微软雅黑" panose="020B0503020204020204" charset="-122"/>
              <a:cs typeface="微软雅黑" panose="020B0503020204020204" charset="-122"/>
            </a:endParaRPr>
          </a:p>
          <a:p>
            <a:pPr marL="139700" algn="l" rtl="0" eaLnBrk="0">
              <a:lnSpc>
                <a:spcPct val="89000"/>
              </a:lnSpc>
              <a:spcBef>
                <a:spcPts val="1520"/>
              </a:spcBef>
              <a:tabLst>
                <a:tab pos="3556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最大流也不过100MB，可</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以按流粒度随机</a:t>
            </a:r>
            <a:r>
              <a:rPr sz="24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7000"/>
              </a:lnSpc>
            </a:pPr>
            <a:endParaRPr sz="1200" dirty="0">
              <a:latin typeface="Arial" panose="020B0604020202020204"/>
              <a:ea typeface="Arial" panose="020B0604020202020204"/>
              <a:cs typeface="Arial" panose="020B0604020202020204"/>
            </a:endParaRPr>
          </a:p>
          <a:p>
            <a:pPr marL="459740" indent="-320040" algn="l" rtl="0" eaLnBrk="0">
              <a:lnSpc>
                <a:spcPct val="94000"/>
              </a:lnSpc>
              <a:spcBef>
                <a:spcPts val="5"/>
              </a:spcBef>
              <a:tabLst>
                <a:tab pos="3556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自适应路由方案很难实现：因为任何基于</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反应的流量调控都至少需要每秒</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运行一次</a:t>
            </a:r>
            <a:endParaRPr sz="2400" dirty="0">
              <a:latin typeface="微软雅黑" panose="020B0503020204020204" charset="-122"/>
              <a:ea typeface="微软雅黑" panose="020B0503020204020204" charset="-122"/>
              <a:cs typeface="微软雅黑" panose="020B0503020204020204" charset="-122"/>
            </a:endParaRPr>
          </a:p>
        </p:txBody>
      </p:sp>
      <p:pic>
        <p:nvPicPr>
          <p:cNvPr id="482" name="picture 482"/>
          <p:cNvPicPr>
            <a:picLocks noChangeAspect="1"/>
          </p:cNvPicPr>
          <p:nvPr/>
        </p:nvPicPr>
        <p:blipFill>
          <a:blip r:embed="rId1"/>
          <a:stretch>
            <a:fillRect/>
          </a:stretch>
        </p:blipFill>
        <p:spPr>
          <a:xfrm rot="21600000">
            <a:off x="717804" y="5482437"/>
            <a:ext cx="216407" cy="223723"/>
          </a:xfrm>
          <a:prstGeom prst="rect">
            <a:avLst/>
          </a:prstGeom>
        </p:spPr>
      </p:pic>
      <p:pic>
        <p:nvPicPr>
          <p:cNvPr id="484" name="picture 484"/>
          <p:cNvPicPr>
            <a:picLocks noChangeAspect="1"/>
          </p:cNvPicPr>
          <p:nvPr/>
        </p:nvPicPr>
        <p:blipFill>
          <a:blip r:embed="rId2"/>
          <a:stretch>
            <a:fillRect/>
          </a:stretch>
        </p:blipFill>
        <p:spPr>
          <a:xfrm rot="21600000">
            <a:off x="717804" y="4964226"/>
            <a:ext cx="216407" cy="223723"/>
          </a:xfrm>
          <a:prstGeom prst="rect">
            <a:avLst/>
          </a:prstGeom>
        </p:spPr>
      </p:pic>
      <p:pic>
        <p:nvPicPr>
          <p:cNvPr id="486" name="picture 486"/>
          <p:cNvPicPr>
            <a:picLocks noChangeAspect="1"/>
          </p:cNvPicPr>
          <p:nvPr/>
        </p:nvPicPr>
        <p:blipFill>
          <a:blip r:embed="rId3"/>
          <a:stretch>
            <a:fillRect/>
          </a:stretch>
        </p:blipFill>
        <p:spPr>
          <a:xfrm rot="21600000">
            <a:off x="11338559" y="18288"/>
            <a:ext cx="720852" cy="719328"/>
          </a:xfrm>
          <a:prstGeom prst="rect">
            <a:avLst/>
          </a:prstGeom>
        </p:spPr>
      </p:pic>
      <p:pic>
        <p:nvPicPr>
          <p:cNvPr id="488" name="picture 488"/>
          <p:cNvPicPr>
            <a:picLocks noChangeAspect="1"/>
          </p:cNvPicPr>
          <p:nvPr/>
        </p:nvPicPr>
        <p:blipFill>
          <a:blip r:embed="rId4"/>
          <a:stretch>
            <a:fillRect/>
          </a:stretch>
        </p:blipFill>
        <p:spPr>
          <a:xfrm rot="21600000">
            <a:off x="155447" y="751332"/>
            <a:ext cx="11881104" cy="19811"/>
          </a:xfrm>
          <a:prstGeom prst="rect">
            <a:avLst/>
          </a:prstGeom>
        </p:spPr>
      </p:pic>
      <p:pic>
        <p:nvPicPr>
          <p:cNvPr id="490" name="picture 490"/>
          <p:cNvPicPr>
            <a:picLocks noChangeAspect="1"/>
          </p:cNvPicPr>
          <p:nvPr/>
        </p:nvPicPr>
        <p:blipFill>
          <a:blip r:embed="rId5"/>
          <a:stretch>
            <a:fillRect/>
          </a:stretch>
        </p:blipFill>
        <p:spPr>
          <a:xfrm rot="21600000">
            <a:off x="7618476" y="38100"/>
            <a:ext cx="4573523" cy="3429000"/>
          </a:xfrm>
          <a:prstGeom prst="rect">
            <a:avLst/>
          </a:prstGeom>
        </p:spPr>
      </p:pic>
      <p:sp>
        <p:nvSpPr>
          <p:cNvPr id="492" name="textbox 492"/>
          <p:cNvSpPr/>
          <p:nvPr/>
        </p:nvSpPr>
        <p:spPr>
          <a:xfrm>
            <a:off x="519938" y="1579117"/>
            <a:ext cx="6761480" cy="2104389"/>
          </a:xfrm>
          <a:prstGeom prst="roundRect">
            <a:avLst>
              <a:gd name="adj" fmla="val 8099"/>
            </a:avLst>
          </a:prstGeom>
          <a:noFill/>
          <a:ln w="25400" cap="flat">
            <a:solidFill>
              <a:srgbClr val="A5A5A5"/>
            </a:solidFill>
            <a:prstDash val="solid"/>
            <a:miter lim="0"/>
          </a:ln>
        </p:spPr>
        <p:txBody>
          <a:bodyPr vert="horz" wrap="square" lIns="0" tIns="0" rIns="0" bIns="0"/>
          <a:lstStyle/>
          <a:p>
            <a:pPr algn="l" rtl="0" eaLnBrk="0">
              <a:lnSpc>
                <a:spcPct val="109000"/>
              </a:lnSpc>
            </a:pPr>
            <a:endParaRPr sz="500" dirty="0">
              <a:latin typeface="Arial" panose="020B0604020202020204"/>
              <a:ea typeface="Arial" panose="020B0604020202020204"/>
              <a:cs typeface="Arial" panose="020B0604020202020204"/>
            </a:endParaRPr>
          </a:p>
          <a:p>
            <a:pPr marL="147320" algn="l" rtl="0" eaLnBrk="0">
              <a:lnSpc>
                <a:spcPct val="89000"/>
              </a:lnSpc>
              <a:tabLst>
                <a:tab pos="3632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流大小的分布</a:t>
            </a:r>
            <a:endParaRPr sz="2400" dirty="0">
              <a:latin typeface="微软雅黑" panose="020B0503020204020204" charset="-122"/>
              <a:ea typeface="微软雅黑" panose="020B0503020204020204" charset="-122"/>
              <a:cs typeface="微软雅黑" panose="020B0503020204020204" charset="-122"/>
            </a:endParaRPr>
          </a:p>
          <a:p>
            <a:pPr marL="605155" algn="l" rtl="0" eaLnBrk="0">
              <a:lnSpc>
                <a:spcPct val="89000"/>
              </a:lnSpc>
              <a:spcBef>
                <a:spcPts val="315"/>
              </a:spcBef>
              <a:tabLst>
                <a:tab pos="82105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90</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流</a:t>
            </a:r>
            <a:r>
              <a:rPr sz="2400"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&lt;</a:t>
            </a:r>
            <a:r>
              <a:rPr sz="24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100</a:t>
            </a:r>
            <a:r>
              <a:rPr sz="24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KB（</a:t>
            </a:r>
            <a:r>
              <a:rPr sz="2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老鼠）</a:t>
            </a:r>
            <a:endParaRPr sz="2400" dirty="0">
              <a:latin typeface="微软雅黑" panose="020B0503020204020204" charset="-122"/>
              <a:ea typeface="微软雅黑" panose="020B0503020204020204" charset="-122"/>
              <a:cs typeface="微软雅黑" panose="020B0503020204020204" charset="-122"/>
            </a:endParaRPr>
          </a:p>
          <a:p>
            <a:pPr marL="605155" algn="l" rtl="0" eaLnBrk="0">
              <a:lnSpc>
                <a:spcPct val="89000"/>
              </a:lnSpc>
              <a:spcBef>
                <a:spcPts val="315"/>
              </a:spcBef>
              <a:tabLst>
                <a:tab pos="82105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90 % 字节落在</a:t>
            </a:r>
            <a:r>
              <a:rPr sz="24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MB-</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GB（大象）</a:t>
            </a:r>
            <a:endParaRPr sz="2400" dirty="0">
              <a:latin typeface="微软雅黑" panose="020B0503020204020204" charset="-122"/>
              <a:ea typeface="微软雅黑" panose="020B0503020204020204" charset="-122"/>
              <a:cs typeface="微软雅黑" panose="020B0503020204020204" charset="-122"/>
            </a:endParaRPr>
          </a:p>
          <a:p>
            <a:pPr marL="147955" algn="l" rtl="0" eaLnBrk="0">
              <a:lnSpc>
                <a:spcPct val="89000"/>
              </a:lnSpc>
              <a:spcBef>
                <a:spcPts val="320"/>
              </a:spcBef>
              <a:tabLst>
                <a:tab pos="36449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并发流数量</a:t>
            </a:r>
            <a:endParaRPr sz="2400" dirty="0">
              <a:latin typeface="微软雅黑" panose="020B0503020204020204" charset="-122"/>
              <a:ea typeface="微软雅黑" panose="020B0503020204020204" charset="-122"/>
              <a:cs typeface="微软雅黑" panose="020B0503020204020204" charset="-122"/>
            </a:endParaRPr>
          </a:p>
          <a:p>
            <a:pPr marL="605155" algn="l" rtl="0" eaLnBrk="0">
              <a:lnSpc>
                <a:spcPct val="89000"/>
              </a:lnSpc>
              <a:spcBef>
                <a:spcPts val="320"/>
              </a:spcBef>
              <a:tabLst>
                <a:tab pos="82105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常模</a:t>
            </a:r>
            <a:r>
              <a:rPr sz="24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10 条/机，峰值 80 条/</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机</a:t>
            </a:r>
            <a:endParaRPr sz="2400" dirty="0">
              <a:latin typeface="微软雅黑" panose="020B0503020204020204" charset="-122"/>
              <a:ea typeface="微软雅黑" panose="020B0503020204020204" charset="-122"/>
              <a:cs typeface="微软雅黑" panose="020B0503020204020204" charset="-122"/>
            </a:endParaRPr>
          </a:p>
        </p:txBody>
      </p:sp>
      <p:pic>
        <p:nvPicPr>
          <p:cNvPr id="494" name="picture 494"/>
          <p:cNvPicPr>
            <a:picLocks noChangeAspect="1"/>
          </p:cNvPicPr>
          <p:nvPr/>
        </p:nvPicPr>
        <p:blipFill>
          <a:blip r:embed="rId1"/>
          <a:stretch>
            <a:fillRect/>
          </a:stretch>
        </p:blipFill>
        <p:spPr>
          <a:xfrm rot="21600000">
            <a:off x="1175308" y="3200069"/>
            <a:ext cx="216408" cy="223723"/>
          </a:xfrm>
          <a:prstGeom prst="rect">
            <a:avLst/>
          </a:prstGeom>
        </p:spPr>
      </p:pic>
      <p:pic>
        <p:nvPicPr>
          <p:cNvPr id="496" name="picture 496"/>
          <p:cNvPicPr>
            <a:picLocks noChangeAspect="1"/>
          </p:cNvPicPr>
          <p:nvPr/>
        </p:nvPicPr>
        <p:blipFill>
          <a:blip r:embed="rId6"/>
          <a:stretch>
            <a:fillRect/>
          </a:stretch>
        </p:blipFill>
        <p:spPr>
          <a:xfrm rot="21600000">
            <a:off x="717829" y="2833832"/>
            <a:ext cx="216624" cy="223946"/>
          </a:xfrm>
          <a:prstGeom prst="rect">
            <a:avLst/>
          </a:prstGeom>
        </p:spPr>
      </p:pic>
      <p:pic>
        <p:nvPicPr>
          <p:cNvPr id="498" name="picture 498"/>
          <p:cNvPicPr>
            <a:picLocks noChangeAspect="1"/>
          </p:cNvPicPr>
          <p:nvPr/>
        </p:nvPicPr>
        <p:blipFill>
          <a:blip r:embed="rId2"/>
          <a:stretch>
            <a:fillRect/>
          </a:stretch>
        </p:blipFill>
        <p:spPr>
          <a:xfrm rot="21600000">
            <a:off x="1175308" y="2468295"/>
            <a:ext cx="216408" cy="223723"/>
          </a:xfrm>
          <a:prstGeom prst="rect">
            <a:avLst/>
          </a:prstGeom>
        </p:spPr>
      </p:pic>
      <p:pic>
        <p:nvPicPr>
          <p:cNvPr id="500" name="picture 500"/>
          <p:cNvPicPr>
            <a:picLocks noChangeAspect="1"/>
          </p:cNvPicPr>
          <p:nvPr/>
        </p:nvPicPr>
        <p:blipFill>
          <a:blip r:embed="rId1"/>
          <a:stretch>
            <a:fillRect/>
          </a:stretch>
        </p:blipFill>
        <p:spPr>
          <a:xfrm rot="21600000">
            <a:off x="1175308" y="2102536"/>
            <a:ext cx="216408" cy="223723"/>
          </a:xfrm>
          <a:prstGeom prst="rect">
            <a:avLst/>
          </a:prstGeom>
        </p:spPr>
      </p:pic>
      <p:pic>
        <p:nvPicPr>
          <p:cNvPr id="502" name="picture 502"/>
          <p:cNvPicPr>
            <a:picLocks noChangeAspect="1"/>
          </p:cNvPicPr>
          <p:nvPr/>
        </p:nvPicPr>
        <p:blipFill>
          <a:blip r:embed="rId2"/>
          <a:stretch>
            <a:fillRect/>
          </a:stretch>
        </p:blipFill>
        <p:spPr>
          <a:xfrm rot="21600000">
            <a:off x="717804" y="1736775"/>
            <a:ext cx="216407" cy="223723"/>
          </a:xfrm>
          <a:prstGeom prst="rect">
            <a:avLst/>
          </a:prstGeom>
        </p:spPr>
      </p:pic>
      <p:pic>
        <p:nvPicPr>
          <p:cNvPr id="504" name="picture 504"/>
          <p:cNvPicPr>
            <a:picLocks noChangeAspect="1"/>
          </p:cNvPicPr>
          <p:nvPr/>
        </p:nvPicPr>
        <p:blipFill>
          <a:blip r:embed="rId7"/>
          <a:stretch>
            <a:fillRect/>
          </a:stretch>
        </p:blipFill>
        <p:spPr>
          <a:xfrm rot="21600000">
            <a:off x="7530084" y="3979164"/>
            <a:ext cx="4661915" cy="2217420"/>
          </a:xfrm>
          <a:prstGeom prst="rect">
            <a:avLst/>
          </a:prstGeom>
        </p:spPr>
      </p:pic>
      <p:sp>
        <p:nvSpPr>
          <p:cNvPr id="506" name="textbox 506"/>
          <p:cNvSpPr/>
          <p:nvPr/>
        </p:nvSpPr>
        <p:spPr>
          <a:xfrm>
            <a:off x="403719" y="6532072"/>
            <a:ext cx="11429365" cy="281940"/>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6000"/>
              </a:lnSpc>
            </a:pPr>
            <a:r>
              <a:rPr sz="1500" kern="0" spc="80" dirty="0">
                <a:solidFill>
                  <a:srgbClr val="FF0000">
                    <a:alpha val="100000"/>
                  </a:srgbClr>
                </a:solidFill>
                <a:latin typeface="Calibri" panose="020F0502020204030204"/>
                <a:ea typeface="Calibri" panose="020F0502020204030204"/>
                <a:cs typeface="Calibri" panose="020F0502020204030204"/>
              </a:rPr>
              <a:t>*</a:t>
            </a:r>
            <a:r>
              <a:rPr sz="1500" kern="0" spc="80" dirty="0">
                <a:solidFill>
                  <a:srgbClr val="FF0000">
                    <a:alpha val="100000"/>
                  </a:srgbClr>
                </a:solidFill>
                <a:latin typeface="等线" panose="02010600030101010101" charset="-122"/>
                <a:ea typeface="等线" panose="02010600030101010101" charset="-122"/>
                <a:cs typeface="等线" panose="02010600030101010101" charset="-122"/>
              </a:rPr>
              <a:t>解释：</a:t>
            </a:r>
            <a:r>
              <a:rPr sz="1500" kern="0" spc="-100" dirty="0">
                <a:solidFill>
                  <a:srgbClr val="FF0000">
                    <a:alpha val="100000"/>
                  </a:srgbClr>
                </a:solidFill>
                <a:latin typeface="等线" panose="02010600030101010101" charset="-122"/>
                <a:ea typeface="等线" panose="02010600030101010101" charset="-122"/>
                <a:cs typeface="等线" panose="02010600030101010101" charset="-122"/>
              </a:rPr>
              <a:t> </a:t>
            </a:r>
            <a:r>
              <a:rPr sz="1500" kern="0" spc="0" dirty="0">
                <a:solidFill>
                  <a:srgbClr val="FF0000">
                    <a:alpha val="100000"/>
                  </a:srgbClr>
                </a:solidFill>
                <a:latin typeface="Calibri" panose="020F0502020204030204"/>
                <a:ea typeface="Calibri" panose="020F0502020204030204"/>
                <a:cs typeface="Calibri" panose="020F0502020204030204"/>
              </a:rPr>
              <a:t>VLB</a:t>
            </a:r>
            <a:r>
              <a:rPr sz="1500" kern="0" spc="-130" dirty="0">
                <a:solidFill>
                  <a:srgbClr val="FF0000">
                    <a:alpha val="100000"/>
                  </a:srgbClr>
                </a:solidFill>
                <a:latin typeface="Calibri" panose="020F0502020204030204"/>
                <a:ea typeface="Calibri" panose="020F0502020204030204"/>
                <a:cs typeface="Calibri" panose="020F0502020204030204"/>
              </a:rPr>
              <a:t> </a:t>
            </a:r>
            <a:r>
              <a:rPr sz="1500" kern="0" spc="80" dirty="0">
                <a:solidFill>
                  <a:srgbClr val="FF0000">
                    <a:alpha val="100000"/>
                  </a:srgbClr>
                </a:solidFill>
                <a:latin typeface="等线" panose="02010600030101010101" charset="-122"/>
                <a:ea typeface="等线" panose="02010600030101010101" charset="-122"/>
                <a:cs typeface="等线" panose="02010600030101010101" charset="-122"/>
              </a:rPr>
              <a:t>以往在包粒度进行随</a:t>
            </a:r>
            <a:r>
              <a:rPr sz="1500" kern="0" spc="70" dirty="0">
                <a:solidFill>
                  <a:srgbClr val="FF0000">
                    <a:alpha val="100000"/>
                  </a:srgbClr>
                </a:solidFill>
                <a:latin typeface="等线" panose="02010600030101010101" charset="-122"/>
                <a:ea typeface="等线" panose="02010600030101010101" charset="-122"/>
                <a:cs typeface="等线" panose="02010600030101010101" charset="-122"/>
              </a:rPr>
              <a:t>机化，并被证明能有效缓解阻塞；</a:t>
            </a:r>
            <a:r>
              <a:rPr sz="1500" kern="0" spc="-100" dirty="0">
                <a:solidFill>
                  <a:srgbClr val="FF0000">
                    <a:alpha val="100000"/>
                  </a:srgbClr>
                </a:solidFill>
                <a:latin typeface="等线" panose="02010600030101010101" charset="-122"/>
                <a:ea typeface="等线" panose="02010600030101010101" charset="-122"/>
                <a:cs typeface="等线" panose="02010600030101010101" charset="-122"/>
              </a:rPr>
              <a:t> </a:t>
            </a:r>
            <a:r>
              <a:rPr sz="1500" kern="0" spc="70" dirty="0">
                <a:solidFill>
                  <a:srgbClr val="FF0000">
                    <a:alpha val="100000"/>
                  </a:srgbClr>
                </a:solidFill>
                <a:latin typeface="Calibri" panose="020F0502020204030204"/>
                <a:ea typeface="Calibri" panose="020F0502020204030204"/>
                <a:cs typeface="Calibri" panose="020F0502020204030204"/>
              </a:rPr>
              <a:t>2009</a:t>
            </a:r>
            <a:r>
              <a:rPr sz="1500" kern="0" spc="70" dirty="0">
                <a:solidFill>
                  <a:srgbClr val="FF0000">
                    <a:alpha val="100000"/>
                  </a:srgbClr>
                </a:solidFill>
                <a:latin typeface="等线" panose="02010600030101010101" charset="-122"/>
                <a:ea typeface="等线" panose="02010600030101010101" charset="-122"/>
                <a:cs typeface="等线" panose="02010600030101010101" charset="-122"/>
              </a:rPr>
              <a:t>年时云服务</a:t>
            </a:r>
            <a:r>
              <a:rPr sz="1500" kern="0" spc="0" dirty="0">
                <a:solidFill>
                  <a:srgbClr val="FF0000">
                    <a:alpha val="100000"/>
                  </a:srgbClr>
                </a:solidFill>
                <a:latin typeface="Calibri" panose="020F0502020204030204"/>
                <a:ea typeface="Calibri" panose="020F0502020204030204"/>
                <a:cs typeface="Calibri" panose="020F0502020204030204"/>
              </a:rPr>
              <a:t>DCN</a:t>
            </a:r>
            <a:r>
              <a:rPr sz="1500" kern="0" spc="70" dirty="0">
                <a:solidFill>
                  <a:srgbClr val="FF0000">
                    <a:alpha val="100000"/>
                  </a:srgbClr>
                </a:solidFill>
                <a:latin typeface="等线" panose="02010600030101010101" charset="-122"/>
                <a:ea typeface="等线" panose="02010600030101010101" charset="-122"/>
                <a:cs typeface="等线" panose="02010600030101010101" charset="-122"/>
              </a:rPr>
              <a:t>大象流也不大， 故作者按流粒度处理    </a:t>
            </a:r>
            <a:r>
              <a:rPr sz="2700" kern="0" spc="70" baseline="-10000" dirty="0">
                <a:solidFill>
                  <a:srgbClr val="000000">
                    <a:alpha val="100000"/>
                  </a:srgbClr>
                </a:solidFill>
                <a:latin typeface="Calibri" panose="020F0502020204030204"/>
                <a:ea typeface="Calibri" panose="020F0502020204030204"/>
                <a:cs typeface="Calibri" panose="020F0502020204030204"/>
              </a:rPr>
              <a:t>27</a:t>
            </a:r>
            <a:endParaRPr sz="2700" baseline="-10000" dirty="0">
              <a:latin typeface="Calibri" panose="020F0502020204030204"/>
              <a:ea typeface="Calibri" panose="020F0502020204030204"/>
              <a:cs typeface="Calibri" panose="020F0502020204030204"/>
            </a:endParaRPr>
          </a:p>
        </p:txBody>
      </p:sp>
      <p:sp>
        <p:nvSpPr>
          <p:cNvPr id="508" name="textbox 508"/>
          <p:cNvSpPr/>
          <p:nvPr/>
        </p:nvSpPr>
        <p:spPr>
          <a:xfrm>
            <a:off x="324014" y="317074"/>
            <a:ext cx="531240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3.2</a:t>
            </a:r>
            <a:r>
              <a:rPr sz="2700" b="1" kern="0" spc="27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Flow</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Distribution</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p:txBody>
      </p:sp>
      <p:sp>
        <p:nvSpPr>
          <p:cNvPr id="510" name="textbox 510"/>
          <p:cNvSpPr/>
          <p:nvPr/>
        </p:nvSpPr>
        <p:spPr>
          <a:xfrm>
            <a:off x="615587" y="1059897"/>
            <a:ext cx="1796414"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流分布分析</a:t>
            </a:r>
            <a:endParaRPr sz="2700" dirty="0">
              <a:latin typeface="微软雅黑" panose="020B0503020204020204" charset="-122"/>
              <a:ea typeface="微软雅黑" panose="020B0503020204020204" charset="-122"/>
              <a:cs typeface="微软雅黑" panose="020B0503020204020204" charset="-122"/>
            </a:endParaRPr>
          </a:p>
        </p:txBody>
      </p:sp>
      <p:pic>
        <p:nvPicPr>
          <p:cNvPr id="512" name="picture 512"/>
          <p:cNvPicPr>
            <a:picLocks noChangeAspect="1"/>
          </p:cNvPicPr>
          <p:nvPr/>
        </p:nvPicPr>
        <p:blipFill>
          <a:blip r:embed="rId8"/>
          <a:stretch>
            <a:fillRect/>
          </a:stretch>
        </p:blipFill>
        <p:spPr>
          <a:xfrm rot="21600000">
            <a:off x="161544" y="6461759"/>
            <a:ext cx="11879580" cy="182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rect 514"/>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516" name="textbox 516"/>
          <p:cNvSpPr/>
          <p:nvPr/>
        </p:nvSpPr>
        <p:spPr>
          <a:xfrm>
            <a:off x="2906265" y="436372"/>
            <a:ext cx="6320154" cy="6214109"/>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51735"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1.</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Data</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Center</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Traffic</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100000"/>
              </a:lnSpc>
              <a:spcBef>
                <a:spcPts val="1325"/>
              </a:spcBef>
            </a:pPr>
            <a:r>
              <a:rPr sz="2700" b="1" kern="0" spc="210" dirty="0">
                <a:solidFill>
                  <a:srgbClr val="D9D9D9">
                    <a:alpha val="100000"/>
                  </a:srgbClr>
                </a:solidFill>
                <a:latin typeface="微软雅黑" panose="020B0503020204020204" charset="-122"/>
                <a:ea typeface="微软雅黑" panose="020B0503020204020204" charset="-122"/>
                <a:cs typeface="微软雅黑" panose="020B0503020204020204" charset="-122"/>
              </a:rPr>
              <a:t>2.</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Flow</a:t>
            </a:r>
            <a:r>
              <a:rPr sz="2700" b="1" kern="0" spc="2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Distribution</a:t>
            </a:r>
            <a:r>
              <a:rPr sz="2700" b="1" kern="0" spc="2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320"/>
              </a:spcBef>
            </a:pPr>
            <a:r>
              <a:rPr sz="2700" b="1" kern="0" spc="70" dirty="0">
                <a:solidFill>
                  <a:srgbClr val="4472C4">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Traffic</a:t>
            </a:r>
            <a:r>
              <a:rPr sz="2700" b="1" kern="0" spc="3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Matrix</a:t>
            </a:r>
            <a:r>
              <a:rPr sz="2700" b="1" kern="0" spc="7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73710" algn="l" rtl="0" eaLnBrk="0">
              <a:lnSpc>
                <a:spcPct val="92000"/>
              </a:lnSpc>
              <a:spcBef>
                <a:spcPts val="1320"/>
              </a:spcBef>
            </a:pP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4.</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Failure</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Characteristics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518" name="picture 518"/>
          <p:cNvPicPr>
            <a:picLocks noChangeAspect="1"/>
          </p:cNvPicPr>
          <p:nvPr/>
        </p:nvPicPr>
        <p:blipFill>
          <a:blip r:embed="rId1"/>
          <a:stretch>
            <a:fillRect/>
          </a:stretch>
        </p:blipFill>
        <p:spPr>
          <a:xfrm rot="21600000">
            <a:off x="0" y="0"/>
            <a:ext cx="12192000" cy="288035"/>
          </a:xfrm>
          <a:prstGeom prst="rect">
            <a:avLst/>
          </a:prstGeom>
        </p:spPr>
      </p:pic>
      <p:pic>
        <p:nvPicPr>
          <p:cNvPr id="520" name="picture 520"/>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path 522"/>
          <p:cNvSpPr/>
          <p:nvPr/>
        </p:nvSpPr>
        <p:spPr>
          <a:xfrm>
            <a:off x="1439545" y="2534792"/>
            <a:ext cx="327405" cy="282321"/>
          </a:xfrm>
          <a:custGeom>
            <a:avLst/>
            <a:gdLst/>
            <a:ahLst/>
            <a:cxnLst/>
            <a:rect l="0" t="0" r="0" b="0"/>
            <a:pathLst>
              <a:path w="515" h="444">
                <a:moveTo>
                  <a:pt x="373" y="0"/>
                </a:moveTo>
                <a:cubicBezTo>
                  <a:pt x="419" y="12"/>
                  <a:pt x="454" y="37"/>
                  <a:pt x="478" y="77"/>
                </a:cubicBezTo>
                <a:cubicBezTo>
                  <a:pt x="503" y="117"/>
                  <a:pt x="515" y="165"/>
                  <a:pt x="515" y="222"/>
                </a:cubicBezTo>
                <a:cubicBezTo>
                  <a:pt x="515" y="279"/>
                  <a:pt x="503" y="327"/>
                  <a:pt x="478" y="367"/>
                </a:cubicBezTo>
                <a:cubicBezTo>
                  <a:pt x="454" y="406"/>
                  <a:pt x="419" y="432"/>
                  <a:pt x="373" y="444"/>
                </a:cubicBezTo>
                <a:lnTo>
                  <a:pt x="368" y="426"/>
                </a:lnTo>
                <a:cubicBezTo>
                  <a:pt x="404" y="414"/>
                  <a:pt x="431" y="390"/>
                  <a:pt x="448" y="355"/>
                </a:cubicBezTo>
                <a:cubicBezTo>
                  <a:pt x="466" y="320"/>
                  <a:pt x="475" y="274"/>
                  <a:pt x="475" y="220"/>
                </a:cubicBezTo>
                <a:cubicBezTo>
                  <a:pt x="475" y="167"/>
                  <a:pt x="466" y="123"/>
                  <a:pt x="448" y="88"/>
                </a:cubicBezTo>
                <a:cubicBezTo>
                  <a:pt x="431" y="53"/>
                  <a:pt x="404" y="30"/>
                  <a:pt x="367" y="18"/>
                </a:cubicBezTo>
                <a:lnTo>
                  <a:pt x="373" y="0"/>
                </a:lnTo>
                <a:close/>
                <a:moveTo>
                  <a:pt x="141" y="0"/>
                </a:moveTo>
                <a:lnTo>
                  <a:pt x="148" y="18"/>
                </a:lnTo>
                <a:cubicBezTo>
                  <a:pt x="111" y="30"/>
                  <a:pt x="84" y="53"/>
                  <a:pt x="66" y="88"/>
                </a:cubicBezTo>
                <a:cubicBezTo>
                  <a:pt x="49" y="123"/>
                  <a:pt x="40" y="167"/>
                  <a:pt x="40" y="220"/>
                </a:cubicBezTo>
                <a:cubicBezTo>
                  <a:pt x="40" y="274"/>
                  <a:pt x="49" y="320"/>
                  <a:pt x="66" y="355"/>
                </a:cubicBezTo>
                <a:cubicBezTo>
                  <a:pt x="84" y="390"/>
                  <a:pt x="111" y="414"/>
                  <a:pt x="147" y="426"/>
                </a:cubicBezTo>
                <a:lnTo>
                  <a:pt x="141" y="444"/>
                </a:lnTo>
                <a:cubicBezTo>
                  <a:pt x="95" y="432"/>
                  <a:pt x="60" y="406"/>
                  <a:pt x="36" y="367"/>
                </a:cubicBezTo>
                <a:cubicBezTo>
                  <a:pt x="12" y="327"/>
                  <a:pt x="0" y="279"/>
                  <a:pt x="0" y="222"/>
                </a:cubicBezTo>
                <a:cubicBezTo>
                  <a:pt x="0" y="165"/>
                  <a:pt x="12" y="117"/>
                  <a:pt x="36" y="77"/>
                </a:cubicBezTo>
                <a:cubicBezTo>
                  <a:pt x="61" y="37"/>
                  <a:pt x="96" y="12"/>
                  <a:pt x="141" y="0"/>
                </a:cubicBezTo>
              </a:path>
            </a:pathLst>
          </a:custGeom>
          <a:solidFill>
            <a:srgbClr val="836967">
              <a:alpha val="100000"/>
            </a:srgbClr>
          </a:solidFill>
          <a:ln w="0" cap="flat">
            <a:noFill/>
            <a:prstDash val="solid"/>
            <a:miter lim="0"/>
          </a:ln>
        </p:spPr>
        <p:txBody>
          <a:bodyPr rtlCol="0"/>
          <a:lstStyle/>
          <a:p>
            <a:pPr algn="ctr"/>
            <a:endParaRPr lang="zh-CN" altLang="en-US"/>
          </a:p>
        </p:txBody>
      </p:sp>
      <p:sp>
        <p:nvSpPr>
          <p:cNvPr id="524" name="textbox 524"/>
          <p:cNvSpPr/>
          <p:nvPr/>
        </p:nvSpPr>
        <p:spPr>
          <a:xfrm>
            <a:off x="519938" y="1934209"/>
            <a:ext cx="11153775" cy="4493895"/>
          </a:xfrm>
          <a:prstGeom prst="roundRect">
            <a:avLst>
              <a:gd name="adj" fmla="val 7503"/>
            </a:avLst>
          </a:prstGeom>
          <a:noFill/>
          <a:ln w="25400" cap="flat">
            <a:solidFill>
              <a:srgbClr val="A5A5A5"/>
            </a:solidFill>
            <a:prstDash val="solid"/>
            <a:miter lim="0"/>
          </a:ln>
        </p:spPr>
        <p:txBody>
          <a:bodyPr vert="horz" wrap="square" lIns="0" tIns="0" rIns="0" bIns="0"/>
          <a:lstStyle/>
          <a:p>
            <a:pPr algn="l" rtl="0" eaLnBrk="0">
              <a:lnSpc>
                <a:spcPct val="134000"/>
              </a:lnSpc>
            </a:pPr>
            <a:endParaRPr sz="200" dirty="0">
              <a:latin typeface="Arial" panose="020B0604020202020204"/>
              <a:ea typeface="Arial" panose="020B0604020202020204"/>
              <a:cs typeface="Arial" panose="020B0604020202020204"/>
            </a:endParaRPr>
          </a:p>
          <a:p>
            <a:pPr marL="29845" algn="l" rtl="0" eaLnBrk="0">
              <a:lnSpc>
                <a:spcPct val="89000"/>
              </a:lnSpc>
              <a:spcBef>
                <a:spcPts val="0"/>
              </a:spcBef>
              <a:tabLst>
                <a:tab pos="24574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作者以100s为时间区间测量1500服务器集群</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的流量矩阵(TM)</a:t>
            </a:r>
            <a:endParaRPr sz="2400" dirty="0">
              <a:latin typeface="微软雅黑" panose="020B0503020204020204" charset="-122"/>
              <a:ea typeface="微软雅黑" panose="020B0503020204020204" charset="-122"/>
              <a:cs typeface="微软雅黑" panose="020B0503020204020204" charset="-122"/>
            </a:endParaRPr>
          </a:p>
          <a:p>
            <a:pPr marL="29845" algn="l" rtl="0" eaLnBrk="0">
              <a:lnSpc>
                <a:spcPct val="100000"/>
              </a:lnSpc>
              <a:spcBef>
                <a:spcPts val="920"/>
              </a:spcBef>
              <a:tabLst>
                <a:tab pos="245745" algn="l"/>
              </a:tabLst>
            </a:pPr>
            <a:r>
              <a:rPr sz="2400" kern="0" spc="0" dirty="0">
                <a:solidFill>
                  <a:srgbClr val="000000">
                    <a:alpha val="100000"/>
                  </a:srgbClr>
                </a:solidFill>
                <a:latin typeface="Cambria Math" panose="02040503050406030204"/>
                <a:ea typeface="Cambria Math" panose="02040503050406030204"/>
                <a:cs typeface="Cambria Math" panose="02040503050406030204"/>
              </a:rPr>
              <a:t>	</a:t>
            </a:r>
            <a:r>
              <a:rPr sz="2400" kern="0" spc="420" dirty="0">
                <a:solidFill>
                  <a:srgbClr val="000000">
                    <a:alpha val="100000"/>
                  </a:srgbClr>
                </a:solidFill>
                <a:latin typeface="Cambria Math" panose="02040503050406030204"/>
                <a:ea typeface="Cambria Math" panose="02040503050406030204"/>
                <a:cs typeface="Cambria Math" panose="02040503050406030204"/>
              </a:rPr>
              <a:t> </a:t>
            </a:r>
            <a:r>
              <a:rPr sz="2400" kern="0" spc="0" dirty="0">
                <a:solidFill>
                  <a:srgbClr val="000000">
                    <a:alpha val="100000"/>
                  </a:srgbClr>
                </a:solidFill>
                <a:latin typeface="Cambria Math" panose="02040503050406030204"/>
                <a:ea typeface="Cambria Math" panose="02040503050406030204"/>
                <a:cs typeface="Cambria Math" panose="02040503050406030204"/>
              </a:rPr>
              <a:t>TM</a:t>
            </a:r>
            <a:r>
              <a:rPr sz="2400" kern="0" spc="10" dirty="0">
                <a:solidFill>
                  <a:srgbClr val="000000">
                    <a:alpha val="100000"/>
                  </a:srgbClr>
                </a:solidFill>
                <a:latin typeface="Cambria Math" panose="02040503050406030204"/>
                <a:ea typeface="Cambria Math" panose="02040503050406030204"/>
                <a:cs typeface="Cambria Math" panose="02040503050406030204"/>
              </a:rPr>
              <a:t>  </a:t>
            </a:r>
            <a:r>
              <a:rPr sz="2400" kern="0" spc="0" dirty="0">
                <a:solidFill>
                  <a:srgbClr val="000000">
                    <a:alpha val="100000"/>
                  </a:srgbClr>
                </a:solidFill>
                <a:latin typeface="Cambria Math" panose="02040503050406030204"/>
                <a:ea typeface="Cambria Math" panose="02040503050406030204"/>
                <a:cs typeface="Cambria Math" panose="02040503050406030204"/>
              </a:rPr>
              <a:t>t</a:t>
            </a:r>
            <a:r>
              <a:rPr sz="2400" kern="0" spc="10" dirty="0">
                <a:solidFill>
                  <a:srgbClr val="000000">
                    <a:alpha val="100000"/>
                  </a:srgbClr>
                </a:solidFill>
                <a:latin typeface="Cambria Math" panose="02040503050406030204"/>
                <a:ea typeface="Cambria Math" panose="02040503050406030204"/>
                <a:cs typeface="Cambria Math" panose="02040503050406030204"/>
              </a:rPr>
              <a:t>  </a:t>
            </a:r>
            <a:r>
              <a:rPr sz="2600" kern="0" spc="0" baseline="-18000" dirty="0">
                <a:solidFill>
                  <a:srgbClr val="000000">
                    <a:alpha val="100000"/>
                  </a:srgbClr>
                </a:solidFill>
                <a:latin typeface="Cambria Math" panose="02040503050406030204"/>
                <a:ea typeface="Cambria Math" panose="02040503050406030204"/>
                <a:cs typeface="Cambria Math" panose="02040503050406030204"/>
              </a:rPr>
              <a:t>i</a:t>
            </a:r>
            <a:r>
              <a:rPr sz="2600" kern="0" spc="10" baseline="-18000" dirty="0">
                <a:solidFill>
                  <a:srgbClr val="000000">
                    <a:alpha val="100000"/>
                  </a:srgbClr>
                </a:solidFill>
                <a:latin typeface="Cambria Math" panose="02040503050406030204"/>
                <a:ea typeface="Cambria Math" panose="02040503050406030204"/>
                <a:cs typeface="Cambria Math" panose="02040503050406030204"/>
              </a:rPr>
              <a:t>,</a:t>
            </a:r>
            <a:r>
              <a:rPr sz="1700" kern="0" spc="10" dirty="0">
                <a:solidFill>
                  <a:srgbClr val="000000">
                    <a:alpha val="100000"/>
                  </a:srgbClr>
                </a:solidFill>
                <a:latin typeface="Cambria Math" panose="02040503050406030204"/>
                <a:ea typeface="Cambria Math" panose="02040503050406030204"/>
                <a:cs typeface="Cambria Math" panose="02040503050406030204"/>
              </a:rPr>
              <a:t>j</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代表</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ToR</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i</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ToR</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j</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在时间t开始的100s间的流量</a:t>
            </a:r>
            <a:endParaRPr sz="2400" dirty="0">
              <a:latin typeface="微软雅黑" panose="020B0503020204020204" charset="-122"/>
              <a:ea typeface="微软雅黑" panose="020B0503020204020204" charset="-122"/>
              <a:cs typeface="微软雅黑" panose="020B0503020204020204" charset="-122"/>
            </a:endParaRPr>
          </a:p>
          <a:p>
            <a:pPr marL="29845" algn="l" rtl="0" eaLnBrk="0">
              <a:lnSpc>
                <a:spcPct val="89000"/>
              </a:lnSpc>
              <a:spcBef>
                <a:spcPts val="840"/>
              </a:spcBef>
              <a:tabLst>
                <a:tab pos="24574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根据TM距离进行聚类</a:t>
            </a:r>
            <a:endParaRPr sz="2400" dirty="0">
              <a:latin typeface="微软雅黑" panose="020B0503020204020204" charset="-122"/>
              <a:ea typeface="微软雅黑" panose="020B0503020204020204" charset="-122"/>
              <a:cs typeface="微软雅黑" panose="020B0503020204020204" charset="-122"/>
            </a:endParaRPr>
          </a:p>
          <a:p>
            <a:pPr marL="487045" algn="l" rtl="0" eaLnBrk="0">
              <a:lnSpc>
                <a:spcPct val="89000"/>
              </a:lnSpc>
              <a:spcBef>
                <a:spcPts val="920"/>
              </a:spcBef>
              <a:tabLst>
                <a:tab pos="70358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递归地把两个相似的T</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M归为一类</a:t>
            </a:r>
            <a:endParaRPr sz="2400" dirty="0">
              <a:latin typeface="微软雅黑" panose="020B0503020204020204" charset="-122"/>
              <a:ea typeface="微软雅黑" panose="020B0503020204020204" charset="-122"/>
              <a:cs typeface="微软雅黑" panose="020B0503020204020204" charset="-122"/>
            </a:endParaRPr>
          </a:p>
          <a:p>
            <a:pPr marL="487045" algn="l" rtl="0" eaLnBrk="0">
              <a:lnSpc>
                <a:spcPct val="89000"/>
              </a:lnSpc>
              <a:spcBef>
                <a:spcPts val="920"/>
              </a:spcBef>
              <a:tabLst>
                <a:tab pos="70358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两个TM的距离用交换(shuffle)多少流量可以让两个矩阵变</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得相似来衡量</a:t>
            </a:r>
            <a:endParaRPr sz="2400" dirty="0">
              <a:latin typeface="微软雅黑" panose="020B0503020204020204" charset="-122"/>
              <a:ea typeface="微软雅黑" panose="020B0503020204020204" charset="-122"/>
              <a:cs typeface="微软雅黑" panose="020B0503020204020204" charset="-122"/>
            </a:endParaRPr>
          </a:p>
          <a:p>
            <a:pPr marL="487045" algn="l" rtl="0" eaLnBrk="0">
              <a:lnSpc>
                <a:spcPct val="89000"/>
              </a:lnSpc>
              <a:spcBef>
                <a:spcPts val="915"/>
              </a:spcBef>
              <a:tabLst>
                <a:tab pos="70358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每个cluster使用一个TM作为代表，其他TM和这个T</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M的距离作为拟合误差</a:t>
            </a:r>
            <a:endParaRPr sz="2400" dirty="0">
              <a:latin typeface="微软雅黑" panose="020B0503020204020204" charset="-122"/>
              <a:ea typeface="微软雅黑" panose="020B0503020204020204" charset="-122"/>
              <a:cs typeface="微软雅黑" panose="020B0503020204020204" charset="-122"/>
            </a:endParaRPr>
          </a:p>
          <a:p>
            <a:pPr marL="487045" algn="l" rtl="0" eaLnBrk="0">
              <a:lnSpc>
                <a:spcPct val="89000"/>
              </a:lnSpc>
              <a:spcBef>
                <a:spcPts val="920"/>
              </a:spcBef>
              <a:tabLst>
                <a:tab pos="70358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当拟合误差快速增大时停</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止</a:t>
            </a:r>
            <a:endParaRPr sz="2400" dirty="0">
              <a:latin typeface="微软雅黑" panose="020B0503020204020204" charset="-122"/>
              <a:ea typeface="微软雅黑" panose="020B0503020204020204" charset="-122"/>
              <a:cs typeface="微软雅黑" panose="020B0503020204020204" charset="-122"/>
            </a:endParaRPr>
          </a:p>
          <a:p>
            <a:pPr marL="29845" algn="l" rtl="0" eaLnBrk="0">
              <a:lnSpc>
                <a:spcPct val="89000"/>
              </a:lnSpc>
              <a:spcBef>
                <a:spcPts val="920"/>
              </a:spcBef>
              <a:tabLst>
                <a:tab pos="24574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结果：即便用多达50-60个cluster进行拟合</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，拟合误差仍高达60%</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0000"/>
              </a:lnSpc>
            </a:pPr>
            <a:endParaRPr sz="700" dirty="0">
              <a:latin typeface="Arial" panose="020B0604020202020204"/>
              <a:ea typeface="Arial" panose="020B0604020202020204"/>
              <a:cs typeface="Arial" panose="020B0604020202020204"/>
            </a:endParaRPr>
          </a:p>
          <a:p>
            <a:pPr marL="352425" indent="-322580" algn="l" rtl="0" eaLnBrk="0">
              <a:lnSpc>
                <a:spcPct val="94000"/>
              </a:lnSpc>
              <a:spcBef>
                <a:spcPts val="0"/>
              </a:spcBef>
              <a:tabLst>
                <a:tab pos="245745" algn="l"/>
              </a:tabLst>
            </a:pP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1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说明：数据中心流量的多变性不遵循某种简洁的表达方式，仅对几种</a:t>
            </a: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TM做流</a:t>
            </a: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量工程很难适用于实际</a:t>
            </a: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的流量</a:t>
            </a:r>
            <a:endParaRPr sz="2400" dirty="0">
              <a:latin typeface="微软雅黑" panose="020B0503020204020204" charset="-122"/>
              <a:ea typeface="微软雅黑" panose="020B0503020204020204" charset="-122"/>
              <a:cs typeface="微软雅黑" panose="020B0503020204020204" charset="-122"/>
            </a:endParaRPr>
          </a:p>
        </p:txBody>
      </p:sp>
      <p:pic>
        <p:nvPicPr>
          <p:cNvPr id="526" name="picture 526"/>
          <p:cNvPicPr>
            <a:picLocks noChangeAspect="1"/>
          </p:cNvPicPr>
          <p:nvPr/>
        </p:nvPicPr>
        <p:blipFill>
          <a:blip r:embed="rId1"/>
          <a:stretch>
            <a:fillRect/>
          </a:stretch>
        </p:blipFill>
        <p:spPr>
          <a:xfrm rot="21600000">
            <a:off x="648919" y="5665225"/>
            <a:ext cx="216408" cy="222850"/>
          </a:xfrm>
          <a:prstGeom prst="rect">
            <a:avLst/>
          </a:prstGeom>
        </p:spPr>
      </p:pic>
      <p:pic>
        <p:nvPicPr>
          <p:cNvPr id="528" name="picture 528"/>
          <p:cNvPicPr>
            <a:picLocks noChangeAspect="1"/>
          </p:cNvPicPr>
          <p:nvPr/>
        </p:nvPicPr>
        <p:blipFill>
          <a:blip r:embed="rId2"/>
          <a:stretch>
            <a:fillRect/>
          </a:stretch>
        </p:blipFill>
        <p:spPr>
          <a:xfrm rot="21600000">
            <a:off x="648919" y="5223306"/>
            <a:ext cx="216408" cy="223723"/>
          </a:xfrm>
          <a:prstGeom prst="rect">
            <a:avLst/>
          </a:prstGeom>
        </p:spPr>
      </p:pic>
      <p:pic>
        <p:nvPicPr>
          <p:cNvPr id="530" name="picture 530"/>
          <p:cNvPicPr>
            <a:picLocks noChangeAspect="1"/>
          </p:cNvPicPr>
          <p:nvPr/>
        </p:nvPicPr>
        <p:blipFill>
          <a:blip r:embed="rId3"/>
          <a:stretch>
            <a:fillRect/>
          </a:stretch>
        </p:blipFill>
        <p:spPr>
          <a:xfrm rot="21600000">
            <a:off x="1106144" y="4780869"/>
            <a:ext cx="216624" cy="223946"/>
          </a:xfrm>
          <a:prstGeom prst="rect">
            <a:avLst/>
          </a:prstGeom>
        </p:spPr>
      </p:pic>
      <p:pic>
        <p:nvPicPr>
          <p:cNvPr id="532" name="picture 532"/>
          <p:cNvPicPr>
            <a:picLocks noChangeAspect="1"/>
          </p:cNvPicPr>
          <p:nvPr/>
        </p:nvPicPr>
        <p:blipFill>
          <a:blip r:embed="rId4"/>
          <a:stretch>
            <a:fillRect/>
          </a:stretch>
        </p:blipFill>
        <p:spPr>
          <a:xfrm rot="21600000">
            <a:off x="1106119" y="4339132"/>
            <a:ext cx="216408" cy="223723"/>
          </a:xfrm>
          <a:prstGeom prst="rect">
            <a:avLst/>
          </a:prstGeom>
        </p:spPr>
      </p:pic>
      <p:pic>
        <p:nvPicPr>
          <p:cNvPr id="534" name="picture 534"/>
          <p:cNvPicPr>
            <a:picLocks noChangeAspect="1"/>
          </p:cNvPicPr>
          <p:nvPr/>
        </p:nvPicPr>
        <p:blipFill>
          <a:blip r:embed="rId2"/>
          <a:stretch>
            <a:fillRect/>
          </a:stretch>
        </p:blipFill>
        <p:spPr>
          <a:xfrm rot="21600000">
            <a:off x="1106119" y="3897172"/>
            <a:ext cx="216408" cy="223723"/>
          </a:xfrm>
          <a:prstGeom prst="rect">
            <a:avLst/>
          </a:prstGeom>
        </p:spPr>
      </p:pic>
      <p:pic>
        <p:nvPicPr>
          <p:cNvPr id="536" name="picture 536"/>
          <p:cNvPicPr>
            <a:picLocks noChangeAspect="1"/>
          </p:cNvPicPr>
          <p:nvPr/>
        </p:nvPicPr>
        <p:blipFill>
          <a:blip r:embed="rId3"/>
          <a:stretch>
            <a:fillRect/>
          </a:stretch>
        </p:blipFill>
        <p:spPr>
          <a:xfrm rot="21600000">
            <a:off x="1106144" y="3454735"/>
            <a:ext cx="216624" cy="223946"/>
          </a:xfrm>
          <a:prstGeom prst="rect">
            <a:avLst/>
          </a:prstGeom>
        </p:spPr>
      </p:pic>
      <p:pic>
        <p:nvPicPr>
          <p:cNvPr id="538" name="picture 538"/>
          <p:cNvPicPr>
            <a:picLocks noChangeAspect="1"/>
          </p:cNvPicPr>
          <p:nvPr/>
        </p:nvPicPr>
        <p:blipFill>
          <a:blip r:embed="rId2"/>
          <a:stretch>
            <a:fillRect/>
          </a:stretch>
        </p:blipFill>
        <p:spPr>
          <a:xfrm rot="21600000">
            <a:off x="648919" y="3012998"/>
            <a:ext cx="216408" cy="223723"/>
          </a:xfrm>
          <a:prstGeom prst="rect">
            <a:avLst/>
          </a:prstGeom>
        </p:spPr>
      </p:pic>
      <p:pic>
        <p:nvPicPr>
          <p:cNvPr id="540" name="picture 540"/>
          <p:cNvPicPr>
            <a:picLocks noChangeAspect="1"/>
          </p:cNvPicPr>
          <p:nvPr/>
        </p:nvPicPr>
        <p:blipFill>
          <a:blip r:embed="rId4"/>
          <a:stretch>
            <a:fillRect/>
          </a:stretch>
        </p:blipFill>
        <p:spPr>
          <a:xfrm rot="21600000">
            <a:off x="648919" y="2539034"/>
            <a:ext cx="216408" cy="223723"/>
          </a:xfrm>
          <a:prstGeom prst="rect">
            <a:avLst/>
          </a:prstGeom>
        </p:spPr>
      </p:pic>
      <p:pic>
        <p:nvPicPr>
          <p:cNvPr id="542" name="picture 542"/>
          <p:cNvPicPr>
            <a:picLocks noChangeAspect="1"/>
          </p:cNvPicPr>
          <p:nvPr/>
        </p:nvPicPr>
        <p:blipFill>
          <a:blip r:embed="rId2"/>
          <a:stretch>
            <a:fillRect/>
          </a:stretch>
        </p:blipFill>
        <p:spPr>
          <a:xfrm rot="21600000">
            <a:off x="648919" y="2098598"/>
            <a:ext cx="216408" cy="223723"/>
          </a:xfrm>
          <a:prstGeom prst="rect">
            <a:avLst/>
          </a:prstGeom>
        </p:spPr>
      </p:pic>
      <p:sp>
        <p:nvSpPr>
          <p:cNvPr id="544" name="textbox 544"/>
          <p:cNvSpPr/>
          <p:nvPr/>
        </p:nvSpPr>
        <p:spPr>
          <a:xfrm>
            <a:off x="614578" y="1059897"/>
            <a:ext cx="8394065" cy="85280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3335" algn="l" rtl="0" eaLnBrk="0">
              <a:lnSpc>
                <a:spcPct val="92000"/>
              </a:lnSpc>
            </a:pP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流量矩阵分析 – 不可总结性</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89000"/>
              </a:lnSpc>
              <a:spcBef>
                <a:spcPts val="0"/>
              </a:spcBef>
            </a:pPr>
            <a:r>
              <a:rPr sz="2400" kern="0" spc="-40" dirty="0">
                <a:solidFill>
                  <a:srgbClr val="4472C4">
                    <a:alpha val="100000"/>
                  </a:srgbClr>
                </a:solidFill>
                <a:latin typeface="微软雅黑" panose="020B0503020204020204" charset="-122"/>
                <a:ea typeface="微软雅黑" panose="020B0503020204020204" charset="-122"/>
                <a:cs typeface="微软雅黑" panose="020B0503020204020204" charset="-122"/>
              </a:rPr>
              <a:t>流量中是否存在某种规律？</a:t>
            </a:r>
            <a:r>
              <a:rPr sz="2400" kern="0" spc="-50" dirty="0">
                <a:solidFill>
                  <a:srgbClr val="4472C4">
                    <a:alpha val="100000"/>
                  </a:srgbClr>
                </a:solidFill>
                <a:latin typeface="微软雅黑" panose="020B0503020204020204" charset="-122"/>
                <a:ea typeface="微软雅黑" panose="020B0503020204020204" charset="-122"/>
                <a:cs typeface="微软雅黑" panose="020B0503020204020204" charset="-122"/>
              </a:rPr>
              <a:t>可以通过仔细观测和流量工程利用？</a:t>
            </a:r>
            <a:endParaRPr sz="2400" dirty="0">
              <a:latin typeface="微软雅黑" panose="020B0503020204020204" charset="-122"/>
              <a:ea typeface="微软雅黑" panose="020B0503020204020204" charset="-122"/>
              <a:cs typeface="微软雅黑" panose="020B0503020204020204" charset="-122"/>
            </a:endParaRPr>
          </a:p>
        </p:txBody>
      </p:sp>
      <p:sp>
        <p:nvSpPr>
          <p:cNvPr id="546" name="textbox 546"/>
          <p:cNvSpPr/>
          <p:nvPr/>
        </p:nvSpPr>
        <p:spPr>
          <a:xfrm>
            <a:off x="324014" y="317074"/>
            <a:ext cx="4631054"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90" dirty="0">
                <a:solidFill>
                  <a:srgbClr val="F26849">
                    <a:alpha val="100000"/>
                  </a:srgbClr>
                </a:solidFill>
                <a:latin typeface="微软雅黑" panose="020B0503020204020204" charset="-122"/>
                <a:ea typeface="微软雅黑" panose="020B0503020204020204" charset="-122"/>
                <a:cs typeface="微软雅黑" panose="020B0503020204020204" charset="-122"/>
              </a:rPr>
              <a:t>3.3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Traffic</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Matrix</a:t>
            </a:r>
            <a:r>
              <a:rPr sz="2700" b="1" kern="0" spc="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p:txBody>
      </p:sp>
      <p:pic>
        <p:nvPicPr>
          <p:cNvPr id="548" name="picture 548"/>
          <p:cNvPicPr>
            <a:picLocks noChangeAspect="1"/>
          </p:cNvPicPr>
          <p:nvPr/>
        </p:nvPicPr>
        <p:blipFill>
          <a:blip r:embed="rId5"/>
          <a:stretch>
            <a:fillRect/>
          </a:stretch>
        </p:blipFill>
        <p:spPr>
          <a:xfrm rot="21600000">
            <a:off x="11338559" y="18288"/>
            <a:ext cx="720852" cy="719328"/>
          </a:xfrm>
          <a:prstGeom prst="rect">
            <a:avLst/>
          </a:prstGeom>
        </p:spPr>
      </p:pic>
      <p:pic>
        <p:nvPicPr>
          <p:cNvPr id="550" name="picture 550"/>
          <p:cNvPicPr>
            <a:picLocks noChangeAspect="1"/>
          </p:cNvPicPr>
          <p:nvPr/>
        </p:nvPicPr>
        <p:blipFill>
          <a:blip r:embed="rId6"/>
          <a:stretch>
            <a:fillRect/>
          </a:stretch>
        </p:blipFill>
        <p:spPr>
          <a:xfrm rot="21600000">
            <a:off x="155447" y="751332"/>
            <a:ext cx="11881104" cy="19811"/>
          </a:xfrm>
          <a:prstGeom prst="rect">
            <a:avLst/>
          </a:prstGeom>
        </p:spPr>
      </p:pic>
      <p:pic>
        <p:nvPicPr>
          <p:cNvPr id="552" name="picture 552"/>
          <p:cNvPicPr>
            <a:picLocks noChangeAspect="1"/>
          </p:cNvPicPr>
          <p:nvPr/>
        </p:nvPicPr>
        <p:blipFill>
          <a:blip r:embed="rId7"/>
          <a:stretch>
            <a:fillRect/>
          </a:stretch>
        </p:blipFill>
        <p:spPr>
          <a:xfrm rot="21600000">
            <a:off x="161544" y="6461759"/>
            <a:ext cx="11879580" cy="18288"/>
          </a:xfrm>
          <a:prstGeom prst="rect">
            <a:avLst/>
          </a:prstGeom>
        </p:spPr>
      </p:pic>
      <p:sp>
        <p:nvSpPr>
          <p:cNvPr id="554" name="textbox 554"/>
          <p:cNvSpPr/>
          <p:nvPr/>
        </p:nvSpPr>
        <p:spPr>
          <a:xfrm>
            <a:off x="11588360" y="6559321"/>
            <a:ext cx="24447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40" dirty="0">
                <a:solidFill>
                  <a:srgbClr val="000000">
                    <a:alpha val="100000"/>
                  </a:srgbClr>
                </a:solidFill>
                <a:latin typeface="Calibri" panose="020F0502020204030204"/>
                <a:ea typeface="Calibri" panose="020F0502020204030204"/>
                <a:cs typeface="Calibri" panose="020F0502020204030204"/>
              </a:rPr>
              <a:t>29</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textbox 556"/>
          <p:cNvSpPr/>
          <p:nvPr/>
        </p:nvSpPr>
        <p:spPr>
          <a:xfrm>
            <a:off x="519938" y="1934209"/>
            <a:ext cx="11153775" cy="2428875"/>
          </a:xfrm>
          <a:prstGeom prst="roundRect">
            <a:avLst>
              <a:gd name="adj" fmla="val 7948"/>
            </a:avLst>
          </a:prstGeom>
          <a:noFill/>
          <a:ln w="25400" cap="flat">
            <a:solidFill>
              <a:srgbClr val="A5A5A5"/>
            </a:solidFill>
            <a:prstDash val="solid"/>
            <a:miter lim="0"/>
          </a:ln>
        </p:spPr>
        <p:txBody>
          <a:bodyPr vert="horz" wrap="square" lIns="0" tIns="0" rIns="0" bIns="0"/>
          <a:lstStyle/>
          <a:p>
            <a:pPr algn="l" rtl="0" eaLnBrk="0">
              <a:lnSpc>
                <a:spcPct val="109000"/>
              </a:lnSpc>
            </a:pPr>
            <a:endParaRPr sz="500" dirty="0">
              <a:latin typeface="Arial" panose="020B0604020202020204"/>
              <a:ea typeface="Arial" panose="020B0604020202020204"/>
              <a:cs typeface="Arial" panose="020B0604020202020204"/>
            </a:endParaRPr>
          </a:p>
          <a:p>
            <a:pPr marL="72390" algn="l" rtl="0" eaLnBrk="0">
              <a:lnSpc>
                <a:spcPct val="89000"/>
              </a:lnSpc>
              <a:spcBef>
                <a:spcPts val="0"/>
              </a:spcBef>
              <a:tabLst>
                <a:tab pos="28829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使用前面的聚类技术找到40个最优的clus</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ter，并对流量进行分类</a:t>
            </a:r>
            <a:endParaRPr sz="2400" dirty="0">
              <a:latin typeface="微软雅黑" panose="020B0503020204020204" charset="-122"/>
              <a:ea typeface="微软雅黑" panose="020B0503020204020204" charset="-122"/>
              <a:cs typeface="微软雅黑" panose="020B0503020204020204" charset="-122"/>
            </a:endParaRPr>
          </a:p>
          <a:p>
            <a:pPr marL="72390" algn="l" rtl="0" eaLnBrk="0">
              <a:lnSpc>
                <a:spcPct val="89000"/>
              </a:lnSpc>
              <a:spcBef>
                <a:spcPts val="915"/>
              </a:spcBef>
              <a:tabLst>
                <a:tab pos="28829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结果如下图</a:t>
            </a:r>
            <a:endParaRPr sz="2400" dirty="0">
              <a:latin typeface="微软雅黑" panose="020B0503020204020204" charset="-122"/>
              <a:ea typeface="微软雅黑" panose="020B0503020204020204" charset="-122"/>
              <a:cs typeface="微软雅黑" panose="020B0503020204020204" charset="-122"/>
            </a:endParaRPr>
          </a:p>
          <a:p>
            <a:pPr marL="72390" algn="l" rtl="0" eaLnBrk="0">
              <a:lnSpc>
                <a:spcPct val="89000"/>
              </a:lnSpc>
              <a:spcBef>
                <a:spcPts val="915"/>
              </a:spcBef>
              <a:tabLst>
                <a:tab pos="28829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 流量模式变化快速，无周期规</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律</a:t>
            </a:r>
            <a:endParaRPr sz="2400" dirty="0">
              <a:latin typeface="微软雅黑" panose="020B0503020204020204" charset="-122"/>
              <a:ea typeface="微软雅黑" panose="020B0503020204020204" charset="-122"/>
              <a:cs typeface="微软雅黑" panose="020B0503020204020204" charset="-122"/>
            </a:endParaRPr>
          </a:p>
          <a:p>
            <a:pPr marL="72390" algn="l" rtl="0" eaLnBrk="0">
              <a:lnSpc>
                <a:spcPct val="89000"/>
              </a:lnSpc>
              <a:spcBef>
                <a:spcPts val="920"/>
              </a:spcBef>
              <a:tabLst>
                <a:tab pos="28892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(b) 流量持续时间短</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700" dirty="0">
              <a:latin typeface="Arial" panose="020B0604020202020204"/>
              <a:ea typeface="Arial" panose="020B0604020202020204"/>
              <a:cs typeface="Arial" panose="020B0604020202020204"/>
            </a:endParaRPr>
          </a:p>
          <a:p>
            <a:pPr marL="72390" algn="l" rtl="0" eaLnBrk="0">
              <a:lnSpc>
                <a:spcPct val="89000"/>
              </a:lnSpc>
              <a:spcBef>
                <a:spcPts val="5"/>
              </a:spcBef>
              <a:tabLst>
                <a:tab pos="28829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(c) 相同模式重复出</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现无规律</a:t>
            </a:r>
            <a:endParaRPr sz="2400" dirty="0">
              <a:latin typeface="微软雅黑" panose="020B0503020204020204" charset="-122"/>
              <a:ea typeface="微软雅黑" panose="020B0503020204020204" charset="-122"/>
              <a:cs typeface="微软雅黑" panose="020B0503020204020204" charset="-122"/>
            </a:endParaRPr>
          </a:p>
        </p:txBody>
      </p:sp>
      <p:pic>
        <p:nvPicPr>
          <p:cNvPr id="558" name="picture 558"/>
          <p:cNvPicPr>
            <a:picLocks noChangeAspect="1"/>
          </p:cNvPicPr>
          <p:nvPr/>
        </p:nvPicPr>
        <p:blipFill>
          <a:blip r:embed="rId1"/>
          <a:stretch>
            <a:fillRect/>
          </a:stretch>
        </p:blipFill>
        <p:spPr>
          <a:xfrm rot="21600000">
            <a:off x="648919" y="3866692"/>
            <a:ext cx="216408" cy="223723"/>
          </a:xfrm>
          <a:prstGeom prst="rect">
            <a:avLst/>
          </a:prstGeom>
        </p:spPr>
      </p:pic>
      <p:pic>
        <p:nvPicPr>
          <p:cNvPr id="560" name="picture 560"/>
          <p:cNvPicPr>
            <a:picLocks noChangeAspect="1"/>
          </p:cNvPicPr>
          <p:nvPr/>
        </p:nvPicPr>
        <p:blipFill>
          <a:blip r:embed="rId2"/>
          <a:stretch>
            <a:fillRect/>
          </a:stretch>
        </p:blipFill>
        <p:spPr>
          <a:xfrm rot="21600000">
            <a:off x="648944" y="3424255"/>
            <a:ext cx="216624" cy="223946"/>
          </a:xfrm>
          <a:prstGeom prst="rect">
            <a:avLst/>
          </a:prstGeom>
        </p:spPr>
      </p:pic>
      <p:pic>
        <p:nvPicPr>
          <p:cNvPr id="562" name="picture 562"/>
          <p:cNvPicPr>
            <a:picLocks noChangeAspect="1"/>
          </p:cNvPicPr>
          <p:nvPr/>
        </p:nvPicPr>
        <p:blipFill>
          <a:blip r:embed="rId3"/>
          <a:stretch>
            <a:fillRect/>
          </a:stretch>
        </p:blipFill>
        <p:spPr>
          <a:xfrm rot="21600000">
            <a:off x="648919" y="2982518"/>
            <a:ext cx="216408" cy="223723"/>
          </a:xfrm>
          <a:prstGeom prst="rect">
            <a:avLst/>
          </a:prstGeom>
        </p:spPr>
      </p:pic>
      <p:pic>
        <p:nvPicPr>
          <p:cNvPr id="564" name="picture 564"/>
          <p:cNvPicPr>
            <a:picLocks noChangeAspect="1"/>
          </p:cNvPicPr>
          <p:nvPr/>
        </p:nvPicPr>
        <p:blipFill>
          <a:blip r:embed="rId1"/>
          <a:stretch>
            <a:fillRect/>
          </a:stretch>
        </p:blipFill>
        <p:spPr>
          <a:xfrm rot="21600000">
            <a:off x="648919" y="2540558"/>
            <a:ext cx="216408" cy="223723"/>
          </a:xfrm>
          <a:prstGeom prst="rect">
            <a:avLst/>
          </a:prstGeom>
        </p:spPr>
      </p:pic>
      <p:pic>
        <p:nvPicPr>
          <p:cNvPr id="566" name="picture 566"/>
          <p:cNvPicPr>
            <a:picLocks noChangeAspect="1"/>
          </p:cNvPicPr>
          <p:nvPr/>
        </p:nvPicPr>
        <p:blipFill>
          <a:blip r:embed="rId3"/>
          <a:stretch>
            <a:fillRect/>
          </a:stretch>
        </p:blipFill>
        <p:spPr>
          <a:xfrm rot="21600000">
            <a:off x="648919" y="2098598"/>
            <a:ext cx="216408" cy="223723"/>
          </a:xfrm>
          <a:prstGeom prst="rect">
            <a:avLst/>
          </a:prstGeom>
        </p:spPr>
      </p:pic>
      <p:pic>
        <p:nvPicPr>
          <p:cNvPr id="568" name="picture 568"/>
          <p:cNvPicPr>
            <a:picLocks noChangeAspect="1"/>
          </p:cNvPicPr>
          <p:nvPr/>
        </p:nvPicPr>
        <p:blipFill>
          <a:blip r:embed="rId4"/>
          <a:stretch>
            <a:fillRect/>
          </a:stretch>
        </p:blipFill>
        <p:spPr>
          <a:xfrm rot="21600000">
            <a:off x="5868923" y="2593848"/>
            <a:ext cx="6237732" cy="3509771"/>
          </a:xfrm>
          <a:prstGeom prst="rect">
            <a:avLst/>
          </a:prstGeom>
        </p:spPr>
      </p:pic>
      <p:sp>
        <p:nvSpPr>
          <p:cNvPr id="570" name="textbox 570"/>
          <p:cNvSpPr/>
          <p:nvPr/>
        </p:nvSpPr>
        <p:spPr>
          <a:xfrm>
            <a:off x="614578" y="4547133"/>
            <a:ext cx="4898390" cy="1524000"/>
          </a:xfrm>
          <a:prstGeom prst="rect">
            <a:avLst/>
          </a:prstGeom>
          <a:noFill/>
          <a:ln w="0" cap="flat">
            <a:noFill/>
            <a:prstDash val="solid"/>
            <a:miter lim="0"/>
          </a:ln>
        </p:spPr>
        <p:txBody>
          <a:bodyPr vert="horz" wrap="square" lIns="0" tIns="0" rIns="0" bIns="0"/>
          <a:lstStyle/>
          <a:p>
            <a:pPr algn="l" rtl="0" eaLnBrk="0">
              <a:lnSpc>
                <a:spcPct val="102000"/>
              </a:lnSpc>
            </a:pPr>
            <a:endParaRPr sz="100" dirty="0">
              <a:latin typeface="Arial" panose="020B0604020202020204"/>
              <a:ea typeface="Arial" panose="020B0604020202020204"/>
              <a:cs typeface="Arial" panose="020B0604020202020204"/>
            </a:endParaRPr>
          </a:p>
          <a:p>
            <a:pPr marL="15240" indent="-2540" algn="l" rtl="0" eaLnBrk="0">
              <a:lnSpc>
                <a:spcPct val="94000"/>
              </a:lnSpc>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流量模式的随机性来源于</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数据中心应</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用采用随机数来提升性能。</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2000"/>
              </a:lnSpc>
            </a:pPr>
            <a:endParaRPr sz="700" dirty="0">
              <a:latin typeface="Arial" panose="020B0604020202020204"/>
              <a:ea typeface="Arial" panose="020B0604020202020204"/>
              <a:cs typeface="Arial" panose="020B0604020202020204"/>
            </a:endParaRPr>
          </a:p>
          <a:p>
            <a:pPr marL="13970" indent="-1270" algn="l" rtl="0" eaLnBrk="0">
              <a:lnSpc>
                <a:spcPct val="94000"/>
              </a:lnSpc>
              <a:spcBef>
                <a:spcPts val="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流量模式观测表明其他路</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由策略的性</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能很难优于VLB。</a:t>
            </a:r>
            <a:endParaRPr sz="2400" dirty="0">
              <a:latin typeface="微软雅黑" panose="020B0503020204020204" charset="-122"/>
              <a:ea typeface="微软雅黑" panose="020B0503020204020204" charset="-122"/>
              <a:cs typeface="微软雅黑" panose="020B0503020204020204" charset="-122"/>
            </a:endParaRPr>
          </a:p>
        </p:txBody>
      </p:sp>
      <p:sp>
        <p:nvSpPr>
          <p:cNvPr id="572" name="textbox 572"/>
          <p:cNvSpPr/>
          <p:nvPr/>
        </p:nvSpPr>
        <p:spPr>
          <a:xfrm>
            <a:off x="614578" y="1059897"/>
            <a:ext cx="6870065" cy="85280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3335" algn="l" rtl="0" eaLnBrk="0">
              <a:lnSpc>
                <a:spcPct val="92000"/>
              </a:lnSpc>
            </a:pP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流量矩阵分析 – 不稳定性</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1000"/>
              </a:lnSpc>
            </a:pPr>
            <a:endParaRPr sz="800" dirty="0">
              <a:latin typeface="Arial" panose="020B0604020202020204"/>
              <a:ea typeface="Arial" panose="020B0604020202020204"/>
              <a:cs typeface="Arial" panose="020B0604020202020204"/>
            </a:endParaRPr>
          </a:p>
          <a:p>
            <a:pPr algn="r" rtl="0" eaLnBrk="0">
              <a:lnSpc>
                <a:spcPct val="89000"/>
              </a:lnSpc>
              <a:spcBef>
                <a:spcPts val="0"/>
              </a:spcBef>
            </a:pPr>
            <a:r>
              <a:rPr sz="2400" kern="0" spc="-60" dirty="0">
                <a:solidFill>
                  <a:srgbClr val="4472C4">
                    <a:alpha val="100000"/>
                  </a:srgbClr>
                </a:solidFill>
                <a:latin typeface="微软雅黑" panose="020B0503020204020204" charset="-122"/>
                <a:ea typeface="微软雅黑" panose="020B0503020204020204" charset="-122"/>
                <a:cs typeface="微软雅黑" panose="020B0503020204020204" charset="-122"/>
              </a:rPr>
              <a:t>给定当前流量模式，下一时刻的流量模式可预测吗？</a:t>
            </a:r>
            <a:endParaRPr sz="2400" dirty="0">
              <a:latin typeface="微软雅黑" panose="020B0503020204020204" charset="-122"/>
              <a:ea typeface="微软雅黑" panose="020B0503020204020204" charset="-122"/>
              <a:cs typeface="微软雅黑" panose="020B0503020204020204" charset="-122"/>
            </a:endParaRPr>
          </a:p>
        </p:txBody>
      </p:sp>
      <p:sp>
        <p:nvSpPr>
          <p:cNvPr id="574" name="textbox 574"/>
          <p:cNvSpPr/>
          <p:nvPr/>
        </p:nvSpPr>
        <p:spPr>
          <a:xfrm>
            <a:off x="324014" y="317074"/>
            <a:ext cx="4631054"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90" dirty="0">
                <a:solidFill>
                  <a:srgbClr val="F26849">
                    <a:alpha val="100000"/>
                  </a:srgbClr>
                </a:solidFill>
                <a:latin typeface="微软雅黑" panose="020B0503020204020204" charset="-122"/>
                <a:ea typeface="微软雅黑" panose="020B0503020204020204" charset="-122"/>
                <a:cs typeface="微软雅黑" panose="020B0503020204020204" charset="-122"/>
              </a:rPr>
              <a:t>3.3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Traffic</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Matrix</a:t>
            </a:r>
            <a:r>
              <a:rPr sz="2700" b="1" kern="0" spc="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p:txBody>
      </p:sp>
      <p:pic>
        <p:nvPicPr>
          <p:cNvPr id="576" name="picture 576"/>
          <p:cNvPicPr>
            <a:picLocks noChangeAspect="1"/>
          </p:cNvPicPr>
          <p:nvPr/>
        </p:nvPicPr>
        <p:blipFill>
          <a:blip r:embed="rId5"/>
          <a:stretch>
            <a:fillRect/>
          </a:stretch>
        </p:blipFill>
        <p:spPr>
          <a:xfrm rot="21600000">
            <a:off x="11338559" y="18288"/>
            <a:ext cx="720852" cy="719328"/>
          </a:xfrm>
          <a:prstGeom prst="rect">
            <a:avLst/>
          </a:prstGeom>
        </p:spPr>
      </p:pic>
      <p:pic>
        <p:nvPicPr>
          <p:cNvPr id="578" name="picture 578"/>
          <p:cNvPicPr>
            <a:picLocks noChangeAspect="1"/>
          </p:cNvPicPr>
          <p:nvPr/>
        </p:nvPicPr>
        <p:blipFill>
          <a:blip r:embed="rId6"/>
          <a:stretch>
            <a:fillRect/>
          </a:stretch>
        </p:blipFill>
        <p:spPr>
          <a:xfrm rot="21600000">
            <a:off x="155447" y="751332"/>
            <a:ext cx="11881104" cy="19811"/>
          </a:xfrm>
          <a:prstGeom prst="rect">
            <a:avLst/>
          </a:prstGeom>
        </p:spPr>
      </p:pic>
      <p:pic>
        <p:nvPicPr>
          <p:cNvPr id="580" name="picture 580"/>
          <p:cNvPicPr>
            <a:picLocks noChangeAspect="1"/>
          </p:cNvPicPr>
          <p:nvPr/>
        </p:nvPicPr>
        <p:blipFill>
          <a:blip r:embed="rId7"/>
          <a:stretch>
            <a:fillRect/>
          </a:stretch>
        </p:blipFill>
        <p:spPr>
          <a:xfrm rot="21600000">
            <a:off x="161544" y="6461759"/>
            <a:ext cx="11879580" cy="18288"/>
          </a:xfrm>
          <a:prstGeom prst="rect">
            <a:avLst/>
          </a:prstGeom>
        </p:spPr>
      </p:pic>
      <p:sp>
        <p:nvSpPr>
          <p:cNvPr id="582" name="textbox 582"/>
          <p:cNvSpPr/>
          <p:nvPr/>
        </p:nvSpPr>
        <p:spPr>
          <a:xfrm>
            <a:off x="11586987"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30</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rect 584"/>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586" name="textbox 586"/>
          <p:cNvSpPr/>
          <p:nvPr/>
        </p:nvSpPr>
        <p:spPr>
          <a:xfrm>
            <a:off x="2906265" y="436372"/>
            <a:ext cx="6320154" cy="6214109"/>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51735"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4472C4">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1.</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Data</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Center</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Traffic</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86410" algn="l" rtl="0" eaLnBrk="0">
              <a:lnSpc>
                <a:spcPct val="100000"/>
              </a:lnSpc>
              <a:spcBef>
                <a:spcPts val="1325"/>
              </a:spcBef>
            </a:pPr>
            <a:r>
              <a:rPr sz="2700" b="1" kern="0" spc="210" dirty="0">
                <a:solidFill>
                  <a:srgbClr val="D9D9D9">
                    <a:alpha val="100000"/>
                  </a:srgbClr>
                </a:solidFill>
                <a:latin typeface="微软雅黑" panose="020B0503020204020204" charset="-122"/>
                <a:ea typeface="微软雅黑" panose="020B0503020204020204" charset="-122"/>
                <a:cs typeface="微软雅黑" panose="020B0503020204020204" charset="-122"/>
              </a:rPr>
              <a:t>2.</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Flow</a:t>
            </a:r>
            <a:r>
              <a:rPr sz="2700" b="1" kern="0" spc="2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Distribution</a:t>
            </a:r>
            <a:r>
              <a:rPr sz="2700" b="1" kern="0" spc="2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320"/>
              </a:spcBef>
            </a:pP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Traffic</a:t>
            </a:r>
            <a:r>
              <a:rPr sz="2700" b="1" kern="0" spc="3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Matrix</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Analysis</a:t>
            </a:r>
            <a:endParaRPr sz="2700" dirty="0">
              <a:latin typeface="微软雅黑" panose="020B0503020204020204" charset="-122"/>
              <a:ea typeface="微软雅黑" panose="020B0503020204020204" charset="-122"/>
              <a:cs typeface="微软雅黑" panose="020B0503020204020204" charset="-122"/>
            </a:endParaRPr>
          </a:p>
          <a:p>
            <a:pPr marL="473710" algn="l" rtl="0" eaLnBrk="0">
              <a:lnSpc>
                <a:spcPct val="92000"/>
              </a:lnSpc>
              <a:spcBef>
                <a:spcPts val="1320"/>
              </a:spcBef>
            </a:pPr>
            <a:r>
              <a:rPr sz="2700" b="1" kern="0" spc="220" dirty="0">
                <a:solidFill>
                  <a:srgbClr val="4472C4">
                    <a:alpha val="100000"/>
                  </a:srgbClr>
                </a:solidFill>
                <a:latin typeface="微软雅黑" panose="020B0503020204020204" charset="-122"/>
                <a:ea typeface="微软雅黑" panose="020B0503020204020204" charset="-122"/>
                <a:cs typeface="微软雅黑" panose="020B0503020204020204" charset="-122"/>
              </a:rPr>
              <a:t>4.</a:t>
            </a: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Failure</a:t>
            </a:r>
            <a:r>
              <a:rPr sz="2700" b="1" kern="0" spc="2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Characteristics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588" name="picture 588"/>
          <p:cNvPicPr>
            <a:picLocks noChangeAspect="1"/>
          </p:cNvPicPr>
          <p:nvPr/>
        </p:nvPicPr>
        <p:blipFill>
          <a:blip r:embed="rId1"/>
          <a:stretch>
            <a:fillRect/>
          </a:stretch>
        </p:blipFill>
        <p:spPr>
          <a:xfrm rot="21600000">
            <a:off x="0" y="0"/>
            <a:ext cx="12192000" cy="288035"/>
          </a:xfrm>
          <a:prstGeom prst="rect">
            <a:avLst/>
          </a:prstGeom>
        </p:spPr>
      </p:pic>
      <p:pic>
        <p:nvPicPr>
          <p:cNvPr id="590" name="picture 590"/>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2" name="table 592"/>
          <p:cNvGraphicFramePr>
            <a:graphicFrameLocks noGrp="1"/>
          </p:cNvGraphicFramePr>
          <p:nvPr/>
        </p:nvGraphicFramePr>
        <p:xfrm>
          <a:off x="474929" y="2883027"/>
          <a:ext cx="11140440" cy="2390139"/>
        </p:xfrm>
        <a:graphic>
          <a:graphicData uri="http://schemas.openxmlformats.org/drawingml/2006/table">
            <a:tbl>
              <a:tblPr/>
              <a:tblGrid>
                <a:gridCol w="5570220"/>
                <a:gridCol w="5570220"/>
              </a:tblGrid>
              <a:tr h="463550">
                <a:tc>
                  <a:txBody>
                    <a:bodyPr/>
                    <a:lstStyle/>
                    <a:p>
                      <a:pPr algn="l" rtl="0" eaLnBrk="0">
                        <a:lnSpc>
                          <a:spcPct val="118000"/>
                        </a:lnSpc>
                      </a:pPr>
                      <a:endParaRPr sz="500" dirty="0">
                        <a:latin typeface="Arial" panose="020B0604020202020204"/>
                        <a:ea typeface="Arial" panose="020B0604020202020204"/>
                        <a:cs typeface="Arial" panose="020B0604020202020204"/>
                      </a:endParaRPr>
                    </a:p>
                    <a:p>
                      <a:pPr marL="128270" algn="l" rtl="0" eaLnBrk="0">
                        <a:lnSpc>
                          <a:spcPct val="87000"/>
                        </a:lnSpc>
                        <a:spcBef>
                          <a:spcPts val="5"/>
                        </a:spcBef>
                      </a:pPr>
                      <a:r>
                        <a:rPr sz="2400" b="1" kern="0" spc="-30" dirty="0">
                          <a:solidFill>
                            <a:srgbClr val="FFFFFF">
                              <a:alpha val="100000"/>
                            </a:srgbClr>
                          </a:solidFill>
                          <a:latin typeface="等线" panose="02010600030101010101" charset="-122"/>
                          <a:ea typeface="等线" panose="02010600030101010101" charset="-122"/>
                          <a:cs typeface="等线" panose="02010600030101010101" charset="-122"/>
                        </a:rPr>
                        <a:t>网络设备故障的模式</a:t>
                      </a:r>
                      <a:endParaRPr sz="24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18000"/>
                        </a:lnSpc>
                      </a:pPr>
                      <a:endParaRPr sz="500" dirty="0">
                        <a:latin typeface="Arial" panose="020B0604020202020204"/>
                        <a:ea typeface="Arial" panose="020B0604020202020204"/>
                        <a:cs typeface="Arial" panose="020B0604020202020204"/>
                      </a:endParaRPr>
                    </a:p>
                    <a:p>
                      <a:pPr marL="123190" algn="l" rtl="0" eaLnBrk="0">
                        <a:lnSpc>
                          <a:spcPct val="87000"/>
                        </a:lnSpc>
                        <a:spcBef>
                          <a:spcPts val="5"/>
                        </a:spcBef>
                      </a:pPr>
                      <a:r>
                        <a:rPr sz="2400" b="1" kern="0" spc="-30" dirty="0">
                          <a:solidFill>
                            <a:srgbClr val="FFFFFF">
                              <a:alpha val="100000"/>
                            </a:srgbClr>
                          </a:solidFill>
                          <a:latin typeface="等线" panose="02010600030101010101" charset="-122"/>
                          <a:ea typeface="等线" panose="02010600030101010101" charset="-122"/>
                          <a:cs typeface="等线" panose="02010600030101010101" charset="-122"/>
                        </a:rPr>
                        <a:t>网络设备故障的影响</a:t>
                      </a:r>
                      <a:endParaRPr sz="24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r>
              <a:tr h="1926589">
                <a:tc>
                  <a:txBody>
                    <a:bodyPr/>
                    <a:lstStyle/>
                    <a:p>
                      <a:pPr algn="l" rtl="0" eaLnBrk="0">
                        <a:lnSpc>
                          <a:spcPct val="112000"/>
                        </a:lnSpc>
                      </a:pPr>
                      <a:endParaRPr sz="500" dirty="0">
                        <a:latin typeface="Arial" panose="020B0604020202020204"/>
                        <a:ea typeface="Arial" panose="020B0604020202020204"/>
                        <a:cs typeface="Arial" panose="020B0604020202020204"/>
                      </a:endParaRPr>
                    </a:p>
                    <a:p>
                      <a:pPr marL="123190" algn="l" rtl="0" eaLnBrk="0">
                        <a:lnSpc>
                          <a:spcPct val="88000"/>
                        </a:lnSpc>
                        <a:spcBef>
                          <a:spcPts val="5"/>
                        </a:spcBef>
                        <a:tabLst>
                          <a:tab pos="339725" algn="l"/>
                        </a:tabLst>
                      </a:pPr>
                      <a:r>
                        <a:rPr sz="2400" kern="0" spc="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19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10" dirty="0">
                          <a:solidFill>
                            <a:srgbClr val="000000">
                              <a:alpha val="100000"/>
                            </a:srgbClr>
                          </a:solidFill>
                          <a:latin typeface="等线" panose="02010600030101010101" charset="-122"/>
                          <a:ea typeface="等线" panose="02010600030101010101" charset="-122"/>
                          <a:cs typeface="等线" panose="02010600030101010101" charset="-122"/>
                        </a:rPr>
                        <a:t>大部分故障规模很小：</a:t>
                      </a:r>
                      <a:r>
                        <a:rPr sz="2400" kern="0" spc="-57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10" dirty="0">
                          <a:solidFill>
                            <a:srgbClr val="000000">
                              <a:alpha val="100000"/>
                            </a:srgbClr>
                          </a:solidFill>
                          <a:latin typeface="Calibri" panose="020F0502020204030204"/>
                          <a:ea typeface="Calibri" panose="020F0502020204030204"/>
                          <a:cs typeface="Calibri" panose="020F0502020204030204"/>
                        </a:rPr>
                        <a:t>50</a:t>
                      </a:r>
                      <a:r>
                        <a:rPr sz="2400" kern="0" spc="-20" dirty="0">
                          <a:solidFill>
                            <a:srgbClr val="000000">
                              <a:alpha val="100000"/>
                            </a:srgbClr>
                          </a:solidFill>
                          <a:latin typeface="Calibri" panose="020F0502020204030204"/>
                          <a:ea typeface="Calibri" panose="020F0502020204030204"/>
                          <a:cs typeface="Calibri" panose="020F0502020204030204"/>
                        </a:rPr>
                        <a:t>% &lt; 4</a:t>
                      </a:r>
                      <a:r>
                        <a:rPr sz="2400" kern="0" spc="-20" dirty="0">
                          <a:solidFill>
                            <a:srgbClr val="000000">
                              <a:alpha val="100000"/>
                            </a:srgbClr>
                          </a:solidFill>
                          <a:latin typeface="等线" panose="02010600030101010101" charset="-122"/>
                          <a:ea typeface="等线" panose="02010600030101010101" charset="-122"/>
                          <a:cs typeface="等线" panose="02010600030101010101" charset="-122"/>
                        </a:rPr>
                        <a:t>设备</a:t>
                      </a:r>
                      <a:endParaRPr sz="2400" dirty="0">
                        <a:latin typeface="等线" panose="02010600030101010101" charset="-122"/>
                        <a:ea typeface="等线" panose="02010600030101010101" charset="-122"/>
                        <a:cs typeface="等线" panose="02010600030101010101" charset="-122"/>
                      </a:endParaRPr>
                    </a:p>
                    <a:p>
                      <a:pPr marL="123190" algn="l" rtl="0" eaLnBrk="0">
                        <a:lnSpc>
                          <a:spcPct val="87000"/>
                        </a:lnSpc>
                        <a:spcBef>
                          <a:spcPts val="330"/>
                        </a:spcBef>
                        <a:tabLst>
                          <a:tab pos="339725" algn="l"/>
                        </a:tabLst>
                      </a:pPr>
                      <a:r>
                        <a:rPr sz="2400" kern="0" spc="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12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20" dirty="0">
                          <a:solidFill>
                            <a:srgbClr val="000000">
                              <a:alpha val="100000"/>
                            </a:srgbClr>
                          </a:solidFill>
                          <a:latin typeface="等线" panose="02010600030101010101" charset="-122"/>
                          <a:ea typeface="等线" panose="02010600030101010101" charset="-122"/>
                          <a:cs typeface="等线" panose="02010600030101010101" charset="-122"/>
                        </a:rPr>
                        <a:t>大型连锁故障很少见</a:t>
                      </a:r>
                      <a:endParaRPr sz="2400" dirty="0">
                        <a:latin typeface="等线" panose="02010600030101010101" charset="-122"/>
                        <a:ea typeface="等线" panose="02010600030101010101" charset="-122"/>
                        <a:cs typeface="等线" panose="02010600030101010101" charset="-122"/>
                      </a:endParaRPr>
                    </a:p>
                    <a:p>
                      <a:pPr marL="123190" algn="l" rtl="0" eaLnBrk="0">
                        <a:lnSpc>
                          <a:spcPct val="88000"/>
                        </a:lnSpc>
                        <a:spcBef>
                          <a:spcPts val="390"/>
                        </a:spcBef>
                        <a:tabLst>
                          <a:tab pos="339725" algn="l"/>
                        </a:tabLst>
                      </a:pPr>
                      <a:r>
                        <a:rPr sz="2400" kern="0" spc="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15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10" dirty="0">
                          <a:solidFill>
                            <a:srgbClr val="000000">
                              <a:alpha val="100000"/>
                            </a:srgbClr>
                          </a:solidFill>
                          <a:latin typeface="等线" panose="02010600030101010101" charset="-122"/>
                          <a:ea typeface="等线" panose="02010600030101010101" charset="-122"/>
                          <a:cs typeface="等线" panose="02010600030101010101" charset="-122"/>
                        </a:rPr>
                        <a:t>然而，故障时间</a:t>
                      </a:r>
                      <a:r>
                        <a:rPr sz="2400" kern="0" spc="-10" dirty="0">
                          <a:solidFill>
                            <a:srgbClr val="000000">
                              <a:alpha val="100000"/>
                            </a:srgbClr>
                          </a:solidFill>
                          <a:latin typeface="Calibri" panose="020F0502020204030204"/>
                          <a:ea typeface="Calibri" panose="020F0502020204030204"/>
                          <a:cs typeface="Calibri" panose="020F0502020204030204"/>
                        </a:rPr>
                        <a:t>(downtime)</a:t>
                      </a:r>
                      <a:r>
                        <a:rPr sz="2400" kern="0" spc="-10" dirty="0">
                          <a:solidFill>
                            <a:srgbClr val="000000">
                              <a:alpha val="100000"/>
                            </a:srgbClr>
                          </a:solidFill>
                          <a:latin typeface="等线" panose="02010600030101010101" charset="-122"/>
                          <a:ea typeface="等线" panose="02010600030101010101" charset="-122"/>
                          <a:cs typeface="等线" panose="02010600030101010101" charset="-122"/>
                        </a:rPr>
                        <a:t>可能很长</a:t>
                      </a:r>
                      <a:endParaRPr sz="24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5000"/>
                        </a:lnSpc>
                      </a:pPr>
                      <a:endParaRPr sz="500" dirty="0">
                        <a:latin typeface="Arial" panose="020B0604020202020204"/>
                        <a:ea typeface="Arial" panose="020B0604020202020204"/>
                        <a:cs typeface="Arial" panose="020B0604020202020204"/>
                      </a:endParaRPr>
                    </a:p>
                    <a:p>
                      <a:pPr marL="387350" indent="-269240" algn="l" rtl="0" eaLnBrk="0">
                        <a:lnSpc>
                          <a:spcPct val="96000"/>
                        </a:lnSpc>
                        <a:spcBef>
                          <a:spcPts val="5"/>
                        </a:spcBef>
                        <a:tabLst>
                          <a:tab pos="334645" algn="l"/>
                        </a:tabLst>
                      </a:pPr>
                      <a:r>
                        <a:rPr sz="2400" kern="0" spc="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15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10" dirty="0">
                          <a:solidFill>
                            <a:srgbClr val="000000">
                              <a:alpha val="100000"/>
                            </a:srgbClr>
                          </a:solidFill>
                          <a:latin typeface="等线" panose="02010600030101010101" charset="-122"/>
                          <a:ea typeface="等线" panose="02010600030101010101" charset="-122"/>
                          <a:cs typeface="等线" panose="02010600030101010101" charset="-122"/>
                        </a:rPr>
                        <a:t>如前所述，传统网络采用</a:t>
                      </a:r>
                      <a:r>
                        <a:rPr sz="2400" kern="0" spc="-10" dirty="0">
                          <a:solidFill>
                            <a:srgbClr val="000000">
                              <a:alpha val="100000"/>
                            </a:srgbClr>
                          </a:solidFill>
                          <a:latin typeface="Calibri" panose="020F0502020204030204"/>
                          <a:ea typeface="Calibri" panose="020F0502020204030204"/>
                          <a:cs typeface="Calibri" panose="020F0502020204030204"/>
                        </a:rPr>
                        <a:t>1:1</a:t>
                      </a:r>
                      <a:r>
                        <a:rPr sz="2400" kern="0" spc="-10" dirty="0">
                          <a:solidFill>
                            <a:srgbClr val="000000">
                              <a:alpha val="100000"/>
                            </a:srgbClr>
                          </a:solidFill>
                          <a:latin typeface="等线" panose="02010600030101010101" charset="-122"/>
                          <a:ea typeface="等线" panose="02010600030101010101" charset="-122"/>
                          <a:cs typeface="等线" panose="02010600030101010101" charset="-122"/>
                        </a:rPr>
                        <a:t>冗余来提</a:t>
                      </a:r>
                      <a:r>
                        <a:rPr sz="2400" kern="0" spc="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0" dirty="0">
                          <a:solidFill>
                            <a:srgbClr val="000000">
                              <a:alpha val="100000"/>
                            </a:srgbClr>
                          </a:solidFill>
                          <a:latin typeface="等线" panose="02010600030101010101" charset="-122"/>
                          <a:ea typeface="等线" panose="02010600030101010101" charset="-122"/>
                          <a:cs typeface="等线" panose="02010600030101010101" charset="-122"/>
                        </a:rPr>
                        <a:t>升容灾能力，但在</a:t>
                      </a:r>
                      <a:r>
                        <a:rPr sz="2400" kern="0" spc="0" dirty="0">
                          <a:solidFill>
                            <a:srgbClr val="000000">
                              <a:alpha val="100000"/>
                            </a:srgbClr>
                          </a:solidFill>
                          <a:latin typeface="Calibri" panose="020F0502020204030204"/>
                          <a:ea typeface="Calibri" panose="020F0502020204030204"/>
                          <a:cs typeface="Calibri" panose="020F0502020204030204"/>
                        </a:rPr>
                        <a:t>0</a:t>
                      </a:r>
                      <a:r>
                        <a:rPr sz="2400" kern="0" spc="-10" dirty="0">
                          <a:solidFill>
                            <a:srgbClr val="000000">
                              <a:alpha val="100000"/>
                            </a:srgbClr>
                          </a:solidFill>
                          <a:latin typeface="Calibri" panose="020F0502020204030204"/>
                          <a:ea typeface="Calibri" panose="020F0502020204030204"/>
                          <a:cs typeface="Calibri" panose="020F0502020204030204"/>
                        </a:rPr>
                        <a:t>.3%</a:t>
                      </a:r>
                      <a:r>
                        <a:rPr sz="2400" kern="0" spc="-10" dirty="0">
                          <a:solidFill>
                            <a:srgbClr val="000000">
                              <a:alpha val="100000"/>
                            </a:srgbClr>
                          </a:solidFill>
                          <a:latin typeface="等线" panose="02010600030101010101" charset="-122"/>
                          <a:ea typeface="等线" panose="02010600030101010101" charset="-122"/>
                          <a:cs typeface="等线" panose="02010600030101010101" charset="-122"/>
                        </a:rPr>
                        <a:t>的故障中，一     </a:t>
                      </a:r>
                      <a:r>
                        <a:rPr sz="2400" kern="0" spc="-20" dirty="0">
                          <a:solidFill>
                            <a:srgbClr val="000000">
                              <a:alpha val="100000"/>
                            </a:srgbClr>
                          </a:solidFill>
                          <a:latin typeface="等线" panose="02010600030101010101" charset="-122"/>
                          <a:ea typeface="等线" panose="02010600030101010101" charset="-122"/>
                          <a:cs typeface="等线" panose="02010600030101010101" charset="-122"/>
                        </a:rPr>
                        <a:t>个网络设备组的所有</a:t>
                      </a:r>
                      <a:r>
                        <a:rPr sz="2400" kern="0" spc="-30" dirty="0">
                          <a:solidFill>
                            <a:srgbClr val="000000">
                              <a:alpha val="100000"/>
                            </a:srgbClr>
                          </a:solidFill>
                          <a:latin typeface="等线" panose="02010600030101010101" charset="-122"/>
                          <a:ea typeface="等线" panose="02010600030101010101" charset="-122"/>
                          <a:cs typeface="等线" panose="02010600030101010101" charset="-122"/>
                        </a:rPr>
                        <a:t>设备不可用。</a:t>
                      </a:r>
                      <a:endParaRPr sz="2400" dirty="0">
                        <a:latin typeface="等线" panose="02010600030101010101" charset="-122"/>
                        <a:ea typeface="等线" panose="02010600030101010101" charset="-122"/>
                        <a:cs typeface="等线" panose="02010600030101010101" charset="-122"/>
                      </a:endParaRPr>
                    </a:p>
                    <a:p>
                      <a:pPr marL="390525" indent="-272415" algn="l" rtl="0" eaLnBrk="0">
                        <a:lnSpc>
                          <a:spcPct val="93000"/>
                        </a:lnSpc>
                        <a:spcBef>
                          <a:spcPts val="405"/>
                        </a:spcBef>
                        <a:tabLst>
                          <a:tab pos="334645" algn="l"/>
                        </a:tabLst>
                      </a:pPr>
                      <a:r>
                        <a:rPr sz="2400" kern="0" spc="0" dirty="0">
                          <a:solidFill>
                            <a:srgbClr val="000000">
                              <a:alpha val="100000"/>
                            </a:srgbClr>
                          </a:solidFill>
                          <a:latin typeface="Calibri" panose="020F0502020204030204"/>
                          <a:ea typeface="Calibri" panose="020F0502020204030204"/>
                          <a:cs typeface="Calibri" panose="020F0502020204030204"/>
                        </a:rPr>
                        <a:t>	</a:t>
                      </a:r>
                      <a:r>
                        <a:rPr sz="2400" kern="0" spc="-80" dirty="0">
                          <a:solidFill>
                            <a:srgbClr val="000000">
                              <a:alpha val="100000"/>
                            </a:srgbClr>
                          </a:solidFill>
                          <a:latin typeface="Calibri" panose="020F0502020204030204"/>
                          <a:ea typeface="Calibri" panose="020F0502020204030204"/>
                          <a:cs typeface="Calibri" panose="020F0502020204030204"/>
                        </a:rPr>
                        <a:t> </a:t>
                      </a:r>
                      <a:r>
                        <a:rPr sz="2400" kern="0" spc="-10" dirty="0">
                          <a:solidFill>
                            <a:srgbClr val="000000">
                              <a:alpha val="100000"/>
                            </a:srgbClr>
                          </a:solidFill>
                          <a:latin typeface="Calibri" panose="020F0502020204030204"/>
                          <a:ea typeface="Calibri" panose="020F0502020204030204"/>
                          <a:cs typeface="Calibri" panose="020F0502020204030204"/>
                        </a:rPr>
                        <a:t>Core switch</a:t>
                      </a:r>
                      <a:r>
                        <a:rPr sz="2400" kern="0" spc="-10" dirty="0">
                          <a:solidFill>
                            <a:srgbClr val="000000">
                              <a:alpha val="100000"/>
                            </a:srgbClr>
                          </a:solidFill>
                          <a:latin typeface="等线" panose="02010600030101010101" charset="-122"/>
                          <a:ea typeface="等线" panose="02010600030101010101" charset="-122"/>
                          <a:cs typeface="等线" panose="02010600030101010101" charset="-122"/>
                        </a:rPr>
                        <a:t>的故障可能影响几百万用</a:t>
                      </a:r>
                      <a:r>
                        <a:rPr sz="2400" kern="0" spc="0" dirty="0">
                          <a:solidFill>
                            <a:srgbClr val="000000">
                              <a:alpha val="100000"/>
                            </a:srgbClr>
                          </a:solidFill>
                          <a:latin typeface="等线" panose="02010600030101010101" charset="-122"/>
                          <a:ea typeface="等线" panose="02010600030101010101" charset="-122"/>
                          <a:cs typeface="等线" panose="02010600030101010101" charset="-122"/>
                        </a:rPr>
                        <a:t>      </a:t>
                      </a:r>
                      <a:r>
                        <a:rPr sz="2400" kern="0" spc="-70" dirty="0">
                          <a:solidFill>
                            <a:srgbClr val="000000">
                              <a:alpha val="100000"/>
                            </a:srgbClr>
                          </a:solidFill>
                          <a:latin typeface="等线" panose="02010600030101010101" charset="-122"/>
                          <a:ea typeface="等线" panose="02010600030101010101" charset="-122"/>
                          <a:cs typeface="等线" panose="02010600030101010101" charset="-122"/>
                        </a:rPr>
                        <a:t>户几小时。</a:t>
                      </a:r>
                      <a:endParaRPr sz="24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bl>
          </a:graphicData>
        </a:graphic>
      </p:graphicFrame>
      <p:pic>
        <p:nvPicPr>
          <p:cNvPr id="594" name="picture 594"/>
          <p:cNvPicPr>
            <a:picLocks noChangeAspect="1"/>
          </p:cNvPicPr>
          <p:nvPr/>
        </p:nvPicPr>
        <p:blipFill>
          <a:blip r:embed="rId1"/>
          <a:stretch>
            <a:fillRect/>
          </a:stretch>
        </p:blipFill>
        <p:spPr>
          <a:xfrm rot="21600000">
            <a:off x="6163386" y="4551857"/>
            <a:ext cx="216408" cy="223723"/>
          </a:xfrm>
          <a:prstGeom prst="rect">
            <a:avLst/>
          </a:prstGeom>
        </p:spPr>
      </p:pic>
      <p:pic>
        <p:nvPicPr>
          <p:cNvPr id="596" name="picture 596"/>
          <p:cNvPicPr>
            <a:picLocks noChangeAspect="1"/>
          </p:cNvPicPr>
          <p:nvPr/>
        </p:nvPicPr>
        <p:blipFill>
          <a:blip r:embed="rId1"/>
          <a:stretch>
            <a:fillRect/>
          </a:stretch>
        </p:blipFill>
        <p:spPr>
          <a:xfrm rot="21600000">
            <a:off x="6163386" y="3454323"/>
            <a:ext cx="216408" cy="223723"/>
          </a:xfrm>
          <a:prstGeom prst="rect">
            <a:avLst/>
          </a:prstGeom>
        </p:spPr>
      </p:pic>
      <p:pic>
        <p:nvPicPr>
          <p:cNvPr id="598" name="picture 598"/>
          <p:cNvPicPr>
            <a:picLocks noChangeAspect="1"/>
          </p:cNvPicPr>
          <p:nvPr/>
        </p:nvPicPr>
        <p:blipFill>
          <a:blip r:embed="rId2"/>
          <a:stretch>
            <a:fillRect/>
          </a:stretch>
        </p:blipFill>
        <p:spPr>
          <a:xfrm rot="21600000">
            <a:off x="598322" y="4186097"/>
            <a:ext cx="216408" cy="223723"/>
          </a:xfrm>
          <a:prstGeom prst="rect">
            <a:avLst/>
          </a:prstGeom>
        </p:spPr>
      </p:pic>
      <p:pic>
        <p:nvPicPr>
          <p:cNvPr id="600" name="picture 600"/>
          <p:cNvPicPr>
            <a:picLocks noChangeAspect="1"/>
          </p:cNvPicPr>
          <p:nvPr/>
        </p:nvPicPr>
        <p:blipFill>
          <a:blip r:embed="rId3"/>
          <a:stretch>
            <a:fillRect/>
          </a:stretch>
        </p:blipFill>
        <p:spPr>
          <a:xfrm rot="21600000">
            <a:off x="598348" y="3819859"/>
            <a:ext cx="216624" cy="223946"/>
          </a:xfrm>
          <a:prstGeom prst="rect">
            <a:avLst/>
          </a:prstGeom>
        </p:spPr>
      </p:pic>
      <p:pic>
        <p:nvPicPr>
          <p:cNvPr id="602" name="picture 602"/>
          <p:cNvPicPr>
            <a:picLocks noChangeAspect="1"/>
          </p:cNvPicPr>
          <p:nvPr/>
        </p:nvPicPr>
        <p:blipFill>
          <a:blip r:embed="rId4"/>
          <a:stretch>
            <a:fillRect/>
          </a:stretch>
        </p:blipFill>
        <p:spPr>
          <a:xfrm rot="21600000">
            <a:off x="598322" y="3454323"/>
            <a:ext cx="216408" cy="223723"/>
          </a:xfrm>
          <a:prstGeom prst="rect">
            <a:avLst/>
          </a:prstGeom>
        </p:spPr>
      </p:pic>
      <p:sp>
        <p:nvSpPr>
          <p:cNvPr id="604" name="textbox 604"/>
          <p:cNvSpPr/>
          <p:nvPr/>
        </p:nvSpPr>
        <p:spPr>
          <a:xfrm>
            <a:off x="519938" y="1579117"/>
            <a:ext cx="11153775" cy="977900"/>
          </a:xfrm>
          <a:prstGeom prst="roundRect">
            <a:avLst>
              <a:gd name="adj" fmla="val 9390"/>
            </a:avLst>
          </a:prstGeom>
          <a:noFill/>
          <a:ln w="25400" cap="flat">
            <a:solidFill>
              <a:srgbClr val="A5A5A5"/>
            </a:solidFill>
            <a:prstDash val="solid"/>
            <a:miter lim="0"/>
          </a:ln>
        </p:spPr>
        <p:txBody>
          <a:bodyPr vert="horz" wrap="square" lIns="0" tIns="0" rIns="0" bIns="0"/>
          <a:lstStyle/>
          <a:p>
            <a:pPr algn="l" rtl="0" eaLnBrk="0">
              <a:lnSpc>
                <a:spcPct val="109000"/>
              </a:lnSpc>
            </a:pPr>
            <a:endParaRPr sz="700" dirty="0">
              <a:latin typeface="Arial" panose="020B0604020202020204"/>
              <a:ea typeface="Arial" panose="020B0604020202020204"/>
              <a:cs typeface="Arial" panose="020B0604020202020204"/>
            </a:endParaRPr>
          </a:p>
          <a:p>
            <a:pPr marL="83820" indent="-4445" algn="l" rtl="0" eaLnBrk="0">
              <a:lnSpc>
                <a:spcPct val="94000"/>
              </a:lnSpc>
              <a:spcBef>
                <a:spcPts val="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作者收集了有十几万服务器，部署了上百云服务，服务百万用户的8个</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长达一年的故障记录</a:t>
            </a:r>
            <a:endParaRPr sz="2400" dirty="0">
              <a:latin typeface="微软雅黑" panose="020B0503020204020204" charset="-122"/>
              <a:ea typeface="微软雅黑" panose="020B0503020204020204" charset="-122"/>
              <a:cs typeface="微软雅黑" panose="020B0503020204020204" charset="-122"/>
            </a:endParaRPr>
          </a:p>
        </p:txBody>
      </p:sp>
      <p:sp>
        <p:nvSpPr>
          <p:cNvPr id="606" name="textbox 606"/>
          <p:cNvSpPr/>
          <p:nvPr/>
        </p:nvSpPr>
        <p:spPr>
          <a:xfrm>
            <a:off x="324014" y="317074"/>
            <a:ext cx="4544059"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130" dirty="0">
                <a:solidFill>
                  <a:srgbClr val="F26849">
                    <a:alpha val="100000"/>
                  </a:srgbClr>
                </a:solidFill>
                <a:latin typeface="微软雅黑" panose="020B0503020204020204" charset="-122"/>
                <a:ea typeface="微软雅黑" panose="020B0503020204020204" charset="-122"/>
                <a:cs typeface="微软雅黑" panose="020B0503020204020204" charset="-122"/>
              </a:rPr>
              <a:t>3.4</a:t>
            </a:r>
            <a:r>
              <a:rPr sz="2700" b="1" kern="0" spc="2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Failure</a:t>
            </a:r>
            <a:r>
              <a:rPr sz="2700" b="1" kern="0" spc="13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Characteristics</a:t>
            </a:r>
            <a:endParaRPr sz="2700" dirty="0">
              <a:latin typeface="微软雅黑" panose="020B0503020204020204" charset="-122"/>
              <a:ea typeface="微软雅黑" panose="020B0503020204020204" charset="-122"/>
              <a:cs typeface="微软雅黑" panose="020B0503020204020204" charset="-122"/>
            </a:endParaRPr>
          </a:p>
        </p:txBody>
      </p:sp>
      <p:sp>
        <p:nvSpPr>
          <p:cNvPr id="608" name="textbox 608"/>
          <p:cNvSpPr/>
          <p:nvPr/>
        </p:nvSpPr>
        <p:spPr>
          <a:xfrm>
            <a:off x="620913" y="1059897"/>
            <a:ext cx="1435735"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故障特征</a:t>
            </a:r>
            <a:endParaRPr sz="2700" dirty="0">
              <a:latin typeface="微软雅黑" panose="020B0503020204020204" charset="-122"/>
              <a:ea typeface="微软雅黑" panose="020B0503020204020204" charset="-122"/>
              <a:cs typeface="微软雅黑" panose="020B0503020204020204" charset="-122"/>
            </a:endParaRPr>
          </a:p>
        </p:txBody>
      </p:sp>
      <p:pic>
        <p:nvPicPr>
          <p:cNvPr id="610" name="picture 610"/>
          <p:cNvPicPr>
            <a:picLocks noChangeAspect="1"/>
          </p:cNvPicPr>
          <p:nvPr/>
        </p:nvPicPr>
        <p:blipFill>
          <a:blip r:embed="rId5"/>
          <a:stretch>
            <a:fillRect/>
          </a:stretch>
        </p:blipFill>
        <p:spPr>
          <a:xfrm rot="21600000">
            <a:off x="11338559" y="18288"/>
            <a:ext cx="720852" cy="719328"/>
          </a:xfrm>
          <a:prstGeom prst="rect">
            <a:avLst/>
          </a:prstGeom>
        </p:spPr>
      </p:pic>
      <p:pic>
        <p:nvPicPr>
          <p:cNvPr id="612" name="picture 612"/>
          <p:cNvPicPr>
            <a:picLocks noChangeAspect="1"/>
          </p:cNvPicPr>
          <p:nvPr/>
        </p:nvPicPr>
        <p:blipFill>
          <a:blip r:embed="rId6"/>
          <a:stretch>
            <a:fillRect/>
          </a:stretch>
        </p:blipFill>
        <p:spPr>
          <a:xfrm rot="21600000">
            <a:off x="155447" y="751332"/>
            <a:ext cx="11881104" cy="19811"/>
          </a:xfrm>
          <a:prstGeom prst="rect">
            <a:avLst/>
          </a:prstGeom>
        </p:spPr>
      </p:pic>
      <p:pic>
        <p:nvPicPr>
          <p:cNvPr id="614" name="picture 614"/>
          <p:cNvPicPr>
            <a:picLocks noChangeAspect="1"/>
          </p:cNvPicPr>
          <p:nvPr/>
        </p:nvPicPr>
        <p:blipFill>
          <a:blip r:embed="rId7"/>
          <a:stretch>
            <a:fillRect/>
          </a:stretch>
        </p:blipFill>
        <p:spPr>
          <a:xfrm rot="21600000">
            <a:off x="161544" y="6461759"/>
            <a:ext cx="11879580" cy="18288"/>
          </a:xfrm>
          <a:prstGeom prst="rect">
            <a:avLst/>
          </a:prstGeom>
        </p:spPr>
      </p:pic>
      <p:sp>
        <p:nvSpPr>
          <p:cNvPr id="616" name="textbox 616"/>
          <p:cNvSpPr/>
          <p:nvPr/>
        </p:nvSpPr>
        <p:spPr>
          <a:xfrm>
            <a:off x="11586987"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32</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 name="rect 618"/>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620" name="textbox 620"/>
          <p:cNvSpPr/>
          <p:nvPr/>
        </p:nvSpPr>
        <p:spPr>
          <a:xfrm>
            <a:off x="2935602" y="1151763"/>
            <a:ext cx="6261100" cy="389699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2316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9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622" name="picture 622"/>
          <p:cNvPicPr>
            <a:picLocks noChangeAspect="1"/>
          </p:cNvPicPr>
          <p:nvPr/>
        </p:nvPicPr>
        <p:blipFill>
          <a:blip r:embed="rId1"/>
          <a:stretch>
            <a:fillRect/>
          </a:stretch>
        </p:blipFill>
        <p:spPr>
          <a:xfrm rot="21600000">
            <a:off x="0" y="0"/>
            <a:ext cx="12192000" cy="288035"/>
          </a:xfrm>
          <a:prstGeom prst="rect">
            <a:avLst/>
          </a:prstGeom>
        </p:spPr>
      </p:pic>
      <p:pic>
        <p:nvPicPr>
          <p:cNvPr id="624" name="picture 624"/>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 name="textbox 626"/>
          <p:cNvSpPr/>
          <p:nvPr/>
        </p:nvSpPr>
        <p:spPr>
          <a:xfrm>
            <a:off x="219709" y="1388617"/>
            <a:ext cx="11835765" cy="4975859"/>
          </a:xfrm>
          <a:prstGeom prst="roundRect">
            <a:avLst>
              <a:gd name="adj" fmla="val 7451"/>
            </a:avLst>
          </a:prstGeom>
          <a:noFill/>
          <a:ln w="25400" cap="flat">
            <a:solidFill>
              <a:srgbClr val="A5A5A5"/>
            </a:solidFill>
            <a:prstDash val="solid"/>
            <a:miter lim="0"/>
          </a:ln>
        </p:spPr>
        <p:txBody>
          <a:bodyPr vert="horz" wrap="square" lIns="0" tIns="0" rIns="0" bIns="0"/>
          <a:lstStyle/>
          <a:p>
            <a:pPr algn="l" rtl="0" eaLnBrk="0">
              <a:lnSpc>
                <a:spcPct val="23000"/>
              </a:lnSpc>
            </a:pPr>
            <a:endParaRPr sz="100" dirty="0">
              <a:latin typeface="Arial" panose="020B0604020202020204"/>
              <a:ea typeface="Arial" panose="020B0604020202020204"/>
              <a:cs typeface="Arial" panose="020B0604020202020204"/>
            </a:endParaRPr>
          </a:p>
          <a:p>
            <a:pPr marL="20955" algn="l" rtl="0" eaLnBrk="0">
              <a:lnSpc>
                <a:spcPct val="87000"/>
              </a:lnSpc>
              <a:tabLst>
                <a:tab pos="23622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用随机应对波动</a:t>
            </a:r>
            <a:endParaRPr sz="2400" dirty="0">
              <a:latin typeface="微软雅黑" panose="020B0503020204020204" charset="-122"/>
              <a:ea typeface="微软雅黑" panose="020B0503020204020204" charset="-122"/>
              <a:cs typeface="微软雅黑" panose="020B0503020204020204" charset="-122"/>
            </a:endParaRPr>
          </a:p>
          <a:p>
            <a:pPr marL="340995" algn="l" rtl="0" eaLnBrk="0">
              <a:lnSpc>
                <a:spcPct val="108000"/>
              </a:lnSpc>
              <a:spcBef>
                <a:spcPts val="195"/>
              </a:spcBef>
            </a:pP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VL2通过Valiant</a:t>
            </a:r>
            <a:r>
              <a:rPr sz="2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Load</a:t>
            </a:r>
            <a:r>
              <a:rPr sz="2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Balancing将流量分发到多个中</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间节点，这一过程目的地无关，</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从而应对流量矩阵的发散和不可预测。</a:t>
            </a:r>
            <a:endParaRPr sz="2400" dirty="0">
              <a:latin typeface="微软雅黑" panose="020B0503020204020204" charset="-122"/>
              <a:ea typeface="微软雅黑" panose="020B0503020204020204" charset="-122"/>
              <a:cs typeface="微软雅黑" panose="020B0503020204020204" charset="-122"/>
            </a:endParaRPr>
          </a:p>
          <a:p>
            <a:pPr marL="20955" algn="l" rtl="0" eaLnBrk="0">
              <a:lnSpc>
                <a:spcPct val="89000"/>
              </a:lnSpc>
              <a:spcBef>
                <a:spcPts val="405"/>
              </a:spcBef>
              <a:tabLst>
                <a:tab pos="23622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基于已被验证的网络技术</a:t>
            </a:r>
            <a:endParaRPr sz="2400" dirty="0">
              <a:latin typeface="微软雅黑" panose="020B0503020204020204" charset="-122"/>
              <a:ea typeface="微软雅黑" panose="020B0503020204020204" charset="-122"/>
              <a:cs typeface="微软雅黑" panose="020B0503020204020204" charset="-122"/>
            </a:endParaRPr>
          </a:p>
          <a:p>
            <a:pPr marL="342265" indent="-1270" algn="l" rtl="0" eaLnBrk="0">
              <a:lnSpc>
                <a:spcPct val="103000"/>
              </a:lnSpc>
              <a:spcBef>
                <a:spcPts val="430"/>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VL2基于商用交换机可用的IP路由和转发技术。使用链路状态路由协议维</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护交换机级</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别的拓扑，用</a:t>
            </a:r>
            <a:r>
              <a:rPr sz="2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ECMP</a:t>
            </a:r>
            <a:r>
              <a:rPr sz="24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anycast</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地址实现VLB，同时减少控制面消息和震荡。</a:t>
            </a:r>
            <a:endParaRPr sz="2400" dirty="0">
              <a:latin typeface="微软雅黑" panose="020B0503020204020204" charset="-122"/>
              <a:ea typeface="微软雅黑" panose="020B0503020204020204" charset="-122"/>
              <a:cs typeface="微软雅黑" panose="020B0503020204020204" charset="-122"/>
            </a:endParaRPr>
          </a:p>
          <a:p>
            <a:pPr marL="20955" algn="l" rtl="0" eaLnBrk="0">
              <a:lnSpc>
                <a:spcPct val="89000"/>
              </a:lnSpc>
              <a:spcBef>
                <a:spcPts val="675"/>
              </a:spcBef>
              <a:tabLst>
                <a:tab pos="23749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分离名字和位置</a:t>
            </a:r>
            <a:endParaRPr sz="2400" dirty="0">
              <a:latin typeface="微软雅黑" panose="020B0503020204020204" charset="-122"/>
              <a:ea typeface="微软雅黑" panose="020B0503020204020204" charset="-122"/>
              <a:cs typeface="微软雅黑" panose="020B0503020204020204" charset="-122"/>
            </a:endParaRPr>
          </a:p>
          <a:p>
            <a:pPr marL="342900" indent="-1905" algn="l" rtl="0" eaLnBrk="0">
              <a:lnSpc>
                <a:spcPct val="109000"/>
              </a:lnSpc>
              <a:spcBef>
                <a:spcPts val="43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数据中心网络必须支持敏捷性，这尤其意味着：能够在任意服务器上承载任</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意服务，</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以及支持虚拟机的快速迁移。为此，就需要将名称与位置分离。VL2 使用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一个可扩</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展、可靠的目录系统来维护名称与位置之间的映射关系。</a:t>
            </a:r>
            <a:endParaRPr sz="2400" dirty="0">
              <a:latin typeface="微软雅黑" panose="020B0503020204020204" charset="-122"/>
              <a:ea typeface="微软雅黑" panose="020B0503020204020204" charset="-122"/>
              <a:cs typeface="微软雅黑" panose="020B0503020204020204" charset="-122"/>
            </a:endParaRPr>
          </a:p>
          <a:p>
            <a:pPr marL="20955" algn="l" rtl="0" eaLnBrk="0">
              <a:lnSpc>
                <a:spcPct val="89000"/>
              </a:lnSpc>
              <a:spcBef>
                <a:spcPts val="390"/>
              </a:spcBef>
              <a:tabLst>
                <a:tab pos="23749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拥抱终端系统</a:t>
            </a:r>
            <a:endParaRPr sz="2400" dirty="0">
              <a:latin typeface="微软雅黑" panose="020B0503020204020204" charset="-122"/>
              <a:ea typeface="微软雅黑" panose="020B0503020204020204" charset="-122"/>
              <a:cs typeface="微软雅黑" panose="020B0503020204020204" charset="-122"/>
            </a:endParaRPr>
          </a:p>
          <a:p>
            <a:pPr marL="339090" algn="l" rtl="0" eaLnBrk="0">
              <a:lnSpc>
                <a:spcPct val="88000"/>
              </a:lnSpc>
              <a:spcBef>
                <a:spcPts val="650"/>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将部分控制能力从网络侧转移到编程灵活的终端侧，例如调整VLB的随机</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化方式</a:t>
            </a:r>
            <a:endParaRPr sz="2400" dirty="0">
              <a:latin typeface="微软雅黑" panose="020B0503020204020204" charset="-122"/>
              <a:ea typeface="微软雅黑" panose="020B0503020204020204" charset="-122"/>
              <a:cs typeface="微软雅黑" panose="020B0503020204020204" charset="-122"/>
            </a:endParaRPr>
          </a:p>
        </p:txBody>
      </p:sp>
      <p:pic>
        <p:nvPicPr>
          <p:cNvPr id="628" name="picture 628"/>
          <p:cNvPicPr>
            <a:picLocks noChangeAspect="1"/>
          </p:cNvPicPr>
          <p:nvPr/>
        </p:nvPicPr>
        <p:blipFill>
          <a:blip r:embed="rId1"/>
          <a:stretch>
            <a:fillRect/>
          </a:stretch>
        </p:blipFill>
        <p:spPr>
          <a:xfrm rot="21600000">
            <a:off x="349326" y="5554756"/>
            <a:ext cx="216624" cy="223946"/>
          </a:xfrm>
          <a:prstGeom prst="rect">
            <a:avLst/>
          </a:prstGeom>
        </p:spPr>
      </p:pic>
      <p:pic>
        <p:nvPicPr>
          <p:cNvPr id="630" name="picture 630"/>
          <p:cNvPicPr>
            <a:picLocks noChangeAspect="1"/>
          </p:cNvPicPr>
          <p:nvPr/>
        </p:nvPicPr>
        <p:blipFill>
          <a:blip r:embed="rId1"/>
          <a:stretch>
            <a:fillRect/>
          </a:stretch>
        </p:blipFill>
        <p:spPr>
          <a:xfrm rot="21600000">
            <a:off x="349326" y="3928317"/>
            <a:ext cx="216624" cy="223946"/>
          </a:xfrm>
          <a:prstGeom prst="rect">
            <a:avLst/>
          </a:prstGeom>
        </p:spPr>
      </p:pic>
      <p:pic>
        <p:nvPicPr>
          <p:cNvPr id="632" name="picture 632"/>
          <p:cNvPicPr>
            <a:picLocks noChangeAspect="1"/>
          </p:cNvPicPr>
          <p:nvPr/>
        </p:nvPicPr>
        <p:blipFill>
          <a:blip r:embed="rId2"/>
          <a:stretch>
            <a:fillRect/>
          </a:stretch>
        </p:blipFill>
        <p:spPr>
          <a:xfrm rot="21600000">
            <a:off x="349300" y="2709341"/>
            <a:ext cx="216407" cy="223723"/>
          </a:xfrm>
          <a:prstGeom prst="rect">
            <a:avLst/>
          </a:prstGeom>
        </p:spPr>
      </p:pic>
      <p:pic>
        <p:nvPicPr>
          <p:cNvPr id="634" name="picture 634"/>
          <p:cNvPicPr>
            <a:picLocks noChangeAspect="1"/>
          </p:cNvPicPr>
          <p:nvPr/>
        </p:nvPicPr>
        <p:blipFill>
          <a:blip r:embed="rId3"/>
          <a:stretch>
            <a:fillRect/>
          </a:stretch>
        </p:blipFill>
        <p:spPr>
          <a:xfrm rot="21600000">
            <a:off x="349300" y="1518702"/>
            <a:ext cx="216407" cy="202294"/>
          </a:xfrm>
          <a:prstGeom prst="rect">
            <a:avLst/>
          </a:prstGeom>
        </p:spPr>
      </p:pic>
      <p:sp>
        <p:nvSpPr>
          <p:cNvPr id="636" name="textbox 636"/>
          <p:cNvSpPr/>
          <p:nvPr/>
        </p:nvSpPr>
        <p:spPr>
          <a:xfrm>
            <a:off x="3877064" y="317074"/>
            <a:ext cx="211708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20" dirty="0">
                <a:solidFill>
                  <a:srgbClr val="F2684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p:txBody>
      </p:sp>
      <p:sp>
        <p:nvSpPr>
          <p:cNvPr id="638" name="textbox 638"/>
          <p:cNvSpPr/>
          <p:nvPr/>
        </p:nvSpPr>
        <p:spPr>
          <a:xfrm>
            <a:off x="1967379" y="317074"/>
            <a:ext cx="1797050"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Layer</a:t>
            </a:r>
            <a:r>
              <a:rPr sz="2700" b="1" kern="0" spc="5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Two</a:t>
            </a:r>
            <a:endParaRPr sz="2700" dirty="0">
              <a:latin typeface="微软雅黑" panose="020B0503020204020204" charset="-122"/>
              <a:ea typeface="微软雅黑" panose="020B0503020204020204" charset="-122"/>
              <a:cs typeface="微软雅黑" panose="020B0503020204020204" charset="-122"/>
            </a:endParaRPr>
          </a:p>
        </p:txBody>
      </p:sp>
      <p:sp>
        <p:nvSpPr>
          <p:cNvPr id="640" name="textbox 640"/>
          <p:cNvSpPr/>
          <p:nvPr/>
        </p:nvSpPr>
        <p:spPr>
          <a:xfrm>
            <a:off x="302353" y="317074"/>
            <a:ext cx="1553844"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220" dirty="0">
                <a:solidFill>
                  <a:srgbClr val="F26849">
                    <a:alpha val="100000"/>
                  </a:srgbClr>
                </a:solidFill>
                <a:latin typeface="微软雅黑" panose="020B0503020204020204" charset="-122"/>
                <a:ea typeface="微软雅黑" panose="020B0503020204020204" charset="-122"/>
                <a:cs typeface="微软雅黑" panose="020B0503020204020204" charset="-122"/>
              </a:rPr>
              <a:t>4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Virtual</a:t>
            </a:r>
            <a:endParaRPr sz="2700" dirty="0">
              <a:latin typeface="微软雅黑" panose="020B0503020204020204" charset="-122"/>
              <a:ea typeface="微软雅黑" panose="020B0503020204020204" charset="-122"/>
              <a:cs typeface="微软雅黑" panose="020B0503020204020204" charset="-122"/>
            </a:endParaRPr>
          </a:p>
        </p:txBody>
      </p:sp>
      <p:sp>
        <p:nvSpPr>
          <p:cNvPr id="642" name="textbox 642"/>
          <p:cNvSpPr/>
          <p:nvPr/>
        </p:nvSpPr>
        <p:spPr>
          <a:xfrm>
            <a:off x="534255" y="926420"/>
            <a:ext cx="1440814"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设计原则</a:t>
            </a:r>
            <a:endParaRPr sz="2700" dirty="0">
              <a:latin typeface="微软雅黑" panose="020B0503020204020204" charset="-122"/>
              <a:ea typeface="微软雅黑" panose="020B0503020204020204" charset="-122"/>
              <a:cs typeface="微软雅黑" panose="020B0503020204020204" charset="-122"/>
            </a:endParaRPr>
          </a:p>
        </p:txBody>
      </p:sp>
      <p:pic>
        <p:nvPicPr>
          <p:cNvPr id="644" name="picture 644"/>
          <p:cNvPicPr>
            <a:picLocks noChangeAspect="1"/>
          </p:cNvPicPr>
          <p:nvPr/>
        </p:nvPicPr>
        <p:blipFill>
          <a:blip r:embed="rId4"/>
          <a:stretch>
            <a:fillRect/>
          </a:stretch>
        </p:blipFill>
        <p:spPr>
          <a:xfrm rot="21600000">
            <a:off x="11338559" y="18288"/>
            <a:ext cx="720852" cy="719328"/>
          </a:xfrm>
          <a:prstGeom prst="rect">
            <a:avLst/>
          </a:prstGeom>
        </p:spPr>
      </p:pic>
      <p:pic>
        <p:nvPicPr>
          <p:cNvPr id="646" name="picture 646"/>
          <p:cNvPicPr>
            <a:picLocks noChangeAspect="1"/>
          </p:cNvPicPr>
          <p:nvPr/>
        </p:nvPicPr>
        <p:blipFill>
          <a:blip r:embed="rId5"/>
          <a:stretch>
            <a:fillRect/>
          </a:stretch>
        </p:blipFill>
        <p:spPr>
          <a:xfrm rot="21600000">
            <a:off x="155447" y="751332"/>
            <a:ext cx="11881104" cy="19811"/>
          </a:xfrm>
          <a:prstGeom prst="rect">
            <a:avLst/>
          </a:prstGeom>
        </p:spPr>
      </p:pic>
      <p:pic>
        <p:nvPicPr>
          <p:cNvPr id="648" name="picture 648"/>
          <p:cNvPicPr>
            <a:picLocks noChangeAspect="1"/>
          </p:cNvPicPr>
          <p:nvPr/>
        </p:nvPicPr>
        <p:blipFill>
          <a:blip r:embed="rId6"/>
          <a:stretch>
            <a:fillRect/>
          </a:stretch>
        </p:blipFill>
        <p:spPr>
          <a:xfrm rot="21600000">
            <a:off x="161544" y="6461759"/>
            <a:ext cx="11879580" cy="18288"/>
          </a:xfrm>
          <a:prstGeom prst="rect">
            <a:avLst/>
          </a:prstGeom>
        </p:spPr>
      </p:pic>
      <p:sp>
        <p:nvSpPr>
          <p:cNvPr id="650" name="textbox 650"/>
          <p:cNvSpPr/>
          <p:nvPr/>
        </p:nvSpPr>
        <p:spPr>
          <a:xfrm>
            <a:off x="11586987"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34</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 name="rect 652"/>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654" name="textbox 654"/>
          <p:cNvSpPr/>
          <p:nvPr/>
        </p:nvSpPr>
        <p:spPr>
          <a:xfrm>
            <a:off x="2846575" y="494919"/>
            <a:ext cx="6436995" cy="563499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511425"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5"/>
              </a:spcBef>
            </a:pP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8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501015" algn="l" rtl="0" eaLnBrk="0">
              <a:lnSpc>
                <a:spcPct val="100000"/>
              </a:lnSpc>
              <a:spcBef>
                <a:spcPts val="1320"/>
              </a:spcBef>
            </a:pP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1.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Scale</a:t>
            </a: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out</a:t>
            </a:r>
            <a:r>
              <a:rPr sz="2700" b="1" kern="0" spc="1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Topologies</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VL</a:t>
            </a: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and</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320"/>
              </a:spcBef>
            </a:pP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VL</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2</a:t>
            </a:r>
            <a:r>
              <a:rPr sz="2700" b="1" kern="0" spc="34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Directory</a:t>
            </a:r>
            <a:r>
              <a:rPr sz="2700" b="1" kern="0" spc="1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System</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656" name="picture 656"/>
          <p:cNvPicPr>
            <a:picLocks noChangeAspect="1"/>
          </p:cNvPicPr>
          <p:nvPr/>
        </p:nvPicPr>
        <p:blipFill>
          <a:blip r:embed="rId1"/>
          <a:stretch>
            <a:fillRect/>
          </a:stretch>
        </p:blipFill>
        <p:spPr>
          <a:xfrm rot="21600000">
            <a:off x="0" y="0"/>
            <a:ext cx="12192000" cy="288035"/>
          </a:xfrm>
          <a:prstGeom prst="rect">
            <a:avLst/>
          </a:prstGeom>
        </p:spPr>
      </p:pic>
      <p:pic>
        <p:nvPicPr>
          <p:cNvPr id="658" name="picture 658"/>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0" name="picture 660"/>
          <p:cNvPicPr>
            <a:picLocks noChangeAspect="1"/>
          </p:cNvPicPr>
          <p:nvPr/>
        </p:nvPicPr>
        <p:blipFill>
          <a:blip r:embed="rId1"/>
          <a:stretch>
            <a:fillRect/>
          </a:stretch>
        </p:blipFill>
        <p:spPr>
          <a:xfrm rot="21600000">
            <a:off x="11338559" y="18288"/>
            <a:ext cx="720852" cy="719328"/>
          </a:xfrm>
          <a:prstGeom prst="rect">
            <a:avLst/>
          </a:prstGeom>
        </p:spPr>
      </p:pic>
      <p:pic>
        <p:nvPicPr>
          <p:cNvPr id="662" name="picture 662"/>
          <p:cNvPicPr>
            <a:picLocks noChangeAspect="1"/>
          </p:cNvPicPr>
          <p:nvPr/>
        </p:nvPicPr>
        <p:blipFill>
          <a:blip r:embed="rId2"/>
          <a:stretch>
            <a:fillRect/>
          </a:stretch>
        </p:blipFill>
        <p:spPr>
          <a:xfrm rot="21600000">
            <a:off x="155447" y="751332"/>
            <a:ext cx="11881104" cy="19811"/>
          </a:xfrm>
          <a:prstGeom prst="rect">
            <a:avLst/>
          </a:prstGeom>
        </p:spPr>
      </p:pic>
      <p:pic>
        <p:nvPicPr>
          <p:cNvPr id="664" name="picture 664"/>
          <p:cNvPicPr>
            <a:picLocks noChangeAspect="1"/>
          </p:cNvPicPr>
          <p:nvPr/>
        </p:nvPicPr>
        <p:blipFill>
          <a:blip r:embed="rId3"/>
          <a:stretch>
            <a:fillRect/>
          </a:stretch>
        </p:blipFill>
        <p:spPr>
          <a:xfrm rot="21600000">
            <a:off x="6175248" y="641604"/>
            <a:ext cx="6016751" cy="5111495"/>
          </a:xfrm>
          <a:prstGeom prst="rect">
            <a:avLst/>
          </a:prstGeom>
        </p:spPr>
      </p:pic>
      <p:sp>
        <p:nvSpPr>
          <p:cNvPr id="666" name="textbox 666"/>
          <p:cNvSpPr/>
          <p:nvPr/>
        </p:nvSpPr>
        <p:spPr>
          <a:xfrm>
            <a:off x="219709" y="1047241"/>
            <a:ext cx="5890259" cy="4765675"/>
          </a:xfrm>
          <a:prstGeom prst="roundRect">
            <a:avLst>
              <a:gd name="adj" fmla="val 7473"/>
            </a:avLst>
          </a:prstGeom>
          <a:noFill/>
          <a:ln w="25400" cap="flat">
            <a:solidFill>
              <a:srgbClr val="A5A5A5"/>
            </a:solidFill>
            <a:prstDash val="solid"/>
            <a:miter lim="0"/>
          </a:ln>
        </p:spPr>
        <p:txBody>
          <a:bodyPr vert="horz" wrap="square" lIns="0" tIns="0" rIns="0" bIns="0"/>
          <a:lstStyle/>
          <a:p>
            <a:pPr algn="l" rtl="0" eaLnBrk="0">
              <a:lnSpc>
                <a:spcPct val="113000"/>
              </a:lnSpc>
            </a:pPr>
            <a:endParaRPr sz="1000" dirty="0">
              <a:latin typeface="Arial" panose="020B0604020202020204"/>
              <a:ea typeface="Arial" panose="020B0604020202020204"/>
              <a:cs typeface="Arial" panose="020B0604020202020204"/>
            </a:endParaRPr>
          </a:p>
          <a:p>
            <a:pPr marL="102235" algn="l" rtl="0" eaLnBrk="0">
              <a:lnSpc>
                <a:spcPct val="100000"/>
              </a:lnSpc>
              <a:spcBef>
                <a:spcPts val="5"/>
              </a:spcBef>
              <a:tabLst>
                <a:tab pos="3187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Scale-out,</a:t>
            </a:r>
            <a:r>
              <a:rPr sz="2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not scale-up</a:t>
            </a:r>
            <a:endParaRPr sz="2400" dirty="0">
              <a:latin typeface="微软雅黑" panose="020B0503020204020204" charset="-122"/>
              <a:ea typeface="微软雅黑" panose="020B0503020204020204" charset="-122"/>
              <a:cs typeface="微软雅黑" panose="020B0503020204020204" charset="-122"/>
            </a:endParaRPr>
          </a:p>
          <a:p>
            <a:pPr marL="436245" indent="-12065" algn="l" rtl="0" eaLnBrk="0">
              <a:lnSpc>
                <a:spcPct val="108000"/>
              </a:lnSpc>
              <a:spcBef>
                <a:spcPts val="10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使用大量简单便宜的设备搭建“更</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宽”</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的网络，提供强大的汇聚能</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力</a:t>
            </a:r>
            <a:endParaRPr sz="2400" dirty="0">
              <a:latin typeface="微软雅黑" panose="020B0503020204020204" charset="-122"/>
              <a:ea typeface="微软雅黑" panose="020B0503020204020204" charset="-122"/>
              <a:cs typeface="微软雅黑" panose="020B0503020204020204" charset="-122"/>
            </a:endParaRPr>
          </a:p>
          <a:p>
            <a:pPr marL="421640" indent="-319405" algn="l" rtl="0" eaLnBrk="0">
              <a:lnSpc>
                <a:spcPct val="104000"/>
              </a:lnSpc>
              <a:spcBef>
                <a:spcPts val="1025"/>
              </a:spcBef>
              <a:tabLst>
                <a:tab pos="3187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核心交换机(Int)和汇聚交换机(Agg</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r)形</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成完全二分图</a:t>
            </a:r>
            <a:endParaRPr sz="2400" dirty="0">
              <a:latin typeface="微软雅黑" panose="020B0503020204020204" charset="-122"/>
              <a:ea typeface="微软雅黑" panose="020B0503020204020204" charset="-122"/>
              <a:cs typeface="微软雅黑" panose="020B0503020204020204" charset="-122"/>
            </a:endParaRPr>
          </a:p>
          <a:p>
            <a:pPr marL="424180" indent="-321945" algn="l" rtl="0" eaLnBrk="0">
              <a:lnSpc>
                <a:spcPct val="104000"/>
              </a:lnSpc>
              <a:spcBef>
                <a:spcPts val="1000"/>
              </a:spcBef>
              <a:tabLst>
                <a:tab pos="3187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即使一个核心交换机发生故障，二分链</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路带宽只会减少1/n</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sz="800" dirty="0">
              <a:latin typeface="Arial" panose="020B0604020202020204"/>
              <a:ea typeface="Arial" panose="020B0604020202020204"/>
              <a:cs typeface="Arial" panose="020B0604020202020204"/>
            </a:endParaRPr>
          </a:p>
          <a:p>
            <a:pPr marL="422275" indent="-320040" algn="l" rtl="0" eaLnBrk="0">
              <a:lnSpc>
                <a:spcPct val="104000"/>
              </a:lnSpc>
              <a:spcBef>
                <a:spcPts val="0"/>
              </a:spcBef>
              <a:tabLst>
                <a:tab pos="3175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搭建没有over-subscription的Clos网络</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更加简单、便宜</a:t>
            </a:r>
            <a:endParaRPr sz="2400" dirty="0">
              <a:latin typeface="微软雅黑" panose="020B0503020204020204" charset="-122"/>
              <a:ea typeface="微软雅黑" panose="020B0503020204020204" charset="-122"/>
              <a:cs typeface="微软雅黑" panose="020B0503020204020204" charset="-122"/>
            </a:endParaRPr>
          </a:p>
        </p:txBody>
      </p:sp>
      <p:pic>
        <p:nvPicPr>
          <p:cNvPr id="668" name="picture 668"/>
          <p:cNvPicPr>
            <a:picLocks noChangeAspect="1"/>
          </p:cNvPicPr>
          <p:nvPr/>
        </p:nvPicPr>
        <p:blipFill>
          <a:blip r:embed="rId4"/>
          <a:stretch>
            <a:fillRect/>
          </a:stretch>
        </p:blipFill>
        <p:spPr>
          <a:xfrm rot="21600000">
            <a:off x="426440" y="4423364"/>
            <a:ext cx="215424" cy="223946"/>
          </a:xfrm>
          <a:prstGeom prst="rect">
            <a:avLst/>
          </a:prstGeom>
        </p:spPr>
      </p:pic>
      <p:pic>
        <p:nvPicPr>
          <p:cNvPr id="670" name="picture 670"/>
          <p:cNvPicPr>
            <a:picLocks noChangeAspect="1"/>
          </p:cNvPicPr>
          <p:nvPr/>
        </p:nvPicPr>
        <p:blipFill>
          <a:blip r:embed="rId5"/>
          <a:stretch>
            <a:fillRect/>
          </a:stretch>
        </p:blipFill>
        <p:spPr>
          <a:xfrm rot="21600000">
            <a:off x="426415" y="3533571"/>
            <a:ext cx="216407" cy="223723"/>
          </a:xfrm>
          <a:prstGeom prst="rect">
            <a:avLst/>
          </a:prstGeom>
        </p:spPr>
      </p:pic>
      <p:pic>
        <p:nvPicPr>
          <p:cNvPr id="672" name="picture 672"/>
          <p:cNvPicPr>
            <a:picLocks noChangeAspect="1"/>
          </p:cNvPicPr>
          <p:nvPr/>
        </p:nvPicPr>
        <p:blipFill>
          <a:blip r:embed="rId5"/>
          <a:stretch>
            <a:fillRect/>
          </a:stretch>
        </p:blipFill>
        <p:spPr>
          <a:xfrm rot="21600000">
            <a:off x="426415" y="2644698"/>
            <a:ext cx="216407" cy="223723"/>
          </a:xfrm>
          <a:prstGeom prst="rect">
            <a:avLst/>
          </a:prstGeom>
        </p:spPr>
      </p:pic>
      <p:pic>
        <p:nvPicPr>
          <p:cNvPr id="674" name="picture 674"/>
          <p:cNvPicPr>
            <a:picLocks noChangeAspect="1"/>
          </p:cNvPicPr>
          <p:nvPr/>
        </p:nvPicPr>
        <p:blipFill>
          <a:blip r:embed="rId5"/>
          <a:stretch>
            <a:fillRect/>
          </a:stretch>
        </p:blipFill>
        <p:spPr>
          <a:xfrm rot="21600000">
            <a:off x="426415" y="1349044"/>
            <a:ext cx="216407" cy="223723"/>
          </a:xfrm>
          <a:prstGeom prst="rect">
            <a:avLst/>
          </a:prstGeom>
        </p:spPr>
      </p:pic>
      <p:sp>
        <p:nvSpPr>
          <p:cNvPr id="676" name="textbox 676"/>
          <p:cNvSpPr/>
          <p:nvPr/>
        </p:nvSpPr>
        <p:spPr>
          <a:xfrm>
            <a:off x="302353" y="317074"/>
            <a:ext cx="440562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4.1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Scale</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out</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Topologies</a:t>
            </a:r>
            <a:endParaRPr sz="2700" dirty="0">
              <a:latin typeface="微软雅黑" panose="020B0503020204020204" charset="-122"/>
              <a:ea typeface="微软雅黑" panose="020B0503020204020204" charset="-122"/>
              <a:cs typeface="微软雅黑" panose="020B0503020204020204" charset="-122"/>
            </a:endParaRPr>
          </a:p>
        </p:txBody>
      </p:sp>
      <p:pic>
        <p:nvPicPr>
          <p:cNvPr id="678" name="picture 678"/>
          <p:cNvPicPr>
            <a:picLocks noChangeAspect="1"/>
          </p:cNvPicPr>
          <p:nvPr/>
        </p:nvPicPr>
        <p:blipFill>
          <a:blip r:embed="rId6"/>
          <a:stretch>
            <a:fillRect/>
          </a:stretch>
        </p:blipFill>
        <p:spPr>
          <a:xfrm rot="21600000">
            <a:off x="161544" y="6461759"/>
            <a:ext cx="11879580" cy="18288"/>
          </a:xfrm>
          <a:prstGeom prst="rect">
            <a:avLst/>
          </a:prstGeom>
        </p:spPr>
      </p:pic>
      <p:sp>
        <p:nvSpPr>
          <p:cNvPr id="680" name="textbox 680"/>
          <p:cNvSpPr/>
          <p:nvPr/>
        </p:nvSpPr>
        <p:spPr>
          <a:xfrm>
            <a:off x="11586987"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36</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2" name="picture 682"/>
          <p:cNvPicPr>
            <a:picLocks noChangeAspect="1"/>
          </p:cNvPicPr>
          <p:nvPr/>
        </p:nvPicPr>
        <p:blipFill>
          <a:blip r:embed="rId1"/>
          <a:stretch>
            <a:fillRect/>
          </a:stretch>
        </p:blipFill>
        <p:spPr>
          <a:xfrm rot="21600000">
            <a:off x="11338559" y="18288"/>
            <a:ext cx="720852" cy="719328"/>
          </a:xfrm>
          <a:prstGeom prst="rect">
            <a:avLst/>
          </a:prstGeom>
        </p:spPr>
      </p:pic>
      <p:pic>
        <p:nvPicPr>
          <p:cNvPr id="684" name="picture 684"/>
          <p:cNvPicPr>
            <a:picLocks noChangeAspect="1"/>
          </p:cNvPicPr>
          <p:nvPr/>
        </p:nvPicPr>
        <p:blipFill>
          <a:blip r:embed="rId2"/>
          <a:stretch>
            <a:fillRect/>
          </a:stretch>
        </p:blipFill>
        <p:spPr>
          <a:xfrm rot="21600000">
            <a:off x="155447" y="751332"/>
            <a:ext cx="11881104" cy="19811"/>
          </a:xfrm>
          <a:prstGeom prst="rect">
            <a:avLst/>
          </a:prstGeom>
        </p:spPr>
      </p:pic>
      <p:pic>
        <p:nvPicPr>
          <p:cNvPr id="686" name="picture 686"/>
          <p:cNvPicPr>
            <a:picLocks noChangeAspect="1"/>
          </p:cNvPicPr>
          <p:nvPr/>
        </p:nvPicPr>
        <p:blipFill>
          <a:blip r:embed="rId3"/>
          <a:stretch>
            <a:fillRect/>
          </a:stretch>
        </p:blipFill>
        <p:spPr>
          <a:xfrm rot="21600000">
            <a:off x="6175248" y="641604"/>
            <a:ext cx="6016751" cy="5111495"/>
          </a:xfrm>
          <a:prstGeom prst="rect">
            <a:avLst/>
          </a:prstGeom>
        </p:spPr>
      </p:pic>
      <p:sp>
        <p:nvSpPr>
          <p:cNvPr id="688" name="textbox 688"/>
          <p:cNvSpPr/>
          <p:nvPr/>
        </p:nvSpPr>
        <p:spPr>
          <a:xfrm>
            <a:off x="219709" y="1047241"/>
            <a:ext cx="5890259" cy="3960495"/>
          </a:xfrm>
          <a:prstGeom prst="roundRect">
            <a:avLst>
              <a:gd name="adj" fmla="val 7574"/>
            </a:avLst>
          </a:prstGeom>
          <a:noFill/>
          <a:ln w="25400" cap="flat">
            <a:solidFill>
              <a:srgbClr val="A5A5A5"/>
            </a:solidFill>
            <a:prstDash val="solid"/>
            <a:miter lim="0"/>
          </a:ln>
        </p:spPr>
        <p:txBody>
          <a:bodyPr vert="horz" wrap="square" lIns="0" tIns="0" rIns="0" bIns="0"/>
          <a:lstStyle/>
          <a:p>
            <a:pPr algn="l" rtl="0" eaLnBrk="0">
              <a:lnSpc>
                <a:spcPct val="124000"/>
              </a:lnSpc>
            </a:pPr>
            <a:endParaRPr sz="1000" dirty="0">
              <a:latin typeface="Arial" panose="020B0604020202020204"/>
              <a:ea typeface="Arial" panose="020B0604020202020204"/>
              <a:cs typeface="Arial" panose="020B0604020202020204"/>
            </a:endParaRPr>
          </a:p>
          <a:p>
            <a:pPr marL="118745" algn="l" rtl="0" eaLnBrk="0">
              <a:lnSpc>
                <a:spcPct val="89000"/>
              </a:lnSpc>
              <a:spcBef>
                <a:spcPts val="5"/>
              </a:spcBef>
              <a:tabLst>
                <a:tab pos="33464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天然适合VLB</a:t>
            </a:r>
            <a:endParaRPr sz="2400" dirty="0">
              <a:latin typeface="微软雅黑" panose="020B0503020204020204" charset="-122"/>
              <a:ea typeface="微软雅黑" panose="020B0503020204020204" charset="-122"/>
              <a:cs typeface="微软雅黑" panose="020B0503020204020204" charset="-122"/>
            </a:endParaRPr>
          </a:p>
          <a:p>
            <a:pPr marL="896620" indent="-320675" algn="l" rtl="0" eaLnBrk="0">
              <a:lnSpc>
                <a:spcPct val="107000"/>
              </a:lnSpc>
              <a:spcBef>
                <a:spcPts val="1210"/>
              </a:spcBef>
              <a:tabLst>
                <a:tab pos="79248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通过让流量先绕到网络顶层再下转</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网络就能对符合</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hose</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模型</a:t>
            </a:r>
            <a:r>
              <a:rPr sz="2400" kern="0" spc="-20" dirty="0">
                <a:solidFill>
                  <a:srgbClr val="FF0000">
                    <a:alpha val="100000"/>
                  </a:srgbClr>
                </a:solidFill>
                <a:latin typeface="微软雅黑" panose="020B0503020204020204" charset="-122"/>
                <a:ea typeface="微软雅黑" panose="020B0503020204020204" charset="-122"/>
                <a:cs typeface="微软雅黑" panose="020B0503020204020204" charset="-122"/>
              </a:rPr>
              <a:t>*</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的任意</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流量矩阵提供带宽保证</a:t>
            </a:r>
            <a:endParaRPr sz="2400" dirty="0">
              <a:latin typeface="微软雅黑" panose="020B0503020204020204" charset="-122"/>
              <a:ea typeface="微软雅黑" panose="020B0503020204020204" charset="-122"/>
              <a:cs typeface="微软雅黑" panose="020B0503020204020204" charset="-122"/>
            </a:endParaRPr>
          </a:p>
          <a:p>
            <a:pPr marL="575945" algn="l" rtl="0" eaLnBrk="0">
              <a:lnSpc>
                <a:spcPct val="89000"/>
              </a:lnSpc>
              <a:spcBef>
                <a:spcPts val="990"/>
              </a:spcBef>
              <a:tabLst>
                <a:tab pos="79248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路由简单可靠</a:t>
            </a:r>
            <a:endParaRPr sz="2400" dirty="0">
              <a:latin typeface="微软雅黑" panose="020B0503020204020204" charset="-122"/>
              <a:ea typeface="微软雅黑" panose="020B0503020204020204" charset="-122"/>
              <a:cs typeface="微软雅黑" panose="020B0503020204020204" charset="-122"/>
            </a:endParaRPr>
          </a:p>
          <a:p>
            <a:pPr marL="118745" algn="l" rtl="0" eaLnBrk="0">
              <a:lnSpc>
                <a:spcPct val="89000"/>
              </a:lnSpc>
              <a:spcBef>
                <a:spcPts val="1230"/>
              </a:spcBef>
              <a:tabLst>
                <a:tab pos="3333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利</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用服务器-交换机带宽通常小于交换</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机</a:t>
            </a:r>
            <a:endParaRPr sz="2400" dirty="0">
              <a:latin typeface="微软雅黑" panose="020B0503020204020204" charset="-122"/>
              <a:ea typeface="微软雅黑" panose="020B0503020204020204" charset="-122"/>
              <a:cs typeface="微软雅黑" panose="020B0503020204020204" charset="-122"/>
            </a:endParaRPr>
          </a:p>
          <a:p>
            <a:pPr marL="442595" indent="15875" algn="l" rtl="0" eaLnBrk="0">
              <a:lnSpc>
                <a:spcPct val="104000"/>
              </a:lnSpc>
              <a:spcBef>
                <a:spcPts val="655"/>
              </a:spcBef>
            </a:pP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-交换机带宽的特性，相比fat-tree，使</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用更少的链路实现Clos拓扑</a:t>
            </a:r>
            <a:endParaRPr sz="2400" dirty="0">
              <a:latin typeface="微软雅黑" panose="020B0503020204020204" charset="-122"/>
              <a:ea typeface="微软雅黑" panose="020B0503020204020204" charset="-122"/>
              <a:cs typeface="微软雅黑" panose="020B0503020204020204" charset="-122"/>
            </a:endParaRPr>
          </a:p>
        </p:txBody>
      </p:sp>
      <p:pic>
        <p:nvPicPr>
          <p:cNvPr id="690" name="picture 690"/>
          <p:cNvPicPr>
            <a:picLocks noChangeAspect="1"/>
          </p:cNvPicPr>
          <p:nvPr/>
        </p:nvPicPr>
        <p:blipFill>
          <a:blip r:embed="rId4"/>
          <a:stretch>
            <a:fillRect/>
          </a:stretch>
        </p:blipFill>
        <p:spPr>
          <a:xfrm rot="21600000">
            <a:off x="426415" y="3609771"/>
            <a:ext cx="215003" cy="223723"/>
          </a:xfrm>
          <a:prstGeom prst="rect">
            <a:avLst/>
          </a:prstGeom>
        </p:spPr>
      </p:pic>
      <p:pic>
        <p:nvPicPr>
          <p:cNvPr id="692" name="picture 692"/>
          <p:cNvPicPr>
            <a:picLocks noChangeAspect="1"/>
          </p:cNvPicPr>
          <p:nvPr/>
        </p:nvPicPr>
        <p:blipFill>
          <a:blip r:embed="rId5"/>
          <a:stretch>
            <a:fillRect/>
          </a:stretch>
        </p:blipFill>
        <p:spPr>
          <a:xfrm rot="21600000">
            <a:off x="883945" y="3127583"/>
            <a:ext cx="216624" cy="223946"/>
          </a:xfrm>
          <a:prstGeom prst="rect">
            <a:avLst/>
          </a:prstGeom>
        </p:spPr>
      </p:pic>
      <p:pic>
        <p:nvPicPr>
          <p:cNvPr id="694" name="picture 694"/>
          <p:cNvPicPr>
            <a:picLocks noChangeAspect="1"/>
          </p:cNvPicPr>
          <p:nvPr/>
        </p:nvPicPr>
        <p:blipFill>
          <a:blip r:embed="rId6"/>
          <a:stretch>
            <a:fillRect/>
          </a:stretch>
        </p:blipFill>
        <p:spPr>
          <a:xfrm rot="21600000">
            <a:off x="883919" y="1832406"/>
            <a:ext cx="216408" cy="223723"/>
          </a:xfrm>
          <a:prstGeom prst="rect">
            <a:avLst/>
          </a:prstGeom>
        </p:spPr>
      </p:pic>
      <p:pic>
        <p:nvPicPr>
          <p:cNvPr id="696" name="picture 696"/>
          <p:cNvPicPr>
            <a:picLocks noChangeAspect="1"/>
          </p:cNvPicPr>
          <p:nvPr/>
        </p:nvPicPr>
        <p:blipFill>
          <a:blip r:embed="rId7"/>
          <a:stretch>
            <a:fillRect/>
          </a:stretch>
        </p:blipFill>
        <p:spPr>
          <a:xfrm rot="21600000">
            <a:off x="426415" y="1349044"/>
            <a:ext cx="216407" cy="223723"/>
          </a:xfrm>
          <a:prstGeom prst="rect">
            <a:avLst/>
          </a:prstGeom>
        </p:spPr>
      </p:pic>
      <p:sp>
        <p:nvSpPr>
          <p:cNvPr id="698" name="textbox 698"/>
          <p:cNvSpPr/>
          <p:nvPr/>
        </p:nvSpPr>
        <p:spPr>
          <a:xfrm>
            <a:off x="403719" y="6532072"/>
            <a:ext cx="7844155" cy="24066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4000"/>
              </a:lnSpc>
            </a:pPr>
            <a:r>
              <a:rPr sz="1500" kern="0" spc="100" dirty="0">
                <a:solidFill>
                  <a:srgbClr val="FF0000">
                    <a:alpha val="100000"/>
                  </a:srgbClr>
                </a:solidFill>
                <a:latin typeface="Calibri" panose="020F0502020204030204"/>
                <a:ea typeface="Calibri" panose="020F0502020204030204"/>
                <a:cs typeface="Calibri" panose="020F0502020204030204"/>
              </a:rPr>
              <a:t>*</a:t>
            </a:r>
            <a:r>
              <a:rPr sz="1500" kern="0" spc="0" dirty="0">
                <a:solidFill>
                  <a:srgbClr val="FF0000">
                    <a:alpha val="100000"/>
                  </a:srgbClr>
                </a:solidFill>
                <a:latin typeface="Calibri" panose="020F0502020204030204"/>
                <a:ea typeface="Calibri" panose="020F0502020204030204"/>
                <a:cs typeface="Calibri" panose="020F0502020204030204"/>
              </a:rPr>
              <a:t>hose</a:t>
            </a:r>
            <a:r>
              <a:rPr sz="1500" kern="0" spc="150" dirty="0">
                <a:solidFill>
                  <a:srgbClr val="FF0000">
                    <a:alpha val="100000"/>
                  </a:srgbClr>
                </a:solidFill>
                <a:latin typeface="Calibri" panose="020F0502020204030204"/>
                <a:ea typeface="Calibri" panose="020F0502020204030204"/>
                <a:cs typeface="Calibri" panose="020F0502020204030204"/>
              </a:rPr>
              <a:t> </a:t>
            </a:r>
            <a:r>
              <a:rPr sz="1500" kern="0" spc="0" dirty="0">
                <a:solidFill>
                  <a:srgbClr val="FF0000">
                    <a:alpha val="100000"/>
                  </a:srgbClr>
                </a:solidFill>
                <a:latin typeface="Calibri" panose="020F0502020204030204"/>
                <a:ea typeface="Calibri" panose="020F0502020204030204"/>
                <a:cs typeface="Calibri" panose="020F0502020204030204"/>
              </a:rPr>
              <a:t>model</a:t>
            </a:r>
            <a:r>
              <a:rPr sz="1500" kern="0" spc="100" dirty="0">
                <a:solidFill>
                  <a:srgbClr val="FF0000">
                    <a:alpha val="100000"/>
                  </a:srgbClr>
                </a:solidFill>
                <a:latin typeface="等线" panose="02010600030101010101" charset="-122"/>
                <a:ea typeface="等线" panose="02010600030101010101" charset="-122"/>
                <a:cs typeface="等线" panose="02010600030101010101" charset="-122"/>
              </a:rPr>
              <a:t>：只规定每台服务</a:t>
            </a:r>
            <a:r>
              <a:rPr sz="1500" kern="0" spc="90" dirty="0">
                <a:solidFill>
                  <a:srgbClr val="FF0000">
                    <a:alpha val="100000"/>
                  </a:srgbClr>
                </a:solidFill>
                <a:latin typeface="等线" panose="02010600030101010101" charset="-122"/>
                <a:ea typeface="等线" panose="02010600030101010101" charset="-122"/>
                <a:cs typeface="等线" panose="02010600030101010101" charset="-122"/>
              </a:rPr>
              <a:t>器进</a:t>
            </a:r>
            <a:r>
              <a:rPr sz="1500" kern="0" spc="90" dirty="0">
                <a:solidFill>
                  <a:srgbClr val="FF0000">
                    <a:alpha val="100000"/>
                  </a:srgbClr>
                </a:solidFill>
                <a:latin typeface="Calibri" panose="020F0502020204030204"/>
                <a:ea typeface="Calibri" panose="020F0502020204030204"/>
                <a:cs typeface="Calibri" panose="020F0502020204030204"/>
              </a:rPr>
              <a:t>/</a:t>
            </a:r>
            <a:r>
              <a:rPr sz="1500" kern="0" spc="90" dirty="0">
                <a:solidFill>
                  <a:srgbClr val="FF0000">
                    <a:alpha val="100000"/>
                  </a:srgbClr>
                </a:solidFill>
                <a:latin typeface="等线" panose="02010600030101010101" charset="-122"/>
                <a:ea typeface="等线" panose="02010600030101010101" charset="-122"/>
                <a:cs typeface="等线" panose="02010600030101010101" charset="-122"/>
              </a:rPr>
              <a:t>出总速率 </a:t>
            </a:r>
            <a:r>
              <a:rPr sz="1500" kern="0" spc="90" dirty="0">
                <a:solidFill>
                  <a:srgbClr val="FF0000">
                    <a:alpha val="100000"/>
                  </a:srgbClr>
                </a:solidFill>
                <a:latin typeface="Calibri" panose="020F0502020204030204"/>
                <a:ea typeface="Calibri" panose="020F0502020204030204"/>
                <a:cs typeface="Calibri" panose="020F0502020204030204"/>
              </a:rPr>
              <a:t>≤ </a:t>
            </a:r>
            <a:r>
              <a:rPr sz="1500" kern="0" spc="90" dirty="0">
                <a:solidFill>
                  <a:srgbClr val="FF0000">
                    <a:alpha val="100000"/>
                  </a:srgbClr>
                </a:solidFill>
                <a:latin typeface="等线" panose="02010600030101010101" charset="-122"/>
                <a:ea typeface="等线" panose="02010600030101010101" charset="-122"/>
                <a:cs typeface="等线" panose="02010600030101010101" charset="-122"/>
              </a:rPr>
              <a:t>某一限速，不单独限制谁跟谁通信的速率</a:t>
            </a:r>
            <a:endParaRPr sz="1500" dirty="0">
              <a:latin typeface="等线" panose="02010600030101010101" charset="-122"/>
              <a:ea typeface="等线" panose="02010600030101010101" charset="-122"/>
              <a:cs typeface="等线" panose="02010600030101010101" charset="-122"/>
            </a:endParaRPr>
          </a:p>
        </p:txBody>
      </p:sp>
      <p:sp>
        <p:nvSpPr>
          <p:cNvPr id="700" name="textbox 700"/>
          <p:cNvSpPr/>
          <p:nvPr/>
        </p:nvSpPr>
        <p:spPr>
          <a:xfrm>
            <a:off x="302353" y="317074"/>
            <a:ext cx="440562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4.1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Scale</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out</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Topologies</a:t>
            </a:r>
            <a:endParaRPr sz="2700" dirty="0">
              <a:latin typeface="微软雅黑" panose="020B0503020204020204" charset="-122"/>
              <a:ea typeface="微软雅黑" panose="020B0503020204020204" charset="-122"/>
              <a:cs typeface="微软雅黑" panose="020B0503020204020204" charset="-122"/>
            </a:endParaRPr>
          </a:p>
        </p:txBody>
      </p:sp>
      <p:pic>
        <p:nvPicPr>
          <p:cNvPr id="702" name="picture 702"/>
          <p:cNvPicPr>
            <a:picLocks noChangeAspect="1"/>
          </p:cNvPicPr>
          <p:nvPr/>
        </p:nvPicPr>
        <p:blipFill>
          <a:blip r:embed="rId8"/>
          <a:stretch>
            <a:fillRect/>
          </a:stretch>
        </p:blipFill>
        <p:spPr>
          <a:xfrm rot="21600000">
            <a:off x="161544" y="6461759"/>
            <a:ext cx="11879580" cy="18288"/>
          </a:xfrm>
          <a:prstGeom prst="rect">
            <a:avLst/>
          </a:prstGeom>
        </p:spPr>
      </p:pic>
      <p:sp>
        <p:nvSpPr>
          <p:cNvPr id="704" name="textbox 704"/>
          <p:cNvSpPr/>
          <p:nvPr/>
        </p:nvSpPr>
        <p:spPr>
          <a:xfrm>
            <a:off x="11586987"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37</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rect 706"/>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708" name="textbox 708"/>
          <p:cNvSpPr/>
          <p:nvPr/>
        </p:nvSpPr>
        <p:spPr>
          <a:xfrm>
            <a:off x="2846575" y="494919"/>
            <a:ext cx="6436995" cy="563499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511425"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5"/>
              </a:spcBef>
            </a:pP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8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501015" algn="l" rtl="0" eaLnBrk="0">
              <a:lnSpc>
                <a:spcPct val="100000"/>
              </a:lnSpc>
              <a:spcBef>
                <a:spcPts val="1320"/>
              </a:spcBef>
            </a:pP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1.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Scale</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out</a:t>
            </a:r>
            <a:r>
              <a:rPr sz="2700" b="1" kern="0" spc="1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Topologies</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10" dirty="0">
                <a:solidFill>
                  <a:srgbClr val="4472C4">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VL</a:t>
            </a:r>
            <a:r>
              <a:rPr sz="2700" b="1" kern="0" spc="110" dirty="0">
                <a:solidFill>
                  <a:srgbClr val="4472C4">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1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and</a:t>
            </a:r>
            <a:r>
              <a:rPr sz="2700" b="1" kern="0" spc="30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320"/>
              </a:spcBef>
            </a:pP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VL</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2</a:t>
            </a:r>
            <a:r>
              <a:rPr sz="2700" b="1" kern="0" spc="34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Directory</a:t>
            </a:r>
            <a:r>
              <a:rPr sz="2700" b="1" kern="0" spc="1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System</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710" name="picture 710"/>
          <p:cNvPicPr>
            <a:picLocks noChangeAspect="1"/>
          </p:cNvPicPr>
          <p:nvPr/>
        </p:nvPicPr>
        <p:blipFill>
          <a:blip r:embed="rId1"/>
          <a:stretch>
            <a:fillRect/>
          </a:stretch>
        </p:blipFill>
        <p:spPr>
          <a:xfrm rot="21600000">
            <a:off x="0" y="0"/>
            <a:ext cx="12192000" cy="288035"/>
          </a:xfrm>
          <a:prstGeom prst="rect">
            <a:avLst/>
          </a:prstGeom>
        </p:spPr>
      </p:pic>
      <p:pic>
        <p:nvPicPr>
          <p:cNvPr id="712" name="picture 712"/>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 name="textbox 714"/>
          <p:cNvSpPr/>
          <p:nvPr/>
        </p:nvSpPr>
        <p:spPr>
          <a:xfrm>
            <a:off x="534611" y="1010875"/>
            <a:ext cx="9647555" cy="4326254"/>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4.2.1 地址解析与包转发</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8470265" algn="l" rtl="0" eaLnBrk="0">
              <a:lnSpc>
                <a:spcPct val="94000"/>
              </a:lnSpc>
              <a:spcBef>
                <a:spcPts val="455"/>
              </a:spcBef>
              <a:tabLst>
                <a:tab pos="8613775" algn="l"/>
              </a:tabLst>
            </a:pPr>
            <a:r>
              <a:rPr sz="1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AA</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5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20/8</a:t>
            </a:r>
            <a:endParaRPr sz="1500" dirty="0">
              <a:latin typeface="微软雅黑" panose="020B0503020204020204" charset="-122"/>
              <a:ea typeface="微软雅黑" panose="020B0503020204020204" charset="-122"/>
              <a:cs typeface="微软雅黑" panose="020B0503020204020204" charset="-122"/>
            </a:endParaRPr>
          </a:p>
          <a:p>
            <a:pPr marL="8470265" algn="l" rtl="0" eaLnBrk="0">
              <a:lnSpc>
                <a:spcPct val="94000"/>
              </a:lnSpc>
              <a:spcBef>
                <a:spcPts val="230"/>
              </a:spcBef>
              <a:tabLst>
                <a:tab pos="8613775" algn="l"/>
              </a:tabLst>
            </a:pPr>
            <a:r>
              <a:rPr sz="1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LA</a:t>
            </a:r>
            <a:r>
              <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5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10/8</a:t>
            </a:r>
            <a:endParaRPr sz="1500" dirty="0">
              <a:latin typeface="微软雅黑" panose="020B0503020204020204" charset="-122"/>
              <a:ea typeface="微软雅黑" panose="020B0503020204020204" charset="-122"/>
              <a:cs typeface="微软雅黑" panose="020B0503020204020204" charset="-122"/>
            </a:endParaRPr>
          </a:p>
        </p:txBody>
      </p:sp>
      <p:pic>
        <p:nvPicPr>
          <p:cNvPr id="716" name="picture 716"/>
          <p:cNvPicPr>
            <a:picLocks noChangeAspect="1"/>
          </p:cNvPicPr>
          <p:nvPr/>
        </p:nvPicPr>
        <p:blipFill>
          <a:blip r:embed="rId1"/>
          <a:stretch>
            <a:fillRect/>
          </a:stretch>
        </p:blipFill>
        <p:spPr>
          <a:xfrm rot="21600000">
            <a:off x="9005323" y="5124010"/>
            <a:ext cx="143911" cy="148775"/>
          </a:xfrm>
          <a:prstGeom prst="rect">
            <a:avLst/>
          </a:prstGeom>
        </p:spPr>
      </p:pic>
      <p:pic>
        <p:nvPicPr>
          <p:cNvPr id="718" name="picture 718"/>
          <p:cNvPicPr>
            <a:picLocks noChangeAspect="1"/>
          </p:cNvPicPr>
          <p:nvPr/>
        </p:nvPicPr>
        <p:blipFill>
          <a:blip r:embed="rId2"/>
          <a:stretch>
            <a:fillRect/>
          </a:stretch>
        </p:blipFill>
        <p:spPr>
          <a:xfrm rot="21600000">
            <a:off x="9005323" y="4880169"/>
            <a:ext cx="143911" cy="148775"/>
          </a:xfrm>
          <a:prstGeom prst="rect">
            <a:avLst/>
          </a:prstGeom>
        </p:spPr>
      </p:pic>
      <p:sp>
        <p:nvSpPr>
          <p:cNvPr id="720" name="textbox 720"/>
          <p:cNvSpPr/>
          <p:nvPr/>
        </p:nvSpPr>
        <p:spPr>
          <a:xfrm>
            <a:off x="231902" y="1560829"/>
            <a:ext cx="6405245" cy="4766945"/>
          </a:xfrm>
          <a:prstGeom prst="roundRect">
            <a:avLst>
              <a:gd name="adj" fmla="val 7473"/>
            </a:avLst>
          </a:prstGeom>
          <a:noFill/>
          <a:ln w="25400" cap="flat">
            <a:solidFill>
              <a:srgbClr val="A5A5A5"/>
            </a:solidFill>
            <a:prstDash val="solid"/>
            <a:miter lim="0"/>
          </a:ln>
        </p:spPr>
        <p:txBody>
          <a:bodyPr vert="horz" wrap="square" lIns="0" tIns="0" rIns="0" bIns="0"/>
          <a:lstStyle/>
          <a:p>
            <a:pPr algn="l" rtl="0" eaLnBrk="0">
              <a:lnSpc>
                <a:spcPct val="114000"/>
              </a:lnSpc>
            </a:pPr>
            <a:endParaRPr sz="500" dirty="0">
              <a:latin typeface="Arial" panose="020B0604020202020204"/>
              <a:ea typeface="Arial" panose="020B0604020202020204"/>
              <a:cs typeface="Arial" panose="020B0604020202020204"/>
            </a:endParaRPr>
          </a:p>
          <a:p>
            <a:pPr marL="101600" algn="l" rtl="0" eaLnBrk="0">
              <a:lnSpc>
                <a:spcPct val="89000"/>
              </a:lnSpc>
              <a:spcBef>
                <a:spcPts val="5"/>
              </a:spcBef>
              <a:tabLst>
                <a:tab pos="3175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VL2使用两个不同的</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IP地址族</a:t>
            </a:r>
            <a:endParaRPr sz="2400" dirty="0">
              <a:latin typeface="微软雅黑" panose="020B0503020204020204" charset="-122"/>
              <a:ea typeface="微软雅黑" panose="020B0503020204020204" charset="-122"/>
              <a:cs typeface="微软雅黑" panose="020B0503020204020204" charset="-122"/>
            </a:endParaRPr>
          </a:p>
          <a:p>
            <a:pPr marL="435610" indent="-334010" algn="l" rtl="0" eaLnBrk="0">
              <a:lnSpc>
                <a:spcPct val="100000"/>
              </a:lnSpc>
              <a:spcBef>
                <a:spcPts val="1220"/>
              </a:spcBef>
              <a:tabLst>
                <a:tab pos="31750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网络设备</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位置</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相关地址(Location-</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specific</a:t>
            </a:r>
            <a:r>
              <a:rPr sz="2400"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 address,</a:t>
            </a:r>
            <a:r>
              <a:rPr sz="2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558800" algn="l" rtl="0" eaLnBrk="0">
              <a:lnSpc>
                <a:spcPct val="91000"/>
              </a:lnSpc>
              <a:spcBef>
                <a:spcPts val="1205"/>
              </a:spcBef>
              <a:tabLst>
                <a:tab pos="7747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交换机及其接口分配了LA地址</a:t>
            </a:r>
            <a:endParaRPr sz="2400" dirty="0">
              <a:latin typeface="微软雅黑" panose="020B0503020204020204" charset="-122"/>
              <a:ea typeface="微软雅黑" panose="020B0503020204020204" charset="-122"/>
              <a:cs typeface="微软雅黑" panose="020B0503020204020204" charset="-122"/>
            </a:endParaRPr>
          </a:p>
          <a:p>
            <a:pPr marL="882650" indent="-323850" algn="l" rtl="0" eaLnBrk="0">
              <a:lnSpc>
                <a:spcPct val="104000"/>
              </a:lnSpc>
              <a:spcBef>
                <a:spcPts val="1255"/>
              </a:spcBef>
              <a:tabLst>
                <a:tab pos="7747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交换机运行L3链路状</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态协议获取完整的</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交换机级别的拓扑</a:t>
            </a:r>
            <a:endParaRPr sz="2400" dirty="0">
              <a:latin typeface="微软雅黑" panose="020B0503020204020204" charset="-122"/>
              <a:ea typeface="微软雅黑" panose="020B0503020204020204" charset="-122"/>
              <a:cs typeface="微软雅黑" panose="020B0503020204020204" charset="-122"/>
            </a:endParaRPr>
          </a:p>
          <a:p>
            <a:pPr marL="435610" indent="-334010" algn="l" rtl="0" eaLnBrk="0">
              <a:lnSpc>
                <a:spcPct val="100000"/>
              </a:lnSpc>
              <a:spcBef>
                <a:spcPts val="980"/>
              </a:spcBef>
              <a:tabLst>
                <a:tab pos="31750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应用程序</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应用</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相关地址(Applic</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ation-</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specific</a:t>
            </a:r>
            <a:r>
              <a:rPr sz="24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IP address, </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AA</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558800" algn="l" rtl="0" eaLnBrk="0">
              <a:lnSpc>
                <a:spcPct val="89000"/>
              </a:lnSpc>
              <a:spcBef>
                <a:spcPts val="1250"/>
              </a:spcBef>
              <a:tabLst>
                <a:tab pos="7747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无论虚拟机怎么迁移</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都保持不变</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000" dirty="0">
              <a:latin typeface="Arial" panose="020B0604020202020204"/>
              <a:ea typeface="Arial" panose="020B0604020202020204"/>
              <a:cs typeface="Arial" panose="020B0604020202020204"/>
            </a:endParaRPr>
          </a:p>
          <a:p>
            <a:pPr marL="101600" algn="l" rtl="0" eaLnBrk="0">
              <a:lnSpc>
                <a:spcPct val="89000"/>
              </a:lnSpc>
              <a:spcBef>
                <a:spcPts val="5"/>
              </a:spcBef>
              <a:tabLst>
                <a:tab pos="317500" algn="l"/>
              </a:tabLst>
            </a:pP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VL2目录系统</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存储AA</a:t>
            </a:r>
            <a:r>
              <a:rPr sz="2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3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&gt;</a:t>
            </a:r>
            <a:r>
              <a:rPr sz="2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LA的映射</a:t>
            </a:r>
            <a:endParaRPr sz="2400" dirty="0">
              <a:latin typeface="微软雅黑" panose="020B0503020204020204" charset="-122"/>
              <a:ea typeface="微软雅黑" panose="020B0503020204020204" charset="-122"/>
              <a:cs typeface="微软雅黑" panose="020B0503020204020204" charset="-122"/>
            </a:endParaRPr>
          </a:p>
        </p:txBody>
      </p:sp>
      <p:pic>
        <p:nvPicPr>
          <p:cNvPr id="722" name="picture 722"/>
          <p:cNvPicPr>
            <a:picLocks noChangeAspect="1"/>
          </p:cNvPicPr>
          <p:nvPr/>
        </p:nvPicPr>
        <p:blipFill>
          <a:blip r:embed="rId3"/>
          <a:stretch>
            <a:fillRect/>
          </a:stretch>
        </p:blipFill>
        <p:spPr>
          <a:xfrm rot="21600000">
            <a:off x="438302" y="5893003"/>
            <a:ext cx="216408" cy="223723"/>
          </a:xfrm>
          <a:prstGeom prst="rect">
            <a:avLst/>
          </a:prstGeom>
        </p:spPr>
      </p:pic>
      <p:pic>
        <p:nvPicPr>
          <p:cNvPr id="724" name="picture 724"/>
          <p:cNvPicPr>
            <a:picLocks noChangeAspect="1"/>
          </p:cNvPicPr>
          <p:nvPr/>
        </p:nvPicPr>
        <p:blipFill>
          <a:blip r:embed="rId4"/>
          <a:stretch>
            <a:fillRect/>
          </a:stretch>
        </p:blipFill>
        <p:spPr>
          <a:xfrm rot="21600000">
            <a:off x="895527" y="5409366"/>
            <a:ext cx="216624" cy="223946"/>
          </a:xfrm>
          <a:prstGeom prst="rect">
            <a:avLst/>
          </a:prstGeom>
        </p:spPr>
      </p:pic>
      <p:pic>
        <p:nvPicPr>
          <p:cNvPr id="726" name="picture 726"/>
          <p:cNvPicPr>
            <a:picLocks noChangeAspect="1"/>
          </p:cNvPicPr>
          <p:nvPr/>
        </p:nvPicPr>
        <p:blipFill>
          <a:blip r:embed="rId3"/>
          <a:stretch>
            <a:fillRect/>
          </a:stretch>
        </p:blipFill>
        <p:spPr>
          <a:xfrm rot="21600000">
            <a:off x="438302" y="4521124"/>
            <a:ext cx="216408" cy="223723"/>
          </a:xfrm>
          <a:prstGeom prst="rect">
            <a:avLst/>
          </a:prstGeom>
        </p:spPr>
      </p:pic>
      <p:pic>
        <p:nvPicPr>
          <p:cNvPr id="728" name="picture 728"/>
          <p:cNvPicPr>
            <a:picLocks noChangeAspect="1"/>
          </p:cNvPicPr>
          <p:nvPr/>
        </p:nvPicPr>
        <p:blipFill>
          <a:blip r:embed="rId5"/>
          <a:stretch>
            <a:fillRect/>
          </a:stretch>
        </p:blipFill>
        <p:spPr>
          <a:xfrm rot="21600000">
            <a:off x="895502" y="3632250"/>
            <a:ext cx="216408" cy="223723"/>
          </a:xfrm>
          <a:prstGeom prst="rect">
            <a:avLst/>
          </a:prstGeom>
        </p:spPr>
      </p:pic>
      <p:pic>
        <p:nvPicPr>
          <p:cNvPr id="730" name="picture 730"/>
          <p:cNvPicPr>
            <a:picLocks noChangeAspect="1"/>
          </p:cNvPicPr>
          <p:nvPr/>
        </p:nvPicPr>
        <p:blipFill>
          <a:blip r:embed="rId3"/>
          <a:stretch>
            <a:fillRect/>
          </a:stretch>
        </p:blipFill>
        <p:spPr>
          <a:xfrm rot="21600000">
            <a:off x="895502" y="3149143"/>
            <a:ext cx="216408" cy="223723"/>
          </a:xfrm>
          <a:prstGeom prst="rect">
            <a:avLst/>
          </a:prstGeom>
        </p:spPr>
      </p:pic>
      <p:pic>
        <p:nvPicPr>
          <p:cNvPr id="732" name="picture 732"/>
          <p:cNvPicPr>
            <a:picLocks noChangeAspect="1"/>
          </p:cNvPicPr>
          <p:nvPr/>
        </p:nvPicPr>
        <p:blipFill>
          <a:blip r:embed="rId6"/>
          <a:stretch>
            <a:fillRect/>
          </a:stretch>
        </p:blipFill>
        <p:spPr>
          <a:xfrm rot="21600000">
            <a:off x="438328" y="2260173"/>
            <a:ext cx="216624" cy="223946"/>
          </a:xfrm>
          <a:prstGeom prst="rect">
            <a:avLst/>
          </a:prstGeom>
        </p:spPr>
      </p:pic>
      <p:pic>
        <p:nvPicPr>
          <p:cNvPr id="734" name="picture 734"/>
          <p:cNvPicPr>
            <a:picLocks noChangeAspect="1"/>
          </p:cNvPicPr>
          <p:nvPr/>
        </p:nvPicPr>
        <p:blipFill>
          <a:blip r:embed="rId3"/>
          <a:stretch>
            <a:fillRect/>
          </a:stretch>
        </p:blipFill>
        <p:spPr>
          <a:xfrm rot="21600000">
            <a:off x="438302" y="1777288"/>
            <a:ext cx="216408" cy="223723"/>
          </a:xfrm>
          <a:prstGeom prst="rect">
            <a:avLst/>
          </a:prstGeom>
        </p:spPr>
      </p:pic>
      <p:pic>
        <p:nvPicPr>
          <p:cNvPr id="736" name="picture 736"/>
          <p:cNvPicPr>
            <a:picLocks noChangeAspect="1"/>
          </p:cNvPicPr>
          <p:nvPr/>
        </p:nvPicPr>
        <p:blipFill>
          <a:blip r:embed="rId7"/>
          <a:stretch>
            <a:fillRect/>
          </a:stretch>
        </p:blipFill>
        <p:spPr>
          <a:xfrm rot="21600000">
            <a:off x="6623304" y="1222247"/>
            <a:ext cx="5568695" cy="3564635"/>
          </a:xfrm>
          <a:prstGeom prst="rect">
            <a:avLst/>
          </a:prstGeom>
        </p:spPr>
      </p:pic>
      <p:sp>
        <p:nvSpPr>
          <p:cNvPr id="738" name="textbox 738"/>
          <p:cNvSpPr/>
          <p:nvPr/>
        </p:nvSpPr>
        <p:spPr>
          <a:xfrm>
            <a:off x="302353" y="317074"/>
            <a:ext cx="576452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4.2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and</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p:txBody>
      </p:sp>
      <p:pic>
        <p:nvPicPr>
          <p:cNvPr id="740" name="picture 740"/>
          <p:cNvPicPr>
            <a:picLocks noChangeAspect="1"/>
          </p:cNvPicPr>
          <p:nvPr/>
        </p:nvPicPr>
        <p:blipFill>
          <a:blip r:embed="rId8"/>
          <a:stretch>
            <a:fillRect/>
          </a:stretch>
        </p:blipFill>
        <p:spPr>
          <a:xfrm rot="21600000">
            <a:off x="11338559" y="18288"/>
            <a:ext cx="720852" cy="719328"/>
          </a:xfrm>
          <a:prstGeom prst="rect">
            <a:avLst/>
          </a:prstGeom>
        </p:spPr>
      </p:pic>
      <p:pic>
        <p:nvPicPr>
          <p:cNvPr id="742" name="picture 742"/>
          <p:cNvPicPr>
            <a:picLocks noChangeAspect="1"/>
          </p:cNvPicPr>
          <p:nvPr/>
        </p:nvPicPr>
        <p:blipFill>
          <a:blip r:embed="rId9"/>
          <a:stretch>
            <a:fillRect/>
          </a:stretch>
        </p:blipFill>
        <p:spPr>
          <a:xfrm rot="21600000">
            <a:off x="155447" y="751332"/>
            <a:ext cx="11881104" cy="19811"/>
          </a:xfrm>
          <a:prstGeom prst="rect">
            <a:avLst/>
          </a:prstGeom>
        </p:spPr>
      </p:pic>
      <p:pic>
        <p:nvPicPr>
          <p:cNvPr id="744" name="picture 744"/>
          <p:cNvPicPr>
            <a:picLocks noChangeAspect="1"/>
          </p:cNvPicPr>
          <p:nvPr/>
        </p:nvPicPr>
        <p:blipFill>
          <a:blip r:embed="rId10"/>
          <a:stretch>
            <a:fillRect/>
          </a:stretch>
        </p:blipFill>
        <p:spPr>
          <a:xfrm rot="21600000">
            <a:off x="161544" y="6461759"/>
            <a:ext cx="11879580" cy="18288"/>
          </a:xfrm>
          <a:prstGeom prst="rect">
            <a:avLst/>
          </a:prstGeom>
        </p:spPr>
      </p:pic>
      <p:sp>
        <p:nvSpPr>
          <p:cNvPr id="746" name="textbox 746"/>
          <p:cNvSpPr/>
          <p:nvPr/>
        </p:nvSpPr>
        <p:spPr>
          <a:xfrm>
            <a:off x="11586987"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39</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8" name="picture 748"/>
          <p:cNvPicPr>
            <a:picLocks noChangeAspect="1"/>
          </p:cNvPicPr>
          <p:nvPr/>
        </p:nvPicPr>
        <p:blipFill>
          <a:blip r:embed="rId1"/>
          <a:stretch>
            <a:fillRect/>
          </a:stretch>
        </p:blipFill>
        <p:spPr>
          <a:xfrm rot="21600000">
            <a:off x="5504688" y="797052"/>
            <a:ext cx="6687311" cy="4779264"/>
          </a:xfrm>
          <a:prstGeom prst="rect">
            <a:avLst/>
          </a:prstGeom>
        </p:spPr>
      </p:pic>
      <p:sp>
        <p:nvSpPr>
          <p:cNvPr id="750" name="textbox 750"/>
          <p:cNvSpPr/>
          <p:nvPr/>
        </p:nvSpPr>
        <p:spPr>
          <a:xfrm>
            <a:off x="231902" y="1560829"/>
            <a:ext cx="5210175" cy="2977514"/>
          </a:xfrm>
          <a:prstGeom prst="roundRect">
            <a:avLst>
              <a:gd name="adj" fmla="val 7771"/>
            </a:avLst>
          </a:prstGeom>
          <a:noFill/>
          <a:ln w="25400" cap="flat">
            <a:solidFill>
              <a:srgbClr val="A5A5A5"/>
            </a:solidFill>
            <a:prstDash val="solid"/>
            <a:miter lim="0"/>
          </a:ln>
        </p:spPr>
        <p:txBody>
          <a:bodyPr vert="horz" wrap="square" lIns="0" tIns="0" rIns="0" bIns="0"/>
          <a:lstStyle/>
          <a:p>
            <a:pPr algn="l" rtl="0" eaLnBrk="0">
              <a:lnSpc>
                <a:spcPct val="101000"/>
              </a:lnSpc>
            </a:pPr>
            <a:endParaRPr sz="800" dirty="0">
              <a:latin typeface="Arial" panose="020B0604020202020204"/>
              <a:ea typeface="Arial" panose="020B0604020202020204"/>
              <a:cs typeface="Arial" panose="020B0604020202020204"/>
            </a:endParaRPr>
          </a:p>
          <a:p>
            <a:pPr marL="117475" algn="l" rtl="0" eaLnBrk="0">
              <a:lnSpc>
                <a:spcPct val="89000"/>
              </a:lnSpc>
              <a:spcBef>
                <a:spcPts val="5"/>
              </a:spcBef>
            </a:pPr>
            <a:r>
              <a:rPr sz="24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包转发</a:t>
            </a:r>
            <a:endParaRPr sz="2400" dirty="0">
              <a:latin typeface="微软雅黑" panose="020B0503020204020204" charset="-122"/>
              <a:ea typeface="微软雅黑" panose="020B0503020204020204" charset="-122"/>
              <a:cs typeface="微软雅黑" panose="020B0503020204020204" charset="-122"/>
            </a:endParaRPr>
          </a:p>
          <a:p>
            <a:pPr marL="579755" indent="-435610" algn="l" rtl="0" eaLnBrk="0">
              <a:lnSpc>
                <a:spcPct val="106000"/>
              </a:lnSpc>
              <a:spcBef>
                <a:spcPts val="128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Server上的VL</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2 agent</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截获</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来自</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host的包，使用目的ToR的LA作</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为目的地址</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封装</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包</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800" dirty="0">
              <a:latin typeface="Arial" panose="020B0604020202020204"/>
              <a:ea typeface="Arial" panose="020B0604020202020204"/>
              <a:cs typeface="Arial" panose="020B0604020202020204"/>
            </a:endParaRPr>
          </a:p>
          <a:p>
            <a:pPr marL="572770" indent="-442595" algn="l" rtl="0" eaLnBrk="0">
              <a:lnSpc>
                <a:spcPct val="104000"/>
              </a:lnSpc>
              <a:spcBef>
                <a:spcPts val="0"/>
              </a:spcBef>
            </a:pP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sz="2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当包到底目的LA(目的ToR)，交</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换机对包</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解封装</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并交给</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目的AA</a:t>
            </a:r>
            <a:endParaRPr sz="2400" dirty="0">
              <a:latin typeface="微软雅黑" panose="020B0503020204020204" charset="-122"/>
              <a:ea typeface="微软雅黑" panose="020B0503020204020204" charset="-122"/>
              <a:cs typeface="微软雅黑" panose="020B0503020204020204" charset="-122"/>
            </a:endParaRPr>
          </a:p>
        </p:txBody>
      </p:sp>
      <p:sp>
        <p:nvSpPr>
          <p:cNvPr id="752" name="textbox 752"/>
          <p:cNvSpPr/>
          <p:nvPr/>
        </p:nvSpPr>
        <p:spPr>
          <a:xfrm>
            <a:off x="302353" y="317074"/>
            <a:ext cx="576452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4.2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and</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p:txBody>
      </p:sp>
      <p:sp>
        <p:nvSpPr>
          <p:cNvPr id="754" name="textbox 754"/>
          <p:cNvSpPr/>
          <p:nvPr/>
        </p:nvSpPr>
        <p:spPr>
          <a:xfrm>
            <a:off x="534611" y="1010875"/>
            <a:ext cx="3829050"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4.2.1 地址解析与包转发</a:t>
            </a:r>
            <a:endParaRPr sz="2700" dirty="0">
              <a:latin typeface="微软雅黑" panose="020B0503020204020204" charset="-122"/>
              <a:ea typeface="微软雅黑" panose="020B0503020204020204" charset="-122"/>
              <a:cs typeface="微软雅黑" panose="020B0503020204020204" charset="-122"/>
            </a:endParaRPr>
          </a:p>
        </p:txBody>
      </p:sp>
      <p:pic>
        <p:nvPicPr>
          <p:cNvPr id="756" name="picture 756"/>
          <p:cNvPicPr>
            <a:picLocks noChangeAspect="1"/>
          </p:cNvPicPr>
          <p:nvPr/>
        </p:nvPicPr>
        <p:blipFill>
          <a:blip r:embed="rId2"/>
          <a:stretch>
            <a:fillRect/>
          </a:stretch>
        </p:blipFill>
        <p:spPr>
          <a:xfrm rot="21600000">
            <a:off x="11338559" y="18288"/>
            <a:ext cx="720852" cy="719328"/>
          </a:xfrm>
          <a:prstGeom prst="rect">
            <a:avLst/>
          </a:prstGeom>
        </p:spPr>
      </p:pic>
      <p:pic>
        <p:nvPicPr>
          <p:cNvPr id="758" name="picture 758"/>
          <p:cNvPicPr>
            <a:picLocks noChangeAspect="1"/>
          </p:cNvPicPr>
          <p:nvPr/>
        </p:nvPicPr>
        <p:blipFill>
          <a:blip r:embed="rId3"/>
          <a:stretch>
            <a:fillRect/>
          </a:stretch>
        </p:blipFill>
        <p:spPr>
          <a:xfrm rot="21600000">
            <a:off x="155447" y="751332"/>
            <a:ext cx="11881104" cy="19811"/>
          </a:xfrm>
          <a:prstGeom prst="rect">
            <a:avLst/>
          </a:prstGeom>
        </p:spPr>
      </p:pic>
      <p:pic>
        <p:nvPicPr>
          <p:cNvPr id="760" name="picture 760"/>
          <p:cNvPicPr>
            <a:picLocks noChangeAspect="1"/>
          </p:cNvPicPr>
          <p:nvPr/>
        </p:nvPicPr>
        <p:blipFill>
          <a:blip r:embed="rId4"/>
          <a:stretch>
            <a:fillRect/>
          </a:stretch>
        </p:blipFill>
        <p:spPr>
          <a:xfrm rot="21600000">
            <a:off x="161544" y="6461759"/>
            <a:ext cx="11879580" cy="18288"/>
          </a:xfrm>
          <a:prstGeom prst="rect">
            <a:avLst/>
          </a:prstGeom>
        </p:spPr>
      </p:pic>
      <p:sp>
        <p:nvSpPr>
          <p:cNvPr id="762" name="textbox 762"/>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40</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 name="textbox 764"/>
          <p:cNvSpPr/>
          <p:nvPr/>
        </p:nvSpPr>
        <p:spPr>
          <a:xfrm>
            <a:off x="231902" y="1560829"/>
            <a:ext cx="6866890" cy="3434715"/>
          </a:xfrm>
          <a:prstGeom prst="roundRect">
            <a:avLst>
              <a:gd name="adj" fmla="val 7665"/>
            </a:avLst>
          </a:prstGeom>
          <a:noFill/>
          <a:ln w="25400" cap="flat">
            <a:solidFill>
              <a:srgbClr val="A5A5A5"/>
            </a:solidFill>
            <a:prstDash val="solid"/>
            <a:miter lim="0"/>
          </a:ln>
        </p:spPr>
        <p:txBody>
          <a:bodyPr vert="horz" wrap="square" lIns="0" tIns="0" rIns="0" bIns="0"/>
          <a:lstStyle/>
          <a:p>
            <a:pPr algn="l" rtl="0" eaLnBrk="0">
              <a:lnSpc>
                <a:spcPct val="107000"/>
              </a:lnSpc>
            </a:pPr>
            <a:endParaRPr sz="700" dirty="0">
              <a:latin typeface="Arial" panose="020B0604020202020204"/>
              <a:ea typeface="Arial" panose="020B0604020202020204"/>
              <a:cs typeface="Arial" panose="020B0604020202020204"/>
            </a:endParaRPr>
          </a:p>
          <a:p>
            <a:pPr marL="107950" algn="l" rtl="0" eaLnBrk="0">
              <a:lnSpc>
                <a:spcPct val="89000"/>
              </a:lnSpc>
              <a:spcBef>
                <a:spcPts val="5"/>
              </a:spcBef>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地址解析</a:t>
            </a:r>
            <a:endParaRPr sz="2400" dirty="0">
              <a:latin typeface="微软雅黑" panose="020B0503020204020204" charset="-122"/>
              <a:ea typeface="微软雅黑" panose="020B0503020204020204" charset="-122"/>
              <a:cs typeface="微软雅黑" panose="020B0503020204020204" charset="-122"/>
            </a:endParaRPr>
          </a:p>
          <a:p>
            <a:pPr marL="585470" indent="-450215" algn="l" rtl="0" eaLnBrk="0">
              <a:lnSpc>
                <a:spcPct val="104000"/>
              </a:lnSpc>
              <a:spcBef>
                <a:spcPts val="1260"/>
              </a:spcBef>
            </a:pP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  当一个应用程序第</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一次向某AA发送数据包时，</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host上的网络栈发送</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ARP广播请求</a:t>
            </a:r>
            <a:endParaRPr sz="2400" dirty="0">
              <a:latin typeface="微软雅黑" panose="020B0503020204020204" charset="-122"/>
              <a:ea typeface="微软雅黑" panose="020B0503020204020204" charset="-122"/>
              <a:cs typeface="微软雅黑" panose="020B0503020204020204" charset="-122"/>
            </a:endParaRPr>
          </a:p>
          <a:p>
            <a:pPr marL="561975" indent="-440690" algn="l" rtl="0" eaLnBrk="0">
              <a:lnSpc>
                <a:spcPct val="104000"/>
              </a:lnSpc>
              <a:spcBef>
                <a:spcPts val="101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sz="2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Host上运行的VL2 agent</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会截获ARP请求，并</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将其转换成一个单播请求发送给VL2</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目录系统</a:t>
            </a:r>
            <a:endParaRPr sz="2400" dirty="0">
              <a:latin typeface="微软雅黑" panose="020B0503020204020204" charset="-122"/>
              <a:ea typeface="微软雅黑" panose="020B0503020204020204" charset="-122"/>
              <a:cs typeface="微软雅黑" panose="020B0503020204020204" charset="-122"/>
            </a:endParaRPr>
          </a:p>
          <a:p>
            <a:pPr marL="124460" algn="l" rtl="0" eaLnBrk="0">
              <a:lnSpc>
                <a:spcPct val="89000"/>
              </a:lnSpc>
              <a:spcBef>
                <a:spcPts val="985"/>
              </a:spcBef>
            </a:pP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24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目录系统使用目的ToR的LA做应答</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000" dirty="0">
              <a:latin typeface="Arial" panose="020B0604020202020204"/>
              <a:ea typeface="Arial" panose="020B0604020202020204"/>
              <a:cs typeface="Arial" panose="020B0604020202020204"/>
            </a:endParaRPr>
          </a:p>
          <a:p>
            <a:pPr marL="106045" algn="l" rtl="0" eaLnBrk="0">
              <a:lnSpc>
                <a:spcPct val="100000"/>
              </a:lnSpc>
              <a:spcBef>
                <a:spcPts val="5"/>
              </a:spcBef>
            </a:pP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  VL2</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agent缓存AA</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3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&gt;</a:t>
            </a:r>
            <a:r>
              <a:rPr sz="2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LA的映射</a:t>
            </a:r>
            <a:endParaRPr sz="2400" dirty="0">
              <a:latin typeface="微软雅黑" panose="020B0503020204020204" charset="-122"/>
              <a:ea typeface="微软雅黑" panose="020B0503020204020204" charset="-122"/>
              <a:cs typeface="微软雅黑" panose="020B0503020204020204" charset="-122"/>
            </a:endParaRPr>
          </a:p>
        </p:txBody>
      </p:sp>
      <p:sp>
        <p:nvSpPr>
          <p:cNvPr id="766" name="textbox 766"/>
          <p:cNvSpPr/>
          <p:nvPr/>
        </p:nvSpPr>
        <p:spPr>
          <a:xfrm>
            <a:off x="7496809" y="1560829"/>
            <a:ext cx="4387215" cy="3434715"/>
          </a:xfrm>
          <a:prstGeom prst="roundRect">
            <a:avLst>
              <a:gd name="adj" fmla="val 7665"/>
            </a:avLst>
          </a:prstGeom>
          <a:noFill/>
          <a:ln w="25400" cap="flat">
            <a:solidFill>
              <a:srgbClr val="A5A5A5"/>
            </a:solidFill>
            <a:prstDash val="solid"/>
            <a:miter lim="0"/>
          </a:ln>
        </p:spPr>
        <p:txBody>
          <a:bodyPr vert="horz" wrap="square" lIns="0" tIns="0" rIns="0" bIns="0"/>
          <a:lstStyle/>
          <a:p>
            <a:pPr algn="l" rtl="0" eaLnBrk="0">
              <a:lnSpc>
                <a:spcPct val="116000"/>
              </a:lnSpc>
            </a:pPr>
            <a:endParaRPr sz="1000" dirty="0">
              <a:latin typeface="Arial" panose="020B0604020202020204"/>
              <a:ea typeface="Arial" panose="020B0604020202020204"/>
              <a:cs typeface="Arial" panose="020B0604020202020204"/>
            </a:endParaRPr>
          </a:p>
          <a:p>
            <a:pPr marL="109220" algn="l" rtl="0" eaLnBrk="0">
              <a:lnSpc>
                <a:spcPct val="89000"/>
              </a:lnSpc>
              <a:spcBef>
                <a:spcPts val="5"/>
              </a:spcBef>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通过目录服务实现访问控制</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1000"/>
              </a:lnSpc>
            </a:pPr>
            <a:endParaRPr sz="8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106045" indent="2540" algn="l" rtl="0" eaLnBrk="0">
              <a:lnSpc>
                <a:spcPct val="110000"/>
              </a:lnSpc>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没有AA-&gt;LA映射就无法完成</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通信，所以目录系统可</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以实现</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访问控制，例如只允许</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同一服</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务的host进行地址映射等</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p:txBody>
      </p:sp>
      <p:sp>
        <p:nvSpPr>
          <p:cNvPr id="768" name="textbox 768"/>
          <p:cNvSpPr/>
          <p:nvPr/>
        </p:nvSpPr>
        <p:spPr>
          <a:xfrm>
            <a:off x="325627" y="5150256"/>
            <a:ext cx="10335259" cy="1315085"/>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9000"/>
              </a:lnSpc>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VL2编址和转发规则的优势</a:t>
            </a:r>
            <a:endParaRPr sz="2400" dirty="0">
              <a:latin typeface="微软雅黑" panose="020B0503020204020204" charset="-122"/>
              <a:ea typeface="微软雅黑" panose="020B0503020204020204" charset="-122"/>
              <a:cs typeface="微软雅黑" panose="020B0503020204020204" charset="-122"/>
            </a:endParaRPr>
          </a:p>
          <a:p>
            <a:pPr marL="41275" algn="l" rtl="0" eaLnBrk="0">
              <a:lnSpc>
                <a:spcPct val="89000"/>
              </a:lnSpc>
              <a:spcBef>
                <a:spcPts val="124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1.  可以使用路由表较小的廉价交换机(只用存储LA，无需管理数量众多的AA)</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2000"/>
              </a:lnSpc>
            </a:pPr>
            <a:endParaRPr sz="1000" dirty="0">
              <a:latin typeface="Arial" panose="020B0604020202020204"/>
              <a:ea typeface="Arial" panose="020B0604020202020204"/>
              <a:cs typeface="Arial" panose="020B0604020202020204"/>
            </a:endParaRPr>
          </a:p>
          <a:p>
            <a:pPr marL="27305" algn="l" rtl="0" eaLnBrk="0">
              <a:lnSpc>
                <a:spcPct val="89000"/>
              </a:lnSpc>
              <a:spcBef>
                <a:spcPts val="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2.  降低控制面的负担，将负载转移到可扩展性更强的目录系统</a:t>
            </a:r>
            <a:endParaRPr sz="2400" dirty="0">
              <a:latin typeface="微软雅黑" panose="020B0503020204020204" charset="-122"/>
              <a:ea typeface="微软雅黑" panose="020B0503020204020204" charset="-122"/>
              <a:cs typeface="微软雅黑" panose="020B0503020204020204" charset="-122"/>
            </a:endParaRPr>
          </a:p>
        </p:txBody>
      </p:sp>
      <p:sp>
        <p:nvSpPr>
          <p:cNvPr id="770" name="textbox 770"/>
          <p:cNvSpPr/>
          <p:nvPr/>
        </p:nvSpPr>
        <p:spPr>
          <a:xfrm>
            <a:off x="302353" y="317074"/>
            <a:ext cx="576452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4.2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and</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p:txBody>
      </p:sp>
      <p:sp>
        <p:nvSpPr>
          <p:cNvPr id="772" name="textbox 772"/>
          <p:cNvSpPr/>
          <p:nvPr/>
        </p:nvSpPr>
        <p:spPr>
          <a:xfrm>
            <a:off x="534611" y="1010875"/>
            <a:ext cx="3829050"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4.2.1 地址解析与包转发</a:t>
            </a:r>
            <a:endParaRPr sz="2700" dirty="0">
              <a:latin typeface="微软雅黑" panose="020B0503020204020204" charset="-122"/>
              <a:ea typeface="微软雅黑" panose="020B0503020204020204" charset="-122"/>
              <a:cs typeface="微软雅黑" panose="020B0503020204020204" charset="-122"/>
            </a:endParaRPr>
          </a:p>
        </p:txBody>
      </p:sp>
      <p:pic>
        <p:nvPicPr>
          <p:cNvPr id="774" name="picture 774"/>
          <p:cNvPicPr>
            <a:picLocks noChangeAspect="1"/>
          </p:cNvPicPr>
          <p:nvPr/>
        </p:nvPicPr>
        <p:blipFill>
          <a:blip r:embed="rId1"/>
          <a:stretch>
            <a:fillRect/>
          </a:stretch>
        </p:blipFill>
        <p:spPr>
          <a:xfrm rot="21600000">
            <a:off x="11338559" y="18288"/>
            <a:ext cx="720852" cy="719328"/>
          </a:xfrm>
          <a:prstGeom prst="rect">
            <a:avLst/>
          </a:prstGeom>
        </p:spPr>
      </p:pic>
      <p:pic>
        <p:nvPicPr>
          <p:cNvPr id="776" name="picture 776"/>
          <p:cNvPicPr>
            <a:picLocks noChangeAspect="1"/>
          </p:cNvPicPr>
          <p:nvPr/>
        </p:nvPicPr>
        <p:blipFill>
          <a:blip r:embed="rId2"/>
          <a:stretch>
            <a:fillRect/>
          </a:stretch>
        </p:blipFill>
        <p:spPr>
          <a:xfrm rot="21600000">
            <a:off x="155447" y="751332"/>
            <a:ext cx="11881104" cy="19811"/>
          </a:xfrm>
          <a:prstGeom prst="rect">
            <a:avLst/>
          </a:prstGeom>
        </p:spPr>
      </p:pic>
      <p:pic>
        <p:nvPicPr>
          <p:cNvPr id="778" name="picture 778"/>
          <p:cNvPicPr>
            <a:picLocks noChangeAspect="1"/>
          </p:cNvPicPr>
          <p:nvPr/>
        </p:nvPicPr>
        <p:blipFill>
          <a:blip r:embed="rId3"/>
          <a:stretch>
            <a:fillRect/>
          </a:stretch>
        </p:blipFill>
        <p:spPr>
          <a:xfrm rot="21600000">
            <a:off x="161544" y="6461759"/>
            <a:ext cx="11879580" cy="18288"/>
          </a:xfrm>
          <a:prstGeom prst="rect">
            <a:avLst/>
          </a:prstGeom>
        </p:spPr>
      </p:pic>
      <p:sp>
        <p:nvSpPr>
          <p:cNvPr id="780" name="textbox 780"/>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41</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2" name="picture 782"/>
          <p:cNvPicPr>
            <a:picLocks noChangeAspect="1"/>
          </p:cNvPicPr>
          <p:nvPr/>
        </p:nvPicPr>
        <p:blipFill>
          <a:blip r:embed="rId1"/>
          <a:stretch>
            <a:fillRect/>
          </a:stretch>
        </p:blipFill>
        <p:spPr>
          <a:xfrm rot="21600000">
            <a:off x="5504688" y="797052"/>
            <a:ext cx="6687311" cy="4779264"/>
          </a:xfrm>
          <a:prstGeom prst="rect">
            <a:avLst/>
          </a:prstGeom>
        </p:spPr>
      </p:pic>
      <p:sp>
        <p:nvSpPr>
          <p:cNvPr id="784" name="textbox 784"/>
          <p:cNvSpPr/>
          <p:nvPr/>
        </p:nvSpPr>
        <p:spPr>
          <a:xfrm>
            <a:off x="231902" y="1560829"/>
            <a:ext cx="5068570" cy="4029075"/>
          </a:xfrm>
          <a:prstGeom prst="roundRect">
            <a:avLst>
              <a:gd name="adj" fmla="val 7562"/>
            </a:avLst>
          </a:prstGeom>
          <a:noFill/>
          <a:ln w="25400" cap="flat">
            <a:solidFill>
              <a:srgbClr val="A5A5A5"/>
            </a:solidFill>
            <a:prstDash val="solid"/>
            <a:miter lim="0"/>
          </a:ln>
        </p:spPr>
        <p:txBody>
          <a:bodyPr vert="horz" wrap="square" lIns="0" tIns="0" rIns="0" bIns="0"/>
          <a:lstStyle/>
          <a:p>
            <a:pPr algn="l" rtl="0" eaLnBrk="0">
              <a:lnSpc>
                <a:spcPct val="102000"/>
              </a:lnSpc>
            </a:pPr>
            <a:endParaRPr sz="700" dirty="0">
              <a:latin typeface="Arial" panose="020B0604020202020204"/>
              <a:ea typeface="Arial" panose="020B0604020202020204"/>
              <a:cs typeface="Arial" panose="020B0604020202020204"/>
            </a:endParaRPr>
          </a:p>
          <a:p>
            <a:pPr marL="436880" indent="-320040" algn="l" rtl="0" eaLnBrk="0">
              <a:lnSpc>
                <a:spcPct val="108000"/>
              </a:lnSpc>
              <a:spcBef>
                <a:spcPts val="5"/>
              </a:spcBef>
              <a:tabLst>
                <a:tab pos="3333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为了给任意流量矩阵提供无热点</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的性能，VL2采用了</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两种相互关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联的机制：</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VLB</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ECM</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P</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。VLB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采用流作为流量分摊的</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粒度，避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免乱序。</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438150" indent="-321310" algn="l" rtl="0" eaLnBrk="0">
              <a:lnSpc>
                <a:spcPct val="108000"/>
              </a:lnSpc>
              <a:spcBef>
                <a:spcPts val="0"/>
              </a:spcBef>
              <a:tabLst>
                <a:tab pos="3333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如图所示，VL2 agent</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把流量发</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送给随机选择的核心</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交换机，数</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据包在核心交换机和目的ToR经</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过两次解包之后送达</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目的AA</a:t>
            </a:r>
            <a:endParaRPr sz="2400" dirty="0">
              <a:latin typeface="微软雅黑" panose="020B0503020204020204" charset="-122"/>
              <a:ea typeface="微软雅黑" panose="020B0503020204020204" charset="-122"/>
              <a:cs typeface="微软雅黑" panose="020B0503020204020204" charset="-122"/>
            </a:endParaRPr>
          </a:p>
        </p:txBody>
      </p:sp>
      <p:pic>
        <p:nvPicPr>
          <p:cNvPr id="786" name="picture 786"/>
          <p:cNvPicPr>
            <a:picLocks noChangeAspect="1"/>
          </p:cNvPicPr>
          <p:nvPr/>
        </p:nvPicPr>
        <p:blipFill>
          <a:blip r:embed="rId2"/>
          <a:stretch>
            <a:fillRect/>
          </a:stretch>
        </p:blipFill>
        <p:spPr>
          <a:xfrm rot="21600000">
            <a:off x="438328" y="3885010"/>
            <a:ext cx="216624" cy="223946"/>
          </a:xfrm>
          <a:prstGeom prst="rect">
            <a:avLst/>
          </a:prstGeom>
        </p:spPr>
      </p:pic>
      <p:pic>
        <p:nvPicPr>
          <p:cNvPr id="788" name="picture 788"/>
          <p:cNvPicPr>
            <a:picLocks noChangeAspect="1"/>
          </p:cNvPicPr>
          <p:nvPr/>
        </p:nvPicPr>
        <p:blipFill>
          <a:blip r:embed="rId3"/>
          <a:stretch>
            <a:fillRect/>
          </a:stretch>
        </p:blipFill>
        <p:spPr>
          <a:xfrm rot="21600000">
            <a:off x="438302" y="1777288"/>
            <a:ext cx="216408" cy="223723"/>
          </a:xfrm>
          <a:prstGeom prst="rect">
            <a:avLst/>
          </a:prstGeom>
        </p:spPr>
      </p:pic>
      <p:sp>
        <p:nvSpPr>
          <p:cNvPr id="790" name="textbox 790"/>
          <p:cNvSpPr/>
          <p:nvPr/>
        </p:nvSpPr>
        <p:spPr>
          <a:xfrm>
            <a:off x="302353" y="317074"/>
            <a:ext cx="576452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4.2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and</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p:txBody>
      </p:sp>
      <p:sp>
        <p:nvSpPr>
          <p:cNvPr id="792" name="textbox 792"/>
          <p:cNvSpPr/>
          <p:nvPr/>
        </p:nvSpPr>
        <p:spPr>
          <a:xfrm>
            <a:off x="534611" y="1010875"/>
            <a:ext cx="3829050"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4.2.2 多路随机流量分摊</a:t>
            </a:r>
            <a:endParaRPr sz="2700" dirty="0">
              <a:latin typeface="微软雅黑" panose="020B0503020204020204" charset="-122"/>
              <a:ea typeface="微软雅黑" panose="020B0503020204020204" charset="-122"/>
              <a:cs typeface="微软雅黑" panose="020B0503020204020204" charset="-122"/>
            </a:endParaRPr>
          </a:p>
        </p:txBody>
      </p:sp>
      <p:pic>
        <p:nvPicPr>
          <p:cNvPr id="794" name="picture 794"/>
          <p:cNvPicPr>
            <a:picLocks noChangeAspect="1"/>
          </p:cNvPicPr>
          <p:nvPr/>
        </p:nvPicPr>
        <p:blipFill>
          <a:blip r:embed="rId4"/>
          <a:stretch>
            <a:fillRect/>
          </a:stretch>
        </p:blipFill>
        <p:spPr>
          <a:xfrm rot="21600000">
            <a:off x="11338559" y="18288"/>
            <a:ext cx="720852" cy="719328"/>
          </a:xfrm>
          <a:prstGeom prst="rect">
            <a:avLst/>
          </a:prstGeom>
        </p:spPr>
      </p:pic>
      <p:pic>
        <p:nvPicPr>
          <p:cNvPr id="796" name="picture 796"/>
          <p:cNvPicPr>
            <a:picLocks noChangeAspect="1"/>
          </p:cNvPicPr>
          <p:nvPr/>
        </p:nvPicPr>
        <p:blipFill>
          <a:blip r:embed="rId5"/>
          <a:stretch>
            <a:fillRect/>
          </a:stretch>
        </p:blipFill>
        <p:spPr>
          <a:xfrm rot="21600000">
            <a:off x="155447" y="751332"/>
            <a:ext cx="11881104" cy="19811"/>
          </a:xfrm>
          <a:prstGeom prst="rect">
            <a:avLst/>
          </a:prstGeom>
        </p:spPr>
      </p:pic>
      <p:pic>
        <p:nvPicPr>
          <p:cNvPr id="798" name="picture 798"/>
          <p:cNvPicPr>
            <a:picLocks noChangeAspect="1"/>
          </p:cNvPicPr>
          <p:nvPr/>
        </p:nvPicPr>
        <p:blipFill>
          <a:blip r:embed="rId6"/>
          <a:stretch>
            <a:fillRect/>
          </a:stretch>
        </p:blipFill>
        <p:spPr>
          <a:xfrm rot="21600000">
            <a:off x="161544" y="6461759"/>
            <a:ext cx="11879580" cy="18288"/>
          </a:xfrm>
          <a:prstGeom prst="rect">
            <a:avLst/>
          </a:prstGeom>
        </p:spPr>
      </p:pic>
      <p:sp>
        <p:nvSpPr>
          <p:cNvPr id="800" name="textbox 800"/>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42</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 name="textbox 802"/>
          <p:cNvSpPr/>
          <p:nvPr/>
        </p:nvSpPr>
        <p:spPr>
          <a:xfrm>
            <a:off x="231902" y="1432814"/>
            <a:ext cx="11694794" cy="4987925"/>
          </a:xfrm>
          <a:prstGeom prst="roundRect">
            <a:avLst>
              <a:gd name="adj" fmla="val 7450"/>
            </a:avLst>
          </a:prstGeom>
          <a:noFill/>
          <a:ln w="25400" cap="flat">
            <a:solidFill>
              <a:srgbClr val="A5A5A5"/>
            </a:solidFill>
            <a:prstDash val="solid"/>
            <a:miter lim="0"/>
          </a:ln>
        </p:spPr>
        <p:txBody>
          <a:bodyPr vert="horz" wrap="square" lIns="0" tIns="0" rIns="0" bIns="0"/>
          <a:lstStyle/>
          <a:p>
            <a:pPr algn="l" rtl="0" eaLnBrk="0">
              <a:lnSpc>
                <a:spcPct val="102000"/>
              </a:lnSpc>
            </a:pPr>
            <a:endParaRPr sz="600" dirty="0">
              <a:latin typeface="Arial" panose="020B0604020202020204"/>
              <a:ea typeface="Arial" panose="020B0604020202020204"/>
              <a:cs typeface="Arial" panose="020B0604020202020204"/>
            </a:endParaRPr>
          </a:p>
          <a:p>
            <a:pPr marL="375920" indent="-320675" algn="l" rtl="0" eaLnBrk="0">
              <a:lnSpc>
                <a:spcPct val="103000"/>
              </a:lnSpc>
              <a:spcBef>
                <a:spcPts val="5"/>
              </a:spcBef>
              <a:tabLst>
                <a:tab pos="271145" algn="l"/>
              </a:tabLst>
            </a:pP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11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任播的使用</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：把数据包封装到一个随机选择的特定核心交换机也能实</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现VLB，但是</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如果核心交换机的可用性发生变化(由于交换机/链路故障)，需要更新大</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量的VL2</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agent。</a:t>
            </a:r>
            <a:r>
              <a:rPr sz="2400" kern="0" spc="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所以作者选择给所有的核心交换机相同的LA</a:t>
            </a:r>
            <a:endParaRPr sz="2400" dirty="0">
              <a:latin typeface="微软雅黑" panose="020B0503020204020204" charset="-122"/>
              <a:ea typeface="微软雅黑" panose="020B0503020204020204" charset="-122"/>
              <a:cs typeface="微软雅黑" panose="020B0503020204020204" charset="-122"/>
            </a:endParaRPr>
          </a:p>
          <a:p>
            <a:pPr marL="375920" indent="-320675" algn="l" rtl="0" eaLnBrk="0">
              <a:lnSpc>
                <a:spcPct val="104000"/>
              </a:lnSpc>
              <a:spcBef>
                <a:spcPts val="1290"/>
              </a:spcBef>
              <a:tabLst>
                <a:tab pos="271145" algn="l"/>
              </a:tabLst>
            </a:pP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28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ECMP</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：由于所有的核心交换机距离host都是3跳远，</a:t>
            </a:r>
            <a:r>
              <a:rPr sz="2400" kern="0" spc="-4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ECMP可</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以把封装的数据包</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发送到任意活动的核心交换机。当链路发生故障时，</a:t>
            </a:r>
            <a:r>
              <a:rPr sz="2400" kern="0" spc="-4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ECMP可以自行做出处理</a:t>
            </a:r>
            <a:endParaRPr sz="2400" dirty="0">
              <a:latin typeface="微软雅黑" panose="020B0503020204020204" charset="-122"/>
              <a:ea typeface="微软雅黑" panose="020B0503020204020204" charset="-122"/>
              <a:cs typeface="微软雅黑" panose="020B0503020204020204" charset="-122"/>
            </a:endParaRPr>
          </a:p>
          <a:p>
            <a:pPr marL="55245" algn="l" rtl="0" eaLnBrk="0">
              <a:lnSpc>
                <a:spcPct val="89000"/>
              </a:lnSpc>
              <a:spcBef>
                <a:spcPts val="990"/>
              </a:spcBef>
              <a:tabLst>
                <a:tab pos="271145" algn="l"/>
              </a:tabLst>
            </a:pP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16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4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实际问题</a:t>
            </a:r>
            <a:endParaRPr sz="2400" dirty="0">
              <a:latin typeface="微软雅黑" panose="020B0503020204020204" charset="-122"/>
              <a:ea typeface="微软雅黑" panose="020B0503020204020204" charset="-122"/>
              <a:cs typeface="微软雅黑" panose="020B0503020204020204" charset="-122"/>
            </a:endParaRPr>
          </a:p>
          <a:p>
            <a:pPr marL="845820" indent="-333375" algn="l" rtl="0" eaLnBrk="0">
              <a:lnSpc>
                <a:spcPct val="104000"/>
              </a:lnSpc>
              <a:spcBef>
                <a:spcPts val="1260"/>
              </a:spcBef>
              <a:tabLst>
                <a:tab pos="72898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许多交换机只支持16路ECMP：VL2定义多个任播地址，核心交换</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机发生故障</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时，对该交换机的任播地址进行重新分配</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800" dirty="0">
              <a:latin typeface="Arial" panose="020B0604020202020204"/>
              <a:ea typeface="Arial" panose="020B0604020202020204"/>
              <a:cs typeface="Arial" panose="020B0604020202020204"/>
            </a:endParaRPr>
          </a:p>
          <a:p>
            <a:pPr marL="833755" indent="-321310" algn="l" rtl="0" eaLnBrk="0">
              <a:lnSpc>
                <a:spcPct val="105000"/>
              </a:lnSpc>
              <a:spcBef>
                <a:spcPts val="0"/>
              </a:spcBef>
              <a:tabLst>
                <a:tab pos="72898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有些交换机在多层IP封装时无法正确获得五元组：VL2 agent预先把</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五元组哈</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希算好，结果写进外层</a:t>
            </a:r>
            <a:r>
              <a:rPr sz="24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IP 的源地址字段；交换机即使只看外层 srcIP，也能得</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到均匀分布。</a:t>
            </a:r>
            <a:endParaRPr sz="2400" dirty="0">
              <a:latin typeface="微软雅黑" panose="020B0503020204020204" charset="-122"/>
              <a:ea typeface="微软雅黑" panose="020B0503020204020204" charset="-122"/>
              <a:cs typeface="微软雅黑" panose="020B0503020204020204" charset="-122"/>
            </a:endParaRPr>
          </a:p>
        </p:txBody>
      </p:sp>
      <p:pic>
        <p:nvPicPr>
          <p:cNvPr id="804" name="picture 804"/>
          <p:cNvPicPr>
            <a:picLocks noChangeAspect="1"/>
          </p:cNvPicPr>
          <p:nvPr/>
        </p:nvPicPr>
        <p:blipFill>
          <a:blip r:embed="rId1"/>
          <a:stretch>
            <a:fillRect/>
          </a:stretch>
        </p:blipFill>
        <p:spPr>
          <a:xfrm rot="21600000">
            <a:off x="853439" y="5212302"/>
            <a:ext cx="216408" cy="220554"/>
          </a:xfrm>
          <a:prstGeom prst="rect">
            <a:avLst/>
          </a:prstGeom>
        </p:spPr>
      </p:pic>
      <p:pic>
        <p:nvPicPr>
          <p:cNvPr id="806" name="picture 806"/>
          <p:cNvPicPr>
            <a:picLocks noChangeAspect="1"/>
          </p:cNvPicPr>
          <p:nvPr/>
        </p:nvPicPr>
        <p:blipFill>
          <a:blip r:embed="rId2"/>
          <a:stretch>
            <a:fillRect/>
          </a:stretch>
        </p:blipFill>
        <p:spPr>
          <a:xfrm rot="21600000">
            <a:off x="853439" y="4324146"/>
            <a:ext cx="216408" cy="223723"/>
          </a:xfrm>
          <a:prstGeom prst="rect">
            <a:avLst/>
          </a:prstGeom>
        </p:spPr>
      </p:pic>
      <p:pic>
        <p:nvPicPr>
          <p:cNvPr id="808" name="picture 808"/>
          <p:cNvPicPr>
            <a:picLocks noChangeAspect="1"/>
          </p:cNvPicPr>
          <p:nvPr/>
        </p:nvPicPr>
        <p:blipFill>
          <a:blip r:embed="rId3"/>
          <a:stretch>
            <a:fillRect/>
          </a:stretch>
        </p:blipFill>
        <p:spPr>
          <a:xfrm rot="21600000">
            <a:off x="396265" y="3840560"/>
            <a:ext cx="216624" cy="223946"/>
          </a:xfrm>
          <a:prstGeom prst="rect">
            <a:avLst/>
          </a:prstGeom>
        </p:spPr>
      </p:pic>
      <p:pic>
        <p:nvPicPr>
          <p:cNvPr id="810" name="picture 810"/>
          <p:cNvPicPr>
            <a:picLocks noChangeAspect="1"/>
          </p:cNvPicPr>
          <p:nvPr/>
        </p:nvPicPr>
        <p:blipFill>
          <a:blip r:embed="rId4"/>
          <a:stretch>
            <a:fillRect/>
          </a:stretch>
        </p:blipFill>
        <p:spPr>
          <a:xfrm rot="21600000">
            <a:off x="396240" y="2952293"/>
            <a:ext cx="216407" cy="223723"/>
          </a:xfrm>
          <a:prstGeom prst="rect">
            <a:avLst/>
          </a:prstGeom>
        </p:spPr>
      </p:pic>
      <p:pic>
        <p:nvPicPr>
          <p:cNvPr id="812" name="picture 812"/>
          <p:cNvPicPr>
            <a:picLocks noChangeAspect="1"/>
          </p:cNvPicPr>
          <p:nvPr/>
        </p:nvPicPr>
        <p:blipFill>
          <a:blip r:embed="rId4"/>
          <a:stretch>
            <a:fillRect/>
          </a:stretch>
        </p:blipFill>
        <p:spPr>
          <a:xfrm rot="21600000">
            <a:off x="396240" y="1656638"/>
            <a:ext cx="216407" cy="223723"/>
          </a:xfrm>
          <a:prstGeom prst="rect">
            <a:avLst/>
          </a:prstGeom>
        </p:spPr>
      </p:pic>
      <p:sp>
        <p:nvSpPr>
          <p:cNvPr id="814" name="textbox 814"/>
          <p:cNvSpPr/>
          <p:nvPr/>
        </p:nvSpPr>
        <p:spPr>
          <a:xfrm>
            <a:off x="302353" y="317074"/>
            <a:ext cx="576452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4.2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and</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p:txBody>
      </p:sp>
      <p:sp>
        <p:nvSpPr>
          <p:cNvPr id="816" name="textbox 816"/>
          <p:cNvSpPr/>
          <p:nvPr/>
        </p:nvSpPr>
        <p:spPr>
          <a:xfrm>
            <a:off x="534611" y="1010875"/>
            <a:ext cx="3829050"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4.2.2 多路随机流量分摊</a:t>
            </a:r>
            <a:endParaRPr sz="2700" dirty="0">
              <a:latin typeface="微软雅黑" panose="020B0503020204020204" charset="-122"/>
              <a:ea typeface="微软雅黑" panose="020B0503020204020204" charset="-122"/>
              <a:cs typeface="微软雅黑" panose="020B0503020204020204" charset="-122"/>
            </a:endParaRPr>
          </a:p>
        </p:txBody>
      </p:sp>
      <p:pic>
        <p:nvPicPr>
          <p:cNvPr id="818" name="picture 818"/>
          <p:cNvPicPr>
            <a:picLocks noChangeAspect="1"/>
          </p:cNvPicPr>
          <p:nvPr/>
        </p:nvPicPr>
        <p:blipFill>
          <a:blip r:embed="rId5"/>
          <a:stretch>
            <a:fillRect/>
          </a:stretch>
        </p:blipFill>
        <p:spPr>
          <a:xfrm rot="21600000">
            <a:off x="11338559" y="18288"/>
            <a:ext cx="720852" cy="719328"/>
          </a:xfrm>
          <a:prstGeom prst="rect">
            <a:avLst/>
          </a:prstGeom>
        </p:spPr>
      </p:pic>
      <p:pic>
        <p:nvPicPr>
          <p:cNvPr id="820" name="picture 820"/>
          <p:cNvPicPr>
            <a:picLocks noChangeAspect="1"/>
          </p:cNvPicPr>
          <p:nvPr/>
        </p:nvPicPr>
        <p:blipFill>
          <a:blip r:embed="rId6"/>
          <a:stretch>
            <a:fillRect/>
          </a:stretch>
        </p:blipFill>
        <p:spPr>
          <a:xfrm rot="21600000">
            <a:off x="155447" y="751332"/>
            <a:ext cx="11881104" cy="19811"/>
          </a:xfrm>
          <a:prstGeom prst="rect">
            <a:avLst/>
          </a:prstGeom>
        </p:spPr>
      </p:pic>
      <p:pic>
        <p:nvPicPr>
          <p:cNvPr id="822" name="picture 822"/>
          <p:cNvPicPr>
            <a:picLocks noChangeAspect="1"/>
          </p:cNvPicPr>
          <p:nvPr/>
        </p:nvPicPr>
        <p:blipFill>
          <a:blip r:embed="rId7"/>
          <a:stretch>
            <a:fillRect/>
          </a:stretch>
        </p:blipFill>
        <p:spPr>
          <a:xfrm rot="21600000">
            <a:off x="161544" y="6461759"/>
            <a:ext cx="11879580" cy="18288"/>
          </a:xfrm>
          <a:prstGeom prst="rect">
            <a:avLst/>
          </a:prstGeom>
        </p:spPr>
      </p:pic>
      <p:sp>
        <p:nvSpPr>
          <p:cNvPr id="824" name="textbox 824"/>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43</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textbox 826"/>
          <p:cNvSpPr/>
          <p:nvPr/>
        </p:nvSpPr>
        <p:spPr>
          <a:xfrm>
            <a:off x="231902" y="1432814"/>
            <a:ext cx="5713095" cy="4987925"/>
          </a:xfrm>
          <a:prstGeom prst="roundRect">
            <a:avLst>
              <a:gd name="adj" fmla="val 7450"/>
            </a:avLst>
          </a:prstGeom>
          <a:noFill/>
          <a:ln w="25400" cap="flat">
            <a:solidFill>
              <a:srgbClr val="A5A5A5"/>
            </a:solidFill>
            <a:prstDash val="solid"/>
            <a:miter lim="0"/>
          </a:ln>
        </p:spPr>
        <p:txBody>
          <a:bodyPr vert="horz" wrap="square" lIns="0" tIns="0" rIns="0" bIns="0"/>
          <a:lstStyle/>
          <a:p>
            <a:pPr algn="l" rtl="0" eaLnBrk="0">
              <a:lnSpc>
                <a:spcPct val="118000"/>
              </a:lnSpc>
            </a:pPr>
            <a:endParaRPr sz="500" dirty="0">
              <a:latin typeface="Arial" panose="020B0604020202020204"/>
              <a:ea typeface="Arial" panose="020B0604020202020204"/>
              <a:cs typeface="Arial" panose="020B0604020202020204"/>
            </a:endParaRPr>
          </a:p>
          <a:p>
            <a:pPr marL="34290" algn="l" rtl="0" eaLnBrk="0">
              <a:lnSpc>
                <a:spcPct val="89000"/>
              </a:lnSpc>
              <a:spcBef>
                <a:spcPts val="5"/>
              </a:spcBef>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和互联网中的主机通信</a:t>
            </a:r>
            <a:endParaRPr sz="2400" dirty="0">
              <a:latin typeface="微软雅黑" panose="020B0503020204020204" charset="-122"/>
              <a:ea typeface="微软雅黑" panose="020B0503020204020204" charset="-122"/>
              <a:cs typeface="微软雅黑" panose="020B0503020204020204" charset="-122"/>
            </a:endParaRPr>
          </a:p>
          <a:p>
            <a:pPr marL="377825" indent="-322580" algn="l" rtl="0" eaLnBrk="0">
              <a:lnSpc>
                <a:spcPct val="108000"/>
              </a:lnSpc>
              <a:spcBef>
                <a:spcPts val="1225"/>
              </a:spcBef>
              <a:tabLst>
                <a:tab pos="27114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由于VL2部署了L3路由交换结构来</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实现虚拟的L2网络，</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外部流量可以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直接进入VL2交换</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机高速硅片，无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需现在网关改header</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sz="700" dirty="0">
              <a:latin typeface="Arial" panose="020B0604020202020204"/>
              <a:ea typeface="Arial" panose="020B0604020202020204"/>
              <a:cs typeface="Arial" panose="020B0604020202020204"/>
            </a:endParaRPr>
          </a:p>
          <a:p>
            <a:pPr marL="375920" indent="-320675" algn="l" rtl="0" eaLnBrk="0">
              <a:lnSpc>
                <a:spcPct val="108000"/>
              </a:lnSpc>
              <a:spcBef>
                <a:spcPts val="5"/>
              </a:spcBef>
              <a:tabLst>
                <a:tab pos="27114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需要被互联网访问的服</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务器(例如</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前端web服务器)在用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于DC内部通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信的</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AA</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以外还分配一个</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LA</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。该</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LA</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由BGP管理，可以由外部访</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问。</a:t>
            </a:r>
            <a:endParaRPr sz="2400" dirty="0">
              <a:latin typeface="微软雅黑" panose="020B0503020204020204" charset="-122"/>
              <a:ea typeface="微软雅黑" panose="020B0503020204020204" charset="-122"/>
              <a:cs typeface="微软雅黑" panose="020B0503020204020204" charset="-122"/>
            </a:endParaRPr>
          </a:p>
        </p:txBody>
      </p:sp>
      <p:pic>
        <p:nvPicPr>
          <p:cNvPr id="828" name="picture 828"/>
          <p:cNvPicPr>
            <a:picLocks noChangeAspect="1"/>
          </p:cNvPicPr>
          <p:nvPr/>
        </p:nvPicPr>
        <p:blipFill>
          <a:blip r:embed="rId1"/>
          <a:stretch>
            <a:fillRect/>
          </a:stretch>
        </p:blipFill>
        <p:spPr>
          <a:xfrm rot="21600000">
            <a:off x="396265" y="3840560"/>
            <a:ext cx="216624" cy="223946"/>
          </a:xfrm>
          <a:prstGeom prst="rect">
            <a:avLst/>
          </a:prstGeom>
        </p:spPr>
      </p:pic>
      <p:pic>
        <p:nvPicPr>
          <p:cNvPr id="830" name="picture 830"/>
          <p:cNvPicPr>
            <a:picLocks noChangeAspect="1"/>
          </p:cNvPicPr>
          <p:nvPr/>
        </p:nvPicPr>
        <p:blipFill>
          <a:blip r:embed="rId2"/>
          <a:stretch>
            <a:fillRect/>
          </a:stretch>
        </p:blipFill>
        <p:spPr>
          <a:xfrm rot="21600000">
            <a:off x="396240" y="2139746"/>
            <a:ext cx="216407" cy="223723"/>
          </a:xfrm>
          <a:prstGeom prst="rect">
            <a:avLst/>
          </a:prstGeom>
        </p:spPr>
      </p:pic>
      <p:sp>
        <p:nvSpPr>
          <p:cNvPr id="832" name="textbox 832"/>
          <p:cNvSpPr/>
          <p:nvPr/>
        </p:nvSpPr>
        <p:spPr>
          <a:xfrm>
            <a:off x="6213602" y="1432814"/>
            <a:ext cx="5713095" cy="4987925"/>
          </a:xfrm>
          <a:prstGeom prst="roundRect">
            <a:avLst>
              <a:gd name="adj" fmla="val 7450"/>
            </a:avLst>
          </a:prstGeom>
          <a:noFill/>
          <a:ln w="25400" cap="flat">
            <a:solidFill>
              <a:srgbClr val="A5A5A5"/>
            </a:solidFill>
            <a:prstDash val="solid"/>
            <a:miter lim="0"/>
          </a:ln>
        </p:spPr>
        <p:txBody>
          <a:bodyPr vert="horz" wrap="square" lIns="0" tIns="0" rIns="0" bIns="0"/>
          <a:lstStyle/>
          <a:p>
            <a:pPr algn="l" rtl="0" eaLnBrk="0">
              <a:lnSpc>
                <a:spcPct val="118000"/>
              </a:lnSpc>
            </a:pPr>
            <a:endParaRPr sz="500" dirty="0">
              <a:latin typeface="Arial" panose="020B0604020202020204"/>
              <a:ea typeface="Arial" panose="020B0604020202020204"/>
              <a:cs typeface="Arial" panose="020B0604020202020204"/>
            </a:endParaRPr>
          </a:p>
          <a:p>
            <a:pPr marL="131445" algn="l" rtl="0" eaLnBrk="0">
              <a:lnSpc>
                <a:spcPct val="89000"/>
              </a:lnSpc>
              <a:spcBef>
                <a:spcPts val="5"/>
              </a:spcBef>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处理广播</a:t>
            </a:r>
            <a:endParaRPr sz="2400" dirty="0">
              <a:latin typeface="微软雅黑" panose="020B0503020204020204" charset="-122"/>
              <a:ea typeface="微软雅黑" panose="020B0503020204020204" charset="-122"/>
              <a:cs typeface="微软雅黑" panose="020B0503020204020204" charset="-122"/>
            </a:endParaRPr>
          </a:p>
          <a:p>
            <a:pPr marL="132080" algn="l" rtl="0" eaLnBrk="0">
              <a:lnSpc>
                <a:spcPct val="108000"/>
              </a:lnSpc>
              <a:spcBef>
                <a:spcPts val="1020"/>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VL2为应用提供了L2语</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义保证向后兼</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容性，其中包括支持广播和组播</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132080" algn="l" rtl="0" eaLnBrk="0">
              <a:lnSpc>
                <a:spcPct val="89000"/>
              </a:lnSpc>
              <a:spcBef>
                <a:spcPts val="400"/>
              </a:spcBef>
            </a:pP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VL2完全消除了大部分广</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播的源头：</a:t>
            </a:r>
            <a:endParaRPr sz="2400" dirty="0">
              <a:latin typeface="微软雅黑" panose="020B0503020204020204" charset="-122"/>
              <a:ea typeface="微软雅黑" panose="020B0503020204020204" charset="-122"/>
              <a:cs typeface="微软雅黑" panose="020B0503020204020204" charset="-122"/>
            </a:endParaRPr>
          </a:p>
          <a:p>
            <a:pPr marL="132715" algn="l" rtl="0" eaLnBrk="0">
              <a:lnSpc>
                <a:spcPct val="89000"/>
              </a:lnSpc>
              <a:spcBef>
                <a:spcPts val="64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ARP和DHCP。</a:t>
            </a:r>
            <a:endParaRPr sz="2400" dirty="0">
              <a:latin typeface="微软雅黑" panose="020B0503020204020204" charset="-122"/>
              <a:ea typeface="微软雅黑" panose="020B0503020204020204" charset="-122"/>
              <a:cs typeface="微软雅黑" panose="020B0503020204020204" charset="-122"/>
            </a:endParaRPr>
          </a:p>
          <a:p>
            <a:pPr marL="154940" algn="l" rtl="0" eaLnBrk="0">
              <a:lnSpc>
                <a:spcPct val="89000"/>
              </a:lnSpc>
              <a:spcBef>
                <a:spcPts val="1230"/>
              </a:spcBef>
              <a:tabLst>
                <a:tab pos="3714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ARP由目录系统取代</a:t>
            </a:r>
            <a:endParaRPr sz="2400" dirty="0">
              <a:latin typeface="微软雅黑" panose="020B0503020204020204" charset="-122"/>
              <a:ea typeface="微软雅黑" panose="020B0503020204020204" charset="-122"/>
              <a:cs typeface="微软雅黑" panose="020B0503020204020204" charset="-122"/>
            </a:endParaRPr>
          </a:p>
          <a:p>
            <a:pPr marL="485775" indent="-330835" algn="l" rtl="0" eaLnBrk="0">
              <a:lnSpc>
                <a:spcPct val="99000"/>
              </a:lnSpc>
              <a:spcBef>
                <a:spcPts val="1275"/>
              </a:spcBef>
              <a:tabLst>
                <a:tab pos="3714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DHCP消息被ToR使用DHCP</a:t>
            </a:r>
            <a:r>
              <a:rPr sz="2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relay</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agent拦截，单播到DHCP服务器</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sz="1000" dirty="0">
              <a:latin typeface="Arial" panose="020B0604020202020204"/>
              <a:ea typeface="Arial" panose="020B0604020202020204"/>
              <a:cs typeface="Arial" panose="020B0604020202020204"/>
            </a:endParaRPr>
          </a:p>
          <a:p>
            <a:pPr marL="475615" indent="-320675" algn="l" rtl="0" eaLnBrk="0">
              <a:lnSpc>
                <a:spcPct val="105000"/>
              </a:lnSpc>
              <a:spcBef>
                <a:spcPts val="5"/>
              </a:spcBef>
              <a:tabLst>
                <a:tab pos="3714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为了处理其他的L2广播流量，每个</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服务分配一个IP组播地</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址，广播被</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转换为该服务的组播</a:t>
            </a:r>
            <a:endParaRPr sz="2400" dirty="0">
              <a:latin typeface="微软雅黑" panose="020B0503020204020204" charset="-122"/>
              <a:ea typeface="微软雅黑" panose="020B0503020204020204" charset="-122"/>
              <a:cs typeface="微软雅黑" panose="020B0503020204020204" charset="-122"/>
            </a:endParaRPr>
          </a:p>
        </p:txBody>
      </p:sp>
      <p:pic>
        <p:nvPicPr>
          <p:cNvPr id="834" name="picture 834"/>
          <p:cNvPicPr>
            <a:picLocks noChangeAspect="1"/>
          </p:cNvPicPr>
          <p:nvPr/>
        </p:nvPicPr>
        <p:blipFill>
          <a:blip r:embed="rId3"/>
          <a:stretch>
            <a:fillRect/>
          </a:stretch>
        </p:blipFill>
        <p:spPr>
          <a:xfrm rot="21600000">
            <a:off x="6477584" y="5212302"/>
            <a:ext cx="216408" cy="220554"/>
          </a:xfrm>
          <a:prstGeom prst="rect">
            <a:avLst/>
          </a:prstGeom>
        </p:spPr>
      </p:pic>
      <p:pic>
        <p:nvPicPr>
          <p:cNvPr id="836" name="picture 836"/>
          <p:cNvPicPr>
            <a:picLocks noChangeAspect="1"/>
          </p:cNvPicPr>
          <p:nvPr/>
        </p:nvPicPr>
        <p:blipFill>
          <a:blip r:embed="rId4"/>
          <a:stretch>
            <a:fillRect/>
          </a:stretch>
        </p:blipFill>
        <p:spPr>
          <a:xfrm rot="21600000">
            <a:off x="6477584" y="4324146"/>
            <a:ext cx="216408" cy="223723"/>
          </a:xfrm>
          <a:prstGeom prst="rect">
            <a:avLst/>
          </a:prstGeom>
        </p:spPr>
      </p:pic>
      <p:pic>
        <p:nvPicPr>
          <p:cNvPr id="838" name="picture 838"/>
          <p:cNvPicPr>
            <a:picLocks noChangeAspect="1"/>
          </p:cNvPicPr>
          <p:nvPr/>
        </p:nvPicPr>
        <p:blipFill>
          <a:blip r:embed="rId5"/>
          <a:stretch>
            <a:fillRect/>
          </a:stretch>
        </p:blipFill>
        <p:spPr>
          <a:xfrm rot="21600000">
            <a:off x="6477609" y="3840560"/>
            <a:ext cx="216624" cy="223946"/>
          </a:xfrm>
          <a:prstGeom prst="rect">
            <a:avLst/>
          </a:prstGeom>
        </p:spPr>
      </p:pic>
      <p:sp>
        <p:nvSpPr>
          <p:cNvPr id="840" name="textbox 840"/>
          <p:cNvSpPr/>
          <p:nvPr/>
        </p:nvSpPr>
        <p:spPr>
          <a:xfrm>
            <a:off x="302353" y="317074"/>
            <a:ext cx="576452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4.2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6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and</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p:txBody>
      </p:sp>
      <p:sp>
        <p:nvSpPr>
          <p:cNvPr id="842" name="textbox 842"/>
          <p:cNvSpPr/>
          <p:nvPr/>
        </p:nvSpPr>
        <p:spPr>
          <a:xfrm>
            <a:off x="534611" y="1010875"/>
            <a:ext cx="2762885"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4.2.3 向后兼容性</a:t>
            </a:r>
            <a:endParaRPr sz="2700" dirty="0">
              <a:latin typeface="微软雅黑" panose="020B0503020204020204" charset="-122"/>
              <a:ea typeface="微软雅黑" panose="020B0503020204020204" charset="-122"/>
              <a:cs typeface="微软雅黑" panose="020B0503020204020204" charset="-122"/>
            </a:endParaRPr>
          </a:p>
        </p:txBody>
      </p:sp>
      <p:pic>
        <p:nvPicPr>
          <p:cNvPr id="844" name="picture 844"/>
          <p:cNvPicPr>
            <a:picLocks noChangeAspect="1"/>
          </p:cNvPicPr>
          <p:nvPr/>
        </p:nvPicPr>
        <p:blipFill>
          <a:blip r:embed="rId6"/>
          <a:stretch>
            <a:fillRect/>
          </a:stretch>
        </p:blipFill>
        <p:spPr>
          <a:xfrm rot="21600000">
            <a:off x="11338559" y="18288"/>
            <a:ext cx="720852" cy="719328"/>
          </a:xfrm>
          <a:prstGeom prst="rect">
            <a:avLst/>
          </a:prstGeom>
        </p:spPr>
      </p:pic>
      <p:pic>
        <p:nvPicPr>
          <p:cNvPr id="846" name="picture 846"/>
          <p:cNvPicPr>
            <a:picLocks noChangeAspect="1"/>
          </p:cNvPicPr>
          <p:nvPr/>
        </p:nvPicPr>
        <p:blipFill>
          <a:blip r:embed="rId7"/>
          <a:stretch>
            <a:fillRect/>
          </a:stretch>
        </p:blipFill>
        <p:spPr>
          <a:xfrm rot="21600000">
            <a:off x="155447" y="751332"/>
            <a:ext cx="11881104" cy="19811"/>
          </a:xfrm>
          <a:prstGeom prst="rect">
            <a:avLst/>
          </a:prstGeom>
        </p:spPr>
      </p:pic>
      <p:pic>
        <p:nvPicPr>
          <p:cNvPr id="848" name="picture 848"/>
          <p:cNvPicPr>
            <a:picLocks noChangeAspect="1"/>
          </p:cNvPicPr>
          <p:nvPr/>
        </p:nvPicPr>
        <p:blipFill>
          <a:blip r:embed="rId8"/>
          <a:stretch>
            <a:fillRect/>
          </a:stretch>
        </p:blipFill>
        <p:spPr>
          <a:xfrm rot="21600000">
            <a:off x="161544" y="6461759"/>
            <a:ext cx="11879580" cy="18288"/>
          </a:xfrm>
          <a:prstGeom prst="rect">
            <a:avLst/>
          </a:prstGeom>
        </p:spPr>
      </p:pic>
      <p:sp>
        <p:nvSpPr>
          <p:cNvPr id="850" name="textbox 850"/>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44</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rect 852"/>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854" name="textbox 854"/>
          <p:cNvSpPr/>
          <p:nvPr/>
        </p:nvSpPr>
        <p:spPr>
          <a:xfrm>
            <a:off x="2846575" y="494919"/>
            <a:ext cx="6436995" cy="563499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511425"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5"/>
              </a:spcBef>
            </a:pP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Virtual</a:t>
            </a:r>
            <a:r>
              <a:rPr sz="2700" b="1" kern="0" spc="27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8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501015" algn="l" rtl="0" eaLnBrk="0">
              <a:lnSpc>
                <a:spcPct val="100000"/>
              </a:lnSpc>
              <a:spcBef>
                <a:spcPts val="1320"/>
              </a:spcBef>
            </a:pP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1.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Scale</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out</a:t>
            </a:r>
            <a:r>
              <a:rPr sz="2700" b="1" kern="0" spc="1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Topologies</a:t>
            </a:r>
            <a:endParaRPr sz="2700" dirty="0">
              <a:latin typeface="微软雅黑" panose="020B0503020204020204" charset="-122"/>
              <a:ea typeface="微软雅黑" panose="020B0503020204020204" charset="-122"/>
              <a:cs typeface="微软雅黑" panose="020B0503020204020204" charset="-122"/>
            </a:endParaRPr>
          </a:p>
          <a:p>
            <a:pPr algn="r" rtl="0" eaLnBrk="0">
              <a:lnSpc>
                <a:spcPct val="100000"/>
              </a:lnSpc>
              <a:spcBef>
                <a:spcPts val="1320"/>
              </a:spcBef>
            </a:pP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VL</a:t>
            </a: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Addressing</a:t>
            </a:r>
            <a:r>
              <a:rPr sz="2700" b="1" kern="0" spc="11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and</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Routing</a:t>
            </a:r>
            <a:endParaRPr sz="2700" dirty="0">
              <a:latin typeface="微软雅黑" panose="020B0503020204020204" charset="-122"/>
              <a:ea typeface="微软雅黑" panose="020B0503020204020204" charset="-122"/>
              <a:cs typeface="微软雅黑" panose="020B0503020204020204" charset="-122"/>
            </a:endParaRPr>
          </a:p>
          <a:p>
            <a:pPr marL="495300" algn="l" rtl="0" eaLnBrk="0">
              <a:lnSpc>
                <a:spcPct val="100000"/>
              </a:lnSpc>
              <a:spcBef>
                <a:spcPts val="1320"/>
              </a:spcBef>
            </a:pPr>
            <a:r>
              <a:rPr sz="2700" b="1" kern="0" spc="70" dirty="0">
                <a:solidFill>
                  <a:srgbClr val="4472C4">
                    <a:alpha val="100000"/>
                  </a:srgbClr>
                </a:solidFill>
                <a:latin typeface="微软雅黑" panose="020B0503020204020204" charset="-122"/>
                <a:ea typeface="微软雅黑" panose="020B0503020204020204" charset="-122"/>
                <a:cs typeface="微软雅黑" panose="020B0503020204020204" charset="-122"/>
              </a:rPr>
              <a:t>3.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VL</a:t>
            </a:r>
            <a:r>
              <a:rPr sz="2700" b="1" kern="0" spc="70" dirty="0">
                <a:solidFill>
                  <a:srgbClr val="4472C4">
                    <a:alpha val="100000"/>
                  </a:srgbClr>
                </a:solidFill>
                <a:latin typeface="微软雅黑" panose="020B0503020204020204" charset="-122"/>
                <a:ea typeface="微软雅黑" panose="020B0503020204020204" charset="-122"/>
                <a:cs typeface="微软雅黑" panose="020B0503020204020204" charset="-122"/>
              </a:rPr>
              <a:t>2</a:t>
            </a:r>
            <a:r>
              <a:rPr sz="2700" b="1" kern="0" spc="34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Directory</a:t>
            </a:r>
            <a:r>
              <a:rPr sz="2700" b="1" kern="0" spc="19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System</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0" algn="l" rtl="0" eaLnBrk="0">
              <a:lnSpc>
                <a:spcPct val="83000"/>
              </a:lnSpc>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856" name="picture 856"/>
          <p:cNvPicPr>
            <a:picLocks noChangeAspect="1"/>
          </p:cNvPicPr>
          <p:nvPr/>
        </p:nvPicPr>
        <p:blipFill>
          <a:blip r:embed="rId1"/>
          <a:stretch>
            <a:fillRect/>
          </a:stretch>
        </p:blipFill>
        <p:spPr>
          <a:xfrm rot="21600000">
            <a:off x="0" y="0"/>
            <a:ext cx="12192000" cy="288035"/>
          </a:xfrm>
          <a:prstGeom prst="rect">
            <a:avLst/>
          </a:prstGeom>
        </p:spPr>
      </p:pic>
      <p:pic>
        <p:nvPicPr>
          <p:cNvPr id="858" name="picture 858"/>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 name="textbox 860"/>
          <p:cNvSpPr/>
          <p:nvPr/>
        </p:nvSpPr>
        <p:spPr>
          <a:xfrm>
            <a:off x="6222745" y="992378"/>
            <a:ext cx="5655309" cy="5234940"/>
          </a:xfrm>
          <a:prstGeom prst="roundRect">
            <a:avLst>
              <a:gd name="adj" fmla="val 7428"/>
            </a:avLst>
          </a:prstGeom>
          <a:noFill/>
          <a:ln w="25400" cap="flat">
            <a:solidFill>
              <a:srgbClr val="A5A5A5"/>
            </a:solidFill>
            <a:prstDash val="solid"/>
            <a:miter lim="0"/>
          </a:ln>
        </p:spPr>
        <p:txBody>
          <a:bodyPr vert="horz" wrap="square" lIns="0" tIns="0" rIns="0" bIns="0"/>
          <a:lstStyle/>
          <a:p>
            <a:pPr algn="l" rtl="0" eaLnBrk="0">
              <a:lnSpc>
                <a:spcPct val="129000"/>
              </a:lnSpc>
            </a:pPr>
            <a:endParaRPr sz="1000" dirty="0">
              <a:latin typeface="Arial" panose="020B0604020202020204"/>
              <a:ea typeface="Arial" panose="020B0604020202020204"/>
              <a:cs typeface="Arial" panose="020B0604020202020204"/>
            </a:endParaRPr>
          </a:p>
          <a:p>
            <a:pPr marL="225425" algn="l" rtl="0" eaLnBrk="0">
              <a:lnSpc>
                <a:spcPct val="89000"/>
              </a:lnSpc>
              <a:spcBef>
                <a:spcPts val="5"/>
              </a:spcBef>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系统需求</a:t>
            </a:r>
            <a:endParaRPr sz="2400" dirty="0">
              <a:latin typeface="微软雅黑" panose="020B0503020204020204" charset="-122"/>
              <a:ea typeface="微软雅黑" panose="020B0503020204020204" charset="-122"/>
              <a:cs typeface="微软雅黑" panose="020B0503020204020204" charset="-122"/>
            </a:endParaRPr>
          </a:p>
          <a:p>
            <a:pPr marL="247015" algn="l" rtl="0" eaLnBrk="0">
              <a:lnSpc>
                <a:spcPct val="89000"/>
              </a:lnSpc>
              <a:spcBef>
                <a:spcPts val="1240"/>
              </a:spcBef>
              <a:tabLst>
                <a:tab pos="4635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性能需求</a:t>
            </a:r>
            <a:endParaRPr sz="2400" dirty="0">
              <a:latin typeface="微软雅黑" panose="020B0503020204020204" charset="-122"/>
              <a:ea typeface="微软雅黑" panose="020B0503020204020204" charset="-122"/>
              <a:cs typeface="微软雅黑" panose="020B0503020204020204" charset="-122"/>
            </a:endParaRPr>
          </a:p>
          <a:p>
            <a:pPr marL="1022985" indent="-318770" algn="l" rtl="0" eaLnBrk="0">
              <a:lnSpc>
                <a:spcPct val="104000"/>
              </a:lnSpc>
              <a:spcBef>
                <a:spcPts val="1250"/>
              </a:spcBef>
              <a:tabLst>
                <a:tab pos="9207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lookup：突发性-&gt;需要高带宽</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低响应时间；</a:t>
            </a:r>
            <a:endParaRPr sz="2400" dirty="0">
              <a:latin typeface="微软雅黑" panose="020B0503020204020204" charset="-122"/>
              <a:ea typeface="微软雅黑" panose="020B0503020204020204" charset="-122"/>
              <a:cs typeface="微软雅黑" panose="020B0503020204020204" charset="-122"/>
            </a:endParaRPr>
          </a:p>
          <a:p>
            <a:pPr marL="704215" algn="l" rtl="0" eaLnBrk="0">
              <a:lnSpc>
                <a:spcPct val="100000"/>
              </a:lnSpc>
              <a:spcBef>
                <a:spcPts val="1000"/>
              </a:spcBef>
              <a:tabLst>
                <a:tab pos="9207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update：可靠性更重要</a:t>
            </a:r>
            <a:endParaRPr sz="2400" dirty="0">
              <a:latin typeface="微软雅黑" panose="020B0503020204020204" charset="-122"/>
              <a:ea typeface="微软雅黑" panose="020B0503020204020204" charset="-122"/>
              <a:cs typeface="微软雅黑" panose="020B0503020204020204" charset="-122"/>
            </a:endParaRPr>
          </a:p>
          <a:p>
            <a:pPr marL="247015" algn="l" rtl="0" eaLnBrk="0">
              <a:lnSpc>
                <a:spcPct val="89000"/>
              </a:lnSpc>
              <a:spcBef>
                <a:spcPts val="910"/>
              </a:spcBef>
              <a:tabLst>
                <a:tab pos="4635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一致性需求</a:t>
            </a:r>
            <a:endParaRPr sz="2400" dirty="0">
              <a:latin typeface="微软雅黑" panose="020B0503020204020204" charset="-122"/>
              <a:ea typeface="微软雅黑" panose="020B0503020204020204" charset="-122"/>
              <a:cs typeface="微软雅黑" panose="020B0503020204020204" charset="-122"/>
            </a:endParaRPr>
          </a:p>
          <a:p>
            <a:pPr marL="568325" indent="25400" algn="l" rtl="0" eaLnBrk="0">
              <a:lnSpc>
                <a:spcPct val="109000"/>
              </a:lnSpc>
              <a:spcBef>
                <a:spcPts val="435"/>
              </a:spcBef>
            </a:pP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L2网络可以通过ARP缓存超时的机</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制保证IP-&gt;MAC的最终一致，目</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录系统也需要AA-&gt;LA的一致</a:t>
            </a:r>
            <a:endParaRPr sz="2400" dirty="0">
              <a:latin typeface="微软雅黑" panose="020B0503020204020204" charset="-122"/>
              <a:ea typeface="微软雅黑" panose="020B0503020204020204" charset="-122"/>
              <a:cs typeface="微软雅黑" panose="020B0503020204020204" charset="-122"/>
            </a:endParaRPr>
          </a:p>
        </p:txBody>
      </p:sp>
      <p:pic>
        <p:nvPicPr>
          <p:cNvPr id="862" name="picture 862"/>
          <p:cNvPicPr>
            <a:picLocks noChangeAspect="1"/>
          </p:cNvPicPr>
          <p:nvPr/>
        </p:nvPicPr>
        <p:blipFill>
          <a:blip r:embed="rId1"/>
          <a:stretch>
            <a:fillRect/>
          </a:stretch>
        </p:blipFill>
        <p:spPr>
          <a:xfrm rot="21600000">
            <a:off x="6584010" y="3664889"/>
            <a:ext cx="216408" cy="223723"/>
          </a:xfrm>
          <a:prstGeom prst="rect">
            <a:avLst/>
          </a:prstGeom>
        </p:spPr>
      </p:pic>
      <p:pic>
        <p:nvPicPr>
          <p:cNvPr id="864" name="picture 864"/>
          <p:cNvPicPr>
            <a:picLocks noChangeAspect="1"/>
          </p:cNvPicPr>
          <p:nvPr/>
        </p:nvPicPr>
        <p:blipFill>
          <a:blip r:embed="rId2"/>
          <a:stretch>
            <a:fillRect/>
          </a:stretch>
        </p:blipFill>
        <p:spPr>
          <a:xfrm rot="21600000">
            <a:off x="7041210" y="3183305"/>
            <a:ext cx="216408" cy="223723"/>
          </a:xfrm>
          <a:prstGeom prst="rect">
            <a:avLst/>
          </a:prstGeom>
        </p:spPr>
      </p:pic>
      <p:pic>
        <p:nvPicPr>
          <p:cNvPr id="866" name="picture 866"/>
          <p:cNvPicPr>
            <a:picLocks noChangeAspect="1"/>
          </p:cNvPicPr>
          <p:nvPr/>
        </p:nvPicPr>
        <p:blipFill>
          <a:blip r:embed="rId3"/>
          <a:stretch>
            <a:fillRect/>
          </a:stretch>
        </p:blipFill>
        <p:spPr>
          <a:xfrm rot="21600000">
            <a:off x="7041236" y="2292812"/>
            <a:ext cx="216624" cy="223946"/>
          </a:xfrm>
          <a:prstGeom prst="rect">
            <a:avLst/>
          </a:prstGeom>
        </p:spPr>
      </p:pic>
      <p:pic>
        <p:nvPicPr>
          <p:cNvPr id="868" name="picture 868"/>
          <p:cNvPicPr>
            <a:picLocks noChangeAspect="1"/>
          </p:cNvPicPr>
          <p:nvPr/>
        </p:nvPicPr>
        <p:blipFill>
          <a:blip r:embed="rId2"/>
          <a:stretch>
            <a:fillRect/>
          </a:stretch>
        </p:blipFill>
        <p:spPr>
          <a:xfrm rot="21600000">
            <a:off x="6584010" y="1811451"/>
            <a:ext cx="216408" cy="223723"/>
          </a:xfrm>
          <a:prstGeom prst="rect">
            <a:avLst/>
          </a:prstGeom>
        </p:spPr>
      </p:pic>
      <p:sp>
        <p:nvSpPr>
          <p:cNvPr id="870" name="textbox 870"/>
          <p:cNvSpPr/>
          <p:nvPr/>
        </p:nvSpPr>
        <p:spPr>
          <a:xfrm>
            <a:off x="266954" y="992378"/>
            <a:ext cx="5655309" cy="5234940"/>
          </a:xfrm>
          <a:prstGeom prst="roundRect">
            <a:avLst>
              <a:gd name="adj" fmla="val 7428"/>
            </a:avLst>
          </a:prstGeom>
          <a:noFill/>
          <a:ln w="25400" cap="flat">
            <a:solidFill>
              <a:srgbClr val="A5A5A5"/>
            </a:solidFill>
            <a:prstDash val="solid"/>
            <a:miter lim="0"/>
          </a:ln>
        </p:spPr>
        <p:txBody>
          <a:bodyPr vert="horz" wrap="square" lIns="0" tIns="0" rIns="0" bIns="0"/>
          <a:lstStyle/>
          <a:p>
            <a:pPr algn="l" rtl="0" eaLnBrk="0">
              <a:lnSpc>
                <a:spcPct val="129000"/>
              </a:lnSpc>
            </a:pPr>
            <a:endParaRPr sz="1000" dirty="0">
              <a:latin typeface="Arial" panose="020B0604020202020204"/>
              <a:ea typeface="Arial" panose="020B0604020202020204"/>
              <a:cs typeface="Arial" panose="020B0604020202020204"/>
            </a:endParaRPr>
          </a:p>
          <a:p>
            <a:pPr marL="41275" algn="l" rtl="0" eaLnBrk="0">
              <a:lnSpc>
                <a:spcPct val="89000"/>
              </a:lnSpc>
              <a:spcBef>
                <a:spcPts val="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VL2的目录系统提供了3</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项</a:t>
            </a: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关键功能</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61595" algn="l" rtl="0" eaLnBrk="0">
              <a:lnSpc>
                <a:spcPct val="89000"/>
              </a:lnSpc>
              <a:spcBef>
                <a:spcPts val="64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 查询AA-&gt;LA映射</a:t>
            </a:r>
            <a:endParaRPr sz="2400" dirty="0">
              <a:latin typeface="微软雅黑" panose="020B0503020204020204" charset="-122"/>
              <a:ea typeface="微软雅黑" panose="020B0503020204020204" charset="-122"/>
              <a:cs typeface="微软雅黑" panose="020B0503020204020204" charset="-122"/>
            </a:endParaRPr>
          </a:p>
          <a:p>
            <a:pPr marL="61595" algn="l" rtl="0" eaLnBrk="0">
              <a:lnSpc>
                <a:spcPct val="89000"/>
              </a:lnSpc>
              <a:spcBef>
                <a:spcPts val="1230"/>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 更新AA-&gt;LA映射</a:t>
            </a:r>
            <a:endParaRPr sz="2400" dirty="0">
              <a:latin typeface="微软雅黑" panose="020B0503020204020204" charset="-122"/>
              <a:ea typeface="微软雅黑" panose="020B0503020204020204" charset="-122"/>
              <a:cs typeface="微软雅黑" panose="020B0503020204020204" charset="-122"/>
            </a:endParaRPr>
          </a:p>
          <a:p>
            <a:pPr marL="43180" indent="17780" algn="l" rtl="0" eaLnBrk="0">
              <a:lnSpc>
                <a:spcPct val="104000"/>
              </a:lnSpc>
              <a:spcBef>
                <a:spcPts val="1265"/>
              </a:spcBef>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(3) 响应式缓存更新机制快速响</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应延</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迟敏感的更新</a:t>
            </a:r>
            <a:endParaRPr sz="2400" dirty="0">
              <a:latin typeface="微软雅黑" panose="020B0503020204020204" charset="-122"/>
              <a:ea typeface="微软雅黑" panose="020B0503020204020204" charset="-122"/>
              <a:cs typeface="微软雅黑" panose="020B0503020204020204" charset="-122"/>
            </a:endParaRPr>
          </a:p>
          <a:p>
            <a:pPr marL="46355" algn="l" rtl="0" eaLnBrk="0">
              <a:lnSpc>
                <a:spcPct val="89000"/>
              </a:lnSpc>
              <a:spcBef>
                <a:spcPts val="980"/>
              </a:spcBef>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工作负载特征</a:t>
            </a:r>
            <a:endParaRPr sz="2400" dirty="0">
              <a:latin typeface="微软雅黑" panose="020B0503020204020204" charset="-122"/>
              <a:ea typeface="微软雅黑" panose="020B0503020204020204" charset="-122"/>
              <a:cs typeface="微软雅黑" panose="020B0503020204020204" charset="-122"/>
            </a:endParaRPr>
          </a:p>
          <a:p>
            <a:pPr marL="383540" indent="-319405" algn="l" rtl="0" eaLnBrk="0">
              <a:lnSpc>
                <a:spcPct val="107000"/>
              </a:lnSpc>
              <a:spcBef>
                <a:spcPts val="1210"/>
              </a:spcBef>
              <a:tabLst>
                <a:tab pos="2806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lookup频繁，突发</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：服务器可能</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短时间和大量其他服务器通</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信，造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成大量AA-&gt;LA查询</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sz="800" dirty="0">
              <a:latin typeface="Arial" panose="020B0604020202020204"/>
              <a:ea typeface="Arial" panose="020B0604020202020204"/>
              <a:cs typeface="Arial" panose="020B0604020202020204"/>
            </a:endParaRPr>
          </a:p>
          <a:p>
            <a:pPr marL="387985" indent="-323850" algn="l" rtl="0" eaLnBrk="0">
              <a:lnSpc>
                <a:spcPct val="104000"/>
              </a:lnSpc>
              <a:tabLst>
                <a:tab pos="28067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update通常由故障或</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服务器启动</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事件驱动</a:t>
            </a:r>
            <a:endParaRPr sz="2400" dirty="0">
              <a:latin typeface="微软雅黑" panose="020B0503020204020204" charset="-122"/>
              <a:ea typeface="微软雅黑" panose="020B0503020204020204" charset="-122"/>
              <a:cs typeface="微软雅黑" panose="020B0503020204020204" charset="-122"/>
            </a:endParaRPr>
          </a:p>
        </p:txBody>
      </p:sp>
      <p:pic>
        <p:nvPicPr>
          <p:cNvPr id="872" name="picture 872"/>
          <p:cNvPicPr>
            <a:picLocks noChangeAspect="1"/>
          </p:cNvPicPr>
          <p:nvPr/>
        </p:nvPicPr>
        <p:blipFill>
          <a:blip r:embed="rId4"/>
          <a:stretch>
            <a:fillRect/>
          </a:stretch>
        </p:blipFill>
        <p:spPr>
          <a:xfrm rot="21600000">
            <a:off x="445338" y="5367304"/>
            <a:ext cx="216624" cy="223946"/>
          </a:xfrm>
          <a:prstGeom prst="rect">
            <a:avLst/>
          </a:prstGeom>
        </p:spPr>
      </p:pic>
      <p:pic>
        <p:nvPicPr>
          <p:cNvPr id="874" name="picture 874"/>
          <p:cNvPicPr>
            <a:picLocks noChangeAspect="1"/>
          </p:cNvPicPr>
          <p:nvPr/>
        </p:nvPicPr>
        <p:blipFill>
          <a:blip r:embed="rId5"/>
          <a:stretch>
            <a:fillRect/>
          </a:stretch>
        </p:blipFill>
        <p:spPr>
          <a:xfrm rot="21600000">
            <a:off x="445312" y="4072178"/>
            <a:ext cx="216408" cy="223723"/>
          </a:xfrm>
          <a:prstGeom prst="rect">
            <a:avLst/>
          </a:prstGeom>
        </p:spPr>
      </p:pic>
      <p:sp>
        <p:nvSpPr>
          <p:cNvPr id="876" name="textbox 876"/>
          <p:cNvSpPr/>
          <p:nvPr/>
        </p:nvSpPr>
        <p:spPr>
          <a:xfrm>
            <a:off x="302353" y="317074"/>
            <a:ext cx="450595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4.3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Directory</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System</a:t>
            </a:r>
            <a:endParaRPr sz="2700" dirty="0">
              <a:latin typeface="微软雅黑" panose="020B0503020204020204" charset="-122"/>
              <a:ea typeface="微软雅黑" panose="020B0503020204020204" charset="-122"/>
              <a:cs typeface="微软雅黑" panose="020B0503020204020204" charset="-122"/>
            </a:endParaRPr>
          </a:p>
        </p:txBody>
      </p:sp>
      <p:pic>
        <p:nvPicPr>
          <p:cNvPr id="878" name="picture 878"/>
          <p:cNvPicPr>
            <a:picLocks noChangeAspect="1"/>
          </p:cNvPicPr>
          <p:nvPr/>
        </p:nvPicPr>
        <p:blipFill>
          <a:blip r:embed="rId6"/>
          <a:stretch>
            <a:fillRect/>
          </a:stretch>
        </p:blipFill>
        <p:spPr>
          <a:xfrm rot="21600000">
            <a:off x="11338559" y="18288"/>
            <a:ext cx="720852" cy="719328"/>
          </a:xfrm>
          <a:prstGeom prst="rect">
            <a:avLst/>
          </a:prstGeom>
        </p:spPr>
      </p:pic>
      <p:pic>
        <p:nvPicPr>
          <p:cNvPr id="880" name="picture 880"/>
          <p:cNvPicPr>
            <a:picLocks noChangeAspect="1"/>
          </p:cNvPicPr>
          <p:nvPr/>
        </p:nvPicPr>
        <p:blipFill>
          <a:blip r:embed="rId7"/>
          <a:stretch>
            <a:fillRect/>
          </a:stretch>
        </p:blipFill>
        <p:spPr>
          <a:xfrm rot="21600000">
            <a:off x="155447" y="751332"/>
            <a:ext cx="11881104" cy="19811"/>
          </a:xfrm>
          <a:prstGeom prst="rect">
            <a:avLst/>
          </a:prstGeom>
        </p:spPr>
      </p:pic>
      <p:pic>
        <p:nvPicPr>
          <p:cNvPr id="882" name="picture 882"/>
          <p:cNvPicPr>
            <a:picLocks noChangeAspect="1"/>
          </p:cNvPicPr>
          <p:nvPr/>
        </p:nvPicPr>
        <p:blipFill>
          <a:blip r:embed="rId8"/>
          <a:stretch>
            <a:fillRect/>
          </a:stretch>
        </p:blipFill>
        <p:spPr>
          <a:xfrm rot="21600000">
            <a:off x="161544" y="6461759"/>
            <a:ext cx="11879580" cy="18288"/>
          </a:xfrm>
          <a:prstGeom prst="rect">
            <a:avLst/>
          </a:prstGeom>
        </p:spPr>
      </p:pic>
      <p:sp>
        <p:nvSpPr>
          <p:cNvPr id="884" name="textbox 884"/>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46</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 name="textbox 886"/>
          <p:cNvSpPr/>
          <p:nvPr/>
        </p:nvSpPr>
        <p:spPr>
          <a:xfrm>
            <a:off x="266954" y="992378"/>
            <a:ext cx="5655309" cy="4678679"/>
          </a:xfrm>
          <a:prstGeom prst="roundRect">
            <a:avLst>
              <a:gd name="adj" fmla="val 7481"/>
            </a:avLst>
          </a:prstGeom>
          <a:noFill/>
          <a:ln w="25400" cap="flat">
            <a:solidFill>
              <a:srgbClr val="A5A5A5"/>
            </a:solidFill>
            <a:prstDash val="solid"/>
            <a:miter lim="0"/>
          </a:ln>
        </p:spPr>
        <p:txBody>
          <a:bodyPr vert="horz" wrap="square" lIns="0" tIns="0" rIns="0" bIns="0"/>
          <a:lstStyle/>
          <a:p>
            <a:pPr algn="l" rtl="0" eaLnBrk="0">
              <a:lnSpc>
                <a:spcPct val="137000"/>
              </a:lnSpc>
            </a:pPr>
            <a:endParaRPr sz="1000" dirty="0">
              <a:latin typeface="Arial" panose="020B0604020202020204"/>
              <a:ea typeface="Arial" panose="020B0604020202020204"/>
              <a:cs typeface="Arial" panose="020B0604020202020204"/>
            </a:endParaRPr>
          </a:p>
          <a:p>
            <a:pPr marL="207010" algn="l" rtl="0" eaLnBrk="0">
              <a:lnSpc>
                <a:spcPct val="89000"/>
              </a:lnSpc>
            </a:pPr>
            <a:r>
              <a:rPr sz="2400" b="1" kern="0" spc="-50" dirty="0">
                <a:solidFill>
                  <a:srgbClr val="4472C4">
                    <a:alpha val="100000"/>
                  </a:srgbClr>
                </a:solidFill>
                <a:latin typeface="微软雅黑" panose="020B0503020204020204" charset="-122"/>
                <a:ea typeface="微软雅黑" panose="020B0503020204020204" charset="-122"/>
                <a:cs typeface="微软雅黑" panose="020B0503020204020204" charset="-122"/>
              </a:rPr>
              <a:t>目录系统设计</a:t>
            </a:r>
            <a:endParaRPr sz="2400" dirty="0">
              <a:latin typeface="微软雅黑" panose="020B0503020204020204" charset="-122"/>
              <a:ea typeface="微软雅黑" panose="020B0503020204020204" charset="-122"/>
              <a:cs typeface="微软雅黑" panose="020B0503020204020204" charset="-122"/>
            </a:endParaRPr>
          </a:p>
          <a:p>
            <a:pPr marL="175260" indent="635" algn="l" rtl="0" eaLnBrk="0">
              <a:lnSpc>
                <a:spcPct val="109000"/>
              </a:lnSpc>
              <a:spcBef>
                <a:spcPts val="1050"/>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根据查找和更新不同的性</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能需求和工</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作负载特征，设计了两层的</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目录系统</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a:t>
            </a:r>
            <a:endParaRPr sz="2400" dirty="0">
              <a:latin typeface="微软雅黑" panose="020B0503020204020204" charset="-122"/>
              <a:ea typeface="微软雅黑" panose="020B0503020204020204" charset="-122"/>
              <a:cs typeface="微软雅黑" panose="020B0503020204020204" charset="-122"/>
            </a:endParaRPr>
          </a:p>
          <a:p>
            <a:pPr marL="539750" indent="-342265" algn="l" rtl="0" eaLnBrk="0">
              <a:lnSpc>
                <a:spcPct val="103000"/>
              </a:lnSpc>
              <a:spcBef>
                <a:spcPts val="965"/>
              </a:spcBef>
              <a:tabLst>
                <a:tab pos="41338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中等数量的读优化的</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目录服务器</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(DS)</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，缓存映射，处理请求</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800" dirty="0">
              <a:latin typeface="Arial" panose="020B0604020202020204"/>
              <a:ea typeface="Arial" panose="020B0604020202020204"/>
              <a:cs typeface="Arial" panose="020B0604020202020204"/>
            </a:endParaRPr>
          </a:p>
          <a:p>
            <a:pPr marL="518795" indent="-321310" algn="l" rtl="0" eaLnBrk="0">
              <a:lnSpc>
                <a:spcPct val="107000"/>
              </a:lnSpc>
              <a:spcBef>
                <a:spcPts val="5"/>
              </a:spcBef>
              <a:tabLst>
                <a:tab pos="41338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少量写优化的</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复制状态机(</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RSM)服</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务器</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提供强一致，可靠的AA-&gt;LA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映射</a:t>
            </a:r>
            <a:endParaRPr sz="2400" dirty="0">
              <a:latin typeface="微软雅黑" panose="020B0503020204020204" charset="-122"/>
              <a:ea typeface="微软雅黑" panose="020B0503020204020204" charset="-122"/>
              <a:cs typeface="微软雅黑" panose="020B0503020204020204" charset="-122"/>
            </a:endParaRPr>
          </a:p>
        </p:txBody>
      </p:sp>
      <p:pic>
        <p:nvPicPr>
          <p:cNvPr id="888" name="picture 888"/>
          <p:cNvPicPr>
            <a:picLocks noChangeAspect="1"/>
          </p:cNvPicPr>
          <p:nvPr/>
        </p:nvPicPr>
        <p:blipFill>
          <a:blip r:embed="rId1"/>
          <a:stretch>
            <a:fillRect/>
          </a:stretch>
        </p:blipFill>
        <p:spPr>
          <a:xfrm rot="21600000">
            <a:off x="567232" y="3995978"/>
            <a:ext cx="216408" cy="223723"/>
          </a:xfrm>
          <a:prstGeom prst="rect">
            <a:avLst/>
          </a:prstGeom>
        </p:spPr>
      </p:pic>
      <p:pic>
        <p:nvPicPr>
          <p:cNvPr id="890" name="picture 890"/>
          <p:cNvPicPr>
            <a:picLocks noChangeAspect="1"/>
          </p:cNvPicPr>
          <p:nvPr/>
        </p:nvPicPr>
        <p:blipFill>
          <a:blip r:embed="rId2"/>
          <a:stretch>
            <a:fillRect/>
          </a:stretch>
        </p:blipFill>
        <p:spPr>
          <a:xfrm rot="21600000">
            <a:off x="567232" y="3107105"/>
            <a:ext cx="216408" cy="223723"/>
          </a:xfrm>
          <a:prstGeom prst="rect">
            <a:avLst/>
          </a:prstGeom>
        </p:spPr>
      </p:pic>
      <p:pic>
        <p:nvPicPr>
          <p:cNvPr id="892" name="picture 892"/>
          <p:cNvPicPr>
            <a:picLocks noChangeAspect="1"/>
          </p:cNvPicPr>
          <p:nvPr/>
        </p:nvPicPr>
        <p:blipFill>
          <a:blip r:embed="rId3"/>
          <a:stretch>
            <a:fillRect/>
          </a:stretch>
        </p:blipFill>
        <p:spPr>
          <a:xfrm rot="21600000">
            <a:off x="6079235" y="1391411"/>
            <a:ext cx="6111240" cy="3878579"/>
          </a:xfrm>
          <a:prstGeom prst="rect">
            <a:avLst/>
          </a:prstGeom>
        </p:spPr>
      </p:pic>
      <p:sp>
        <p:nvSpPr>
          <p:cNvPr id="894" name="textbox 894"/>
          <p:cNvSpPr/>
          <p:nvPr/>
        </p:nvSpPr>
        <p:spPr>
          <a:xfrm>
            <a:off x="302353" y="317074"/>
            <a:ext cx="450595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4.3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Directory</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System</a:t>
            </a:r>
            <a:endParaRPr sz="2700" dirty="0">
              <a:latin typeface="微软雅黑" panose="020B0503020204020204" charset="-122"/>
              <a:ea typeface="微软雅黑" panose="020B0503020204020204" charset="-122"/>
              <a:cs typeface="微软雅黑" panose="020B0503020204020204" charset="-122"/>
            </a:endParaRPr>
          </a:p>
        </p:txBody>
      </p:sp>
      <p:pic>
        <p:nvPicPr>
          <p:cNvPr id="896" name="picture 896"/>
          <p:cNvPicPr>
            <a:picLocks noChangeAspect="1"/>
          </p:cNvPicPr>
          <p:nvPr/>
        </p:nvPicPr>
        <p:blipFill>
          <a:blip r:embed="rId4"/>
          <a:stretch>
            <a:fillRect/>
          </a:stretch>
        </p:blipFill>
        <p:spPr>
          <a:xfrm rot="21600000">
            <a:off x="11338559" y="18288"/>
            <a:ext cx="720852" cy="719328"/>
          </a:xfrm>
          <a:prstGeom prst="rect">
            <a:avLst/>
          </a:prstGeom>
        </p:spPr>
      </p:pic>
      <p:pic>
        <p:nvPicPr>
          <p:cNvPr id="898" name="picture 898"/>
          <p:cNvPicPr>
            <a:picLocks noChangeAspect="1"/>
          </p:cNvPicPr>
          <p:nvPr/>
        </p:nvPicPr>
        <p:blipFill>
          <a:blip r:embed="rId5"/>
          <a:stretch>
            <a:fillRect/>
          </a:stretch>
        </p:blipFill>
        <p:spPr>
          <a:xfrm rot="21600000">
            <a:off x="155447" y="751332"/>
            <a:ext cx="11881104" cy="19811"/>
          </a:xfrm>
          <a:prstGeom prst="rect">
            <a:avLst/>
          </a:prstGeom>
        </p:spPr>
      </p:pic>
      <p:pic>
        <p:nvPicPr>
          <p:cNvPr id="900" name="picture 900"/>
          <p:cNvPicPr>
            <a:picLocks noChangeAspect="1"/>
          </p:cNvPicPr>
          <p:nvPr/>
        </p:nvPicPr>
        <p:blipFill>
          <a:blip r:embed="rId6"/>
          <a:stretch>
            <a:fillRect/>
          </a:stretch>
        </p:blipFill>
        <p:spPr>
          <a:xfrm rot="21600000">
            <a:off x="161544" y="6461759"/>
            <a:ext cx="11879580" cy="18288"/>
          </a:xfrm>
          <a:prstGeom prst="rect">
            <a:avLst/>
          </a:prstGeom>
        </p:spPr>
      </p:pic>
      <p:sp>
        <p:nvSpPr>
          <p:cNvPr id="902" name="textbox 902"/>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47</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 name="textbox 904"/>
          <p:cNvSpPr/>
          <p:nvPr/>
        </p:nvSpPr>
        <p:spPr>
          <a:xfrm>
            <a:off x="266954" y="992378"/>
            <a:ext cx="5655309" cy="4678679"/>
          </a:xfrm>
          <a:prstGeom prst="roundRect">
            <a:avLst>
              <a:gd name="adj" fmla="val 7481"/>
            </a:avLst>
          </a:prstGeom>
          <a:noFill/>
          <a:ln w="25400" cap="flat">
            <a:solidFill>
              <a:srgbClr val="A5A5A5"/>
            </a:solidFill>
            <a:prstDash val="solid"/>
            <a:miter lim="0"/>
          </a:ln>
        </p:spPr>
        <p:txBody>
          <a:bodyPr vert="horz" wrap="square" lIns="0" tIns="0" rIns="0" bIns="0"/>
          <a:lstStyle/>
          <a:p>
            <a:pPr algn="l" rtl="0" eaLnBrk="0">
              <a:lnSpc>
                <a:spcPct val="137000"/>
              </a:lnSpc>
            </a:pPr>
            <a:endParaRPr sz="1000" dirty="0">
              <a:latin typeface="Arial" panose="020B0604020202020204"/>
              <a:ea typeface="Arial" panose="020B0604020202020204"/>
              <a:cs typeface="Arial" panose="020B0604020202020204"/>
            </a:endParaRPr>
          </a:p>
          <a:p>
            <a:pPr marL="175895" algn="l" rtl="0" eaLnBrk="0">
              <a:lnSpc>
                <a:spcPct val="89000"/>
              </a:lnSpc>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查询路径</a:t>
            </a:r>
            <a:endParaRPr sz="2400" dirty="0">
              <a:latin typeface="微软雅黑" panose="020B0503020204020204" charset="-122"/>
              <a:ea typeface="微软雅黑" panose="020B0503020204020204" charset="-122"/>
              <a:cs typeface="微软雅黑" panose="020B0503020204020204" charset="-122"/>
            </a:endParaRPr>
          </a:p>
          <a:p>
            <a:pPr marL="520065" indent="-322580" algn="l" rtl="0" eaLnBrk="0">
              <a:lnSpc>
                <a:spcPct val="104000"/>
              </a:lnSpc>
              <a:spcBef>
                <a:spcPts val="1245"/>
              </a:spcBef>
              <a:tabLst>
                <a:tab pos="41338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每个agent向k个随</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机选择的目录</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服务器发送查询请求</a:t>
            </a:r>
            <a:endParaRPr sz="2400" dirty="0">
              <a:latin typeface="微软雅黑" panose="020B0503020204020204" charset="-122"/>
              <a:ea typeface="微软雅黑" panose="020B0503020204020204" charset="-122"/>
              <a:cs typeface="微软雅黑" panose="020B0503020204020204" charset="-122"/>
            </a:endParaRPr>
          </a:p>
          <a:p>
            <a:pPr marL="515620" indent="-318135" algn="l" rtl="0" eaLnBrk="0">
              <a:lnSpc>
                <a:spcPct val="99000"/>
              </a:lnSpc>
              <a:spcBef>
                <a:spcPts val="1035"/>
              </a:spcBef>
              <a:tabLst>
                <a:tab pos="41338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每个目录服务器根据缓</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存独立地回</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应agent的请求</a:t>
            </a:r>
            <a:endParaRPr sz="2400" dirty="0">
              <a:latin typeface="微软雅黑" panose="020B0503020204020204" charset="-122"/>
              <a:ea typeface="微软雅黑" panose="020B0503020204020204" charset="-122"/>
              <a:cs typeface="微软雅黑" panose="020B0503020204020204" charset="-122"/>
            </a:endParaRPr>
          </a:p>
          <a:p>
            <a:pPr marL="520700" indent="-323215" algn="l" rtl="0" eaLnBrk="0">
              <a:lnSpc>
                <a:spcPct val="104000"/>
              </a:lnSpc>
              <a:spcBef>
                <a:spcPts val="1295"/>
              </a:spcBef>
              <a:tabLst>
                <a:tab pos="41338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agent选择最快的回复保存在本地</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缓存</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534670" indent="-337185" algn="l" rtl="0" eaLnBrk="0">
              <a:lnSpc>
                <a:spcPct val="104000"/>
              </a:lnSpc>
              <a:tabLst>
                <a:tab pos="41338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目录服务器定期和RSM</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服务器同步</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映射信息</a:t>
            </a:r>
            <a:endParaRPr sz="2400" dirty="0">
              <a:latin typeface="微软雅黑" panose="020B0503020204020204" charset="-122"/>
              <a:ea typeface="微软雅黑" panose="020B0503020204020204" charset="-122"/>
              <a:cs typeface="微软雅黑" panose="020B0503020204020204" charset="-122"/>
            </a:endParaRPr>
          </a:p>
        </p:txBody>
      </p:sp>
      <p:pic>
        <p:nvPicPr>
          <p:cNvPr id="906" name="picture 906"/>
          <p:cNvPicPr>
            <a:picLocks noChangeAspect="1"/>
          </p:cNvPicPr>
          <p:nvPr/>
        </p:nvPicPr>
        <p:blipFill>
          <a:blip r:embed="rId1"/>
          <a:stretch>
            <a:fillRect/>
          </a:stretch>
        </p:blipFill>
        <p:spPr>
          <a:xfrm rot="21600000">
            <a:off x="567232" y="4479087"/>
            <a:ext cx="216408" cy="223723"/>
          </a:xfrm>
          <a:prstGeom prst="rect">
            <a:avLst/>
          </a:prstGeom>
        </p:spPr>
      </p:pic>
      <p:pic>
        <p:nvPicPr>
          <p:cNvPr id="908" name="picture 908"/>
          <p:cNvPicPr>
            <a:picLocks noChangeAspect="1"/>
          </p:cNvPicPr>
          <p:nvPr/>
        </p:nvPicPr>
        <p:blipFill>
          <a:blip r:embed="rId2"/>
          <a:stretch>
            <a:fillRect/>
          </a:stretch>
        </p:blipFill>
        <p:spPr>
          <a:xfrm rot="21600000">
            <a:off x="567232" y="3588689"/>
            <a:ext cx="216408" cy="223723"/>
          </a:xfrm>
          <a:prstGeom prst="rect">
            <a:avLst/>
          </a:prstGeom>
        </p:spPr>
      </p:pic>
      <p:pic>
        <p:nvPicPr>
          <p:cNvPr id="910" name="picture 910"/>
          <p:cNvPicPr>
            <a:picLocks noChangeAspect="1"/>
          </p:cNvPicPr>
          <p:nvPr/>
        </p:nvPicPr>
        <p:blipFill>
          <a:blip r:embed="rId1"/>
          <a:stretch>
            <a:fillRect/>
          </a:stretch>
        </p:blipFill>
        <p:spPr>
          <a:xfrm rot="21600000">
            <a:off x="567232" y="2700197"/>
            <a:ext cx="216408" cy="223723"/>
          </a:xfrm>
          <a:prstGeom prst="rect">
            <a:avLst/>
          </a:prstGeom>
        </p:spPr>
      </p:pic>
      <p:pic>
        <p:nvPicPr>
          <p:cNvPr id="912" name="picture 912"/>
          <p:cNvPicPr>
            <a:picLocks noChangeAspect="1"/>
          </p:cNvPicPr>
          <p:nvPr/>
        </p:nvPicPr>
        <p:blipFill>
          <a:blip r:embed="rId1"/>
          <a:stretch>
            <a:fillRect/>
          </a:stretch>
        </p:blipFill>
        <p:spPr>
          <a:xfrm rot="21600000">
            <a:off x="567232" y="1811451"/>
            <a:ext cx="216408" cy="223723"/>
          </a:xfrm>
          <a:prstGeom prst="rect">
            <a:avLst/>
          </a:prstGeom>
        </p:spPr>
      </p:pic>
      <p:pic>
        <p:nvPicPr>
          <p:cNvPr id="914" name="picture 914"/>
          <p:cNvPicPr>
            <a:picLocks noChangeAspect="1"/>
          </p:cNvPicPr>
          <p:nvPr/>
        </p:nvPicPr>
        <p:blipFill>
          <a:blip r:embed="rId3"/>
          <a:stretch>
            <a:fillRect/>
          </a:stretch>
        </p:blipFill>
        <p:spPr>
          <a:xfrm rot="21600000">
            <a:off x="6079235" y="1391411"/>
            <a:ext cx="6111240" cy="3878579"/>
          </a:xfrm>
          <a:prstGeom prst="rect">
            <a:avLst/>
          </a:prstGeom>
        </p:spPr>
      </p:pic>
      <p:sp>
        <p:nvSpPr>
          <p:cNvPr id="916" name="textbox 916"/>
          <p:cNvSpPr/>
          <p:nvPr/>
        </p:nvSpPr>
        <p:spPr>
          <a:xfrm>
            <a:off x="302353" y="317074"/>
            <a:ext cx="450595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4.3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Directory</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System</a:t>
            </a:r>
            <a:endParaRPr sz="2700" dirty="0">
              <a:latin typeface="微软雅黑" panose="020B0503020204020204" charset="-122"/>
              <a:ea typeface="微软雅黑" panose="020B0503020204020204" charset="-122"/>
              <a:cs typeface="微软雅黑" panose="020B0503020204020204" charset="-122"/>
            </a:endParaRPr>
          </a:p>
        </p:txBody>
      </p:sp>
      <p:pic>
        <p:nvPicPr>
          <p:cNvPr id="918" name="picture 918"/>
          <p:cNvPicPr>
            <a:picLocks noChangeAspect="1"/>
          </p:cNvPicPr>
          <p:nvPr/>
        </p:nvPicPr>
        <p:blipFill>
          <a:blip r:embed="rId4"/>
          <a:stretch>
            <a:fillRect/>
          </a:stretch>
        </p:blipFill>
        <p:spPr>
          <a:xfrm rot="21600000">
            <a:off x="11338559" y="18288"/>
            <a:ext cx="720852" cy="719328"/>
          </a:xfrm>
          <a:prstGeom prst="rect">
            <a:avLst/>
          </a:prstGeom>
        </p:spPr>
      </p:pic>
      <p:pic>
        <p:nvPicPr>
          <p:cNvPr id="920" name="picture 920"/>
          <p:cNvPicPr>
            <a:picLocks noChangeAspect="1"/>
          </p:cNvPicPr>
          <p:nvPr/>
        </p:nvPicPr>
        <p:blipFill>
          <a:blip r:embed="rId5"/>
          <a:stretch>
            <a:fillRect/>
          </a:stretch>
        </p:blipFill>
        <p:spPr>
          <a:xfrm rot="21600000">
            <a:off x="155447" y="751332"/>
            <a:ext cx="11881104" cy="19811"/>
          </a:xfrm>
          <a:prstGeom prst="rect">
            <a:avLst/>
          </a:prstGeom>
        </p:spPr>
      </p:pic>
      <p:pic>
        <p:nvPicPr>
          <p:cNvPr id="922" name="picture 922"/>
          <p:cNvPicPr>
            <a:picLocks noChangeAspect="1"/>
          </p:cNvPicPr>
          <p:nvPr/>
        </p:nvPicPr>
        <p:blipFill>
          <a:blip r:embed="rId6"/>
          <a:stretch>
            <a:fillRect/>
          </a:stretch>
        </p:blipFill>
        <p:spPr>
          <a:xfrm rot="21600000">
            <a:off x="161544" y="6461759"/>
            <a:ext cx="11879580" cy="18288"/>
          </a:xfrm>
          <a:prstGeom prst="rect">
            <a:avLst/>
          </a:prstGeom>
        </p:spPr>
      </p:pic>
      <p:sp>
        <p:nvSpPr>
          <p:cNvPr id="924" name="textbox 924"/>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48</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 name="textbox 926"/>
          <p:cNvSpPr/>
          <p:nvPr/>
        </p:nvSpPr>
        <p:spPr>
          <a:xfrm>
            <a:off x="266954" y="992378"/>
            <a:ext cx="5655309" cy="5269865"/>
          </a:xfrm>
          <a:prstGeom prst="roundRect">
            <a:avLst>
              <a:gd name="adj" fmla="val 7425"/>
            </a:avLst>
          </a:prstGeom>
          <a:noFill/>
          <a:ln w="25400" cap="flat">
            <a:solidFill>
              <a:srgbClr val="A5A5A5"/>
            </a:solidFill>
            <a:prstDash val="solid"/>
            <a:miter lim="0"/>
          </a:ln>
        </p:spPr>
        <p:txBody>
          <a:bodyPr vert="horz" wrap="square" lIns="0" tIns="0" rIns="0" bIns="0"/>
          <a:lstStyle/>
          <a:p>
            <a:pPr algn="l" rtl="0" eaLnBrk="0">
              <a:lnSpc>
                <a:spcPct val="129000"/>
              </a:lnSpc>
            </a:pPr>
            <a:endParaRPr sz="1000" dirty="0">
              <a:latin typeface="Arial" panose="020B0604020202020204"/>
              <a:ea typeface="Arial" panose="020B0604020202020204"/>
              <a:cs typeface="Arial" panose="020B0604020202020204"/>
            </a:endParaRPr>
          </a:p>
          <a:p>
            <a:pPr marL="164465" algn="l" rtl="0" eaLnBrk="0">
              <a:lnSpc>
                <a:spcPct val="89000"/>
              </a:lnSpc>
              <a:spcBef>
                <a:spcPts val="0"/>
              </a:spcBef>
            </a:pP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更新路径</a:t>
            </a:r>
            <a:endParaRPr sz="2400" dirty="0">
              <a:latin typeface="微软雅黑" panose="020B0503020204020204" charset="-122"/>
              <a:ea typeface="微软雅黑" panose="020B0503020204020204" charset="-122"/>
              <a:cs typeface="微软雅黑" panose="020B0503020204020204" charset="-122"/>
            </a:endParaRPr>
          </a:p>
          <a:p>
            <a:pPr marL="519430" indent="-334010" algn="l" rtl="0" eaLnBrk="0">
              <a:lnSpc>
                <a:spcPct val="104000"/>
              </a:lnSpc>
              <a:spcBef>
                <a:spcPts val="1245"/>
              </a:spcBef>
              <a:tabLst>
                <a:tab pos="4013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网络资源分配系统向</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一个随机选择</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的目录服务器发送目录</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更新</a:t>
            </a:r>
            <a:endParaRPr sz="2400" dirty="0">
              <a:latin typeface="微软雅黑" panose="020B0503020204020204" charset="-122"/>
              <a:ea typeface="微软雅黑" panose="020B0503020204020204" charset="-122"/>
              <a:cs typeface="微软雅黑" panose="020B0503020204020204" charset="-122"/>
            </a:endParaRPr>
          </a:p>
          <a:p>
            <a:pPr marL="508000" indent="-322580" algn="l" rtl="0" eaLnBrk="0">
              <a:lnSpc>
                <a:spcPct val="104000"/>
              </a:lnSpc>
              <a:spcBef>
                <a:spcPts val="1020"/>
              </a:spcBef>
              <a:tabLst>
                <a:tab pos="4013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目录服务器把目录更新转</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发给RSM</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a:t>
            </a:r>
            <a:endParaRPr sz="2400" dirty="0">
              <a:latin typeface="微软雅黑" panose="020B0503020204020204" charset="-122"/>
              <a:ea typeface="微软雅黑" panose="020B0503020204020204" charset="-122"/>
              <a:cs typeface="微软雅黑" panose="020B0503020204020204" charset="-122"/>
            </a:endParaRPr>
          </a:p>
          <a:p>
            <a:pPr marL="506095" indent="-320675" algn="l" rtl="0" eaLnBrk="0">
              <a:lnSpc>
                <a:spcPct val="107000"/>
              </a:lnSpc>
              <a:spcBef>
                <a:spcPts val="960"/>
              </a:spcBef>
              <a:tabLst>
                <a:tab pos="4013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RSM服务器根据Paxos算法可靠地</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和其他RSM服务器复制</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更新，并向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目录服务器发送ACK</a:t>
            </a:r>
            <a:endParaRPr sz="2400" dirty="0">
              <a:latin typeface="微软雅黑" panose="020B0503020204020204" charset="-122"/>
              <a:ea typeface="微软雅黑" panose="020B0503020204020204" charset="-122"/>
              <a:cs typeface="微软雅黑" panose="020B0503020204020204" charset="-122"/>
            </a:endParaRPr>
          </a:p>
          <a:p>
            <a:pPr marL="185420" algn="l" rtl="0" eaLnBrk="0">
              <a:lnSpc>
                <a:spcPct val="89000"/>
              </a:lnSpc>
              <a:spcBef>
                <a:spcPts val="990"/>
              </a:spcBef>
              <a:tabLst>
                <a:tab pos="4013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目录服务器向原客户端发送ACK</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547370" indent="-361950" algn="l" rtl="0" eaLnBrk="0">
              <a:lnSpc>
                <a:spcPct val="104000"/>
              </a:lnSpc>
              <a:tabLst>
                <a:tab pos="40132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如果timeout，客户</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端会向另一个</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目录服务器发送更新请</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求</a:t>
            </a:r>
            <a:endParaRPr sz="2400" dirty="0">
              <a:latin typeface="微软雅黑" panose="020B0503020204020204" charset="-122"/>
              <a:ea typeface="微软雅黑" panose="020B0503020204020204" charset="-122"/>
              <a:cs typeface="微软雅黑" panose="020B0503020204020204" charset="-122"/>
            </a:endParaRPr>
          </a:p>
        </p:txBody>
      </p:sp>
      <p:pic>
        <p:nvPicPr>
          <p:cNvPr id="928" name="picture 928"/>
          <p:cNvPicPr>
            <a:picLocks noChangeAspect="1"/>
          </p:cNvPicPr>
          <p:nvPr/>
        </p:nvPicPr>
        <p:blipFill>
          <a:blip r:embed="rId1"/>
          <a:stretch>
            <a:fillRect/>
          </a:stretch>
        </p:blipFill>
        <p:spPr>
          <a:xfrm rot="21600000">
            <a:off x="567258" y="5367304"/>
            <a:ext cx="216624" cy="223946"/>
          </a:xfrm>
          <a:prstGeom prst="rect">
            <a:avLst/>
          </a:prstGeom>
        </p:spPr>
      </p:pic>
      <p:pic>
        <p:nvPicPr>
          <p:cNvPr id="930" name="picture 930"/>
          <p:cNvPicPr>
            <a:picLocks noChangeAspect="1"/>
          </p:cNvPicPr>
          <p:nvPr/>
        </p:nvPicPr>
        <p:blipFill>
          <a:blip r:embed="rId2"/>
          <a:stretch>
            <a:fillRect/>
          </a:stretch>
        </p:blipFill>
        <p:spPr>
          <a:xfrm rot="21600000">
            <a:off x="567232" y="4884470"/>
            <a:ext cx="216408" cy="223723"/>
          </a:xfrm>
          <a:prstGeom prst="rect">
            <a:avLst/>
          </a:prstGeom>
        </p:spPr>
      </p:pic>
      <p:pic>
        <p:nvPicPr>
          <p:cNvPr id="932" name="picture 932"/>
          <p:cNvPicPr>
            <a:picLocks noChangeAspect="1"/>
          </p:cNvPicPr>
          <p:nvPr/>
        </p:nvPicPr>
        <p:blipFill>
          <a:blip r:embed="rId2"/>
          <a:stretch>
            <a:fillRect/>
          </a:stretch>
        </p:blipFill>
        <p:spPr>
          <a:xfrm rot="21600000">
            <a:off x="567232" y="3588689"/>
            <a:ext cx="216408" cy="223723"/>
          </a:xfrm>
          <a:prstGeom prst="rect">
            <a:avLst/>
          </a:prstGeom>
        </p:spPr>
      </p:pic>
      <p:pic>
        <p:nvPicPr>
          <p:cNvPr id="934" name="picture 934"/>
          <p:cNvPicPr>
            <a:picLocks noChangeAspect="1"/>
          </p:cNvPicPr>
          <p:nvPr/>
        </p:nvPicPr>
        <p:blipFill>
          <a:blip r:embed="rId3"/>
          <a:stretch>
            <a:fillRect/>
          </a:stretch>
        </p:blipFill>
        <p:spPr>
          <a:xfrm rot="21600000">
            <a:off x="567232" y="2700197"/>
            <a:ext cx="216408" cy="223723"/>
          </a:xfrm>
          <a:prstGeom prst="rect">
            <a:avLst/>
          </a:prstGeom>
        </p:spPr>
      </p:pic>
      <p:pic>
        <p:nvPicPr>
          <p:cNvPr id="936" name="picture 936"/>
          <p:cNvPicPr>
            <a:picLocks noChangeAspect="1"/>
          </p:cNvPicPr>
          <p:nvPr/>
        </p:nvPicPr>
        <p:blipFill>
          <a:blip r:embed="rId3"/>
          <a:stretch>
            <a:fillRect/>
          </a:stretch>
        </p:blipFill>
        <p:spPr>
          <a:xfrm rot="21600000">
            <a:off x="567232" y="1811451"/>
            <a:ext cx="216408" cy="223723"/>
          </a:xfrm>
          <a:prstGeom prst="rect">
            <a:avLst/>
          </a:prstGeom>
        </p:spPr>
      </p:pic>
      <p:pic>
        <p:nvPicPr>
          <p:cNvPr id="938" name="picture 938"/>
          <p:cNvPicPr>
            <a:picLocks noChangeAspect="1"/>
          </p:cNvPicPr>
          <p:nvPr/>
        </p:nvPicPr>
        <p:blipFill>
          <a:blip r:embed="rId4"/>
          <a:stretch>
            <a:fillRect/>
          </a:stretch>
        </p:blipFill>
        <p:spPr>
          <a:xfrm rot="21600000">
            <a:off x="6079235" y="1391411"/>
            <a:ext cx="6111240" cy="3878579"/>
          </a:xfrm>
          <a:prstGeom prst="rect">
            <a:avLst/>
          </a:prstGeom>
        </p:spPr>
      </p:pic>
      <p:sp>
        <p:nvSpPr>
          <p:cNvPr id="940" name="textbox 940"/>
          <p:cNvSpPr/>
          <p:nvPr/>
        </p:nvSpPr>
        <p:spPr>
          <a:xfrm>
            <a:off x="302353" y="317074"/>
            <a:ext cx="450595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4.3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Directory</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System</a:t>
            </a:r>
            <a:endParaRPr sz="2700" dirty="0">
              <a:latin typeface="微软雅黑" panose="020B0503020204020204" charset="-122"/>
              <a:ea typeface="微软雅黑" panose="020B0503020204020204" charset="-122"/>
              <a:cs typeface="微软雅黑" panose="020B0503020204020204" charset="-122"/>
            </a:endParaRPr>
          </a:p>
        </p:txBody>
      </p:sp>
      <p:pic>
        <p:nvPicPr>
          <p:cNvPr id="942" name="picture 942"/>
          <p:cNvPicPr>
            <a:picLocks noChangeAspect="1"/>
          </p:cNvPicPr>
          <p:nvPr/>
        </p:nvPicPr>
        <p:blipFill>
          <a:blip r:embed="rId5"/>
          <a:stretch>
            <a:fillRect/>
          </a:stretch>
        </p:blipFill>
        <p:spPr>
          <a:xfrm rot="21600000">
            <a:off x="11338559" y="18288"/>
            <a:ext cx="720852" cy="719328"/>
          </a:xfrm>
          <a:prstGeom prst="rect">
            <a:avLst/>
          </a:prstGeom>
        </p:spPr>
      </p:pic>
      <p:pic>
        <p:nvPicPr>
          <p:cNvPr id="944" name="picture 944"/>
          <p:cNvPicPr>
            <a:picLocks noChangeAspect="1"/>
          </p:cNvPicPr>
          <p:nvPr/>
        </p:nvPicPr>
        <p:blipFill>
          <a:blip r:embed="rId6"/>
          <a:stretch>
            <a:fillRect/>
          </a:stretch>
        </p:blipFill>
        <p:spPr>
          <a:xfrm rot="21600000">
            <a:off x="155447" y="751332"/>
            <a:ext cx="11881104" cy="19811"/>
          </a:xfrm>
          <a:prstGeom prst="rect">
            <a:avLst/>
          </a:prstGeom>
        </p:spPr>
      </p:pic>
      <p:pic>
        <p:nvPicPr>
          <p:cNvPr id="946" name="picture 946"/>
          <p:cNvPicPr>
            <a:picLocks noChangeAspect="1"/>
          </p:cNvPicPr>
          <p:nvPr/>
        </p:nvPicPr>
        <p:blipFill>
          <a:blip r:embed="rId7"/>
          <a:stretch>
            <a:fillRect/>
          </a:stretch>
        </p:blipFill>
        <p:spPr>
          <a:xfrm rot="21600000">
            <a:off x="161544" y="6461759"/>
            <a:ext cx="11879580" cy="18288"/>
          </a:xfrm>
          <a:prstGeom prst="rect">
            <a:avLst/>
          </a:prstGeom>
        </p:spPr>
      </p:pic>
      <p:sp>
        <p:nvSpPr>
          <p:cNvPr id="948" name="textbox 948"/>
          <p:cNvSpPr/>
          <p:nvPr/>
        </p:nvSpPr>
        <p:spPr>
          <a:xfrm>
            <a:off x="11580807" y="6559321"/>
            <a:ext cx="25209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20" dirty="0">
                <a:solidFill>
                  <a:srgbClr val="000000">
                    <a:alpha val="100000"/>
                  </a:srgbClr>
                </a:solidFill>
                <a:latin typeface="Calibri" panose="020F0502020204030204"/>
                <a:ea typeface="Calibri" panose="020F0502020204030204"/>
                <a:cs typeface="Calibri" panose="020F0502020204030204"/>
              </a:rPr>
              <a:t>49</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 name="textbox 950"/>
          <p:cNvSpPr/>
          <p:nvPr/>
        </p:nvSpPr>
        <p:spPr>
          <a:xfrm>
            <a:off x="266954" y="992378"/>
            <a:ext cx="5655309" cy="4425315"/>
          </a:xfrm>
          <a:prstGeom prst="roundRect">
            <a:avLst>
              <a:gd name="adj" fmla="val 7510"/>
            </a:avLst>
          </a:prstGeom>
          <a:noFill/>
          <a:ln w="25400" cap="flat">
            <a:solidFill>
              <a:srgbClr val="A5A5A5"/>
            </a:solidFill>
            <a:prstDash val="solid"/>
            <a:miter lim="0"/>
          </a:ln>
        </p:spPr>
        <p:txBody>
          <a:bodyPr vert="horz" wrap="square" lIns="0" tIns="0" rIns="0" bIns="0"/>
          <a:lstStyle/>
          <a:p>
            <a:pPr algn="l" rtl="0" eaLnBrk="0">
              <a:lnSpc>
                <a:spcPct val="140000"/>
              </a:lnSpc>
            </a:pPr>
            <a:endParaRPr sz="1000" dirty="0">
              <a:latin typeface="Arial" panose="020B0604020202020204"/>
              <a:ea typeface="Arial" panose="020B0604020202020204"/>
              <a:cs typeface="Arial" panose="020B0604020202020204"/>
            </a:endParaRPr>
          </a:p>
          <a:p>
            <a:pPr marL="193040" algn="l" rtl="0" eaLnBrk="0">
              <a:lnSpc>
                <a:spcPct val="89000"/>
              </a:lnSpc>
              <a:spcBef>
                <a:spcPts val="5"/>
              </a:spcBef>
            </a:pPr>
            <a:r>
              <a:rPr sz="24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响应式更新缓存</a:t>
            </a:r>
            <a:endParaRPr sz="2400" dirty="0">
              <a:latin typeface="微软雅黑" panose="020B0503020204020204" charset="-122"/>
              <a:ea typeface="微软雅黑" panose="020B0503020204020204" charset="-122"/>
              <a:cs typeface="微软雅黑" panose="020B0503020204020204" charset="-122"/>
            </a:endParaRPr>
          </a:p>
          <a:p>
            <a:pPr marL="522605" indent="-320040" algn="l" rtl="0" eaLnBrk="0">
              <a:lnSpc>
                <a:spcPct val="107000"/>
              </a:lnSpc>
              <a:spcBef>
                <a:spcPts val="1205"/>
              </a:spcBef>
              <a:tabLst>
                <a:tab pos="4191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由于AA-&gt;LA映射在目录服务器</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VL2 agent中缓存，可能出</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现不一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致的情况</a:t>
            </a:r>
            <a:endParaRPr sz="2400" dirty="0">
              <a:latin typeface="微软雅黑" panose="020B0503020204020204" charset="-122"/>
              <a:ea typeface="微软雅黑" panose="020B0503020204020204" charset="-122"/>
              <a:cs typeface="微软雅黑" panose="020B0503020204020204" charset="-122"/>
            </a:endParaRPr>
          </a:p>
          <a:p>
            <a:pPr marL="524510" indent="-321945" algn="l" rtl="0" eaLnBrk="0">
              <a:lnSpc>
                <a:spcPct val="104000"/>
              </a:lnSpc>
              <a:spcBef>
                <a:spcPts val="1010"/>
              </a:spcBef>
              <a:tabLst>
                <a:tab pos="4191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过时的映射只需要在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下一次使用时</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更新</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sz="800" dirty="0">
              <a:latin typeface="Arial" panose="020B0604020202020204"/>
              <a:ea typeface="Arial" panose="020B0604020202020204"/>
              <a:cs typeface="Arial" panose="020B0604020202020204"/>
            </a:endParaRPr>
          </a:p>
          <a:p>
            <a:pPr marL="522605" indent="-320040" algn="l" rtl="0" eaLnBrk="0">
              <a:lnSpc>
                <a:spcPct val="103000"/>
              </a:lnSpc>
              <a:spcBef>
                <a:spcPts val="0"/>
              </a:spcBef>
              <a:tabLst>
                <a:tab pos="4191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当服务器使用过时映射时，目的</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ToR把不可送达的包发给目录服务</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器，后者会更新agent</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的缓存</a:t>
            </a:r>
            <a:endParaRPr sz="2400" dirty="0">
              <a:latin typeface="微软雅黑" panose="020B0503020204020204" charset="-122"/>
              <a:ea typeface="微软雅黑" panose="020B0503020204020204" charset="-122"/>
              <a:cs typeface="微软雅黑" panose="020B0503020204020204" charset="-122"/>
            </a:endParaRPr>
          </a:p>
        </p:txBody>
      </p:sp>
      <p:pic>
        <p:nvPicPr>
          <p:cNvPr id="952" name="picture 952"/>
          <p:cNvPicPr>
            <a:picLocks noChangeAspect="1"/>
          </p:cNvPicPr>
          <p:nvPr/>
        </p:nvPicPr>
        <p:blipFill>
          <a:blip r:embed="rId1"/>
          <a:stretch>
            <a:fillRect/>
          </a:stretch>
        </p:blipFill>
        <p:spPr>
          <a:xfrm rot="21600000">
            <a:off x="567232" y="3995978"/>
            <a:ext cx="216408" cy="223723"/>
          </a:xfrm>
          <a:prstGeom prst="rect">
            <a:avLst/>
          </a:prstGeom>
        </p:spPr>
      </p:pic>
      <p:pic>
        <p:nvPicPr>
          <p:cNvPr id="954" name="picture 954"/>
          <p:cNvPicPr>
            <a:picLocks noChangeAspect="1"/>
          </p:cNvPicPr>
          <p:nvPr/>
        </p:nvPicPr>
        <p:blipFill>
          <a:blip r:embed="rId2"/>
          <a:stretch>
            <a:fillRect/>
          </a:stretch>
        </p:blipFill>
        <p:spPr>
          <a:xfrm rot="21600000">
            <a:off x="567232" y="3107105"/>
            <a:ext cx="216408" cy="223723"/>
          </a:xfrm>
          <a:prstGeom prst="rect">
            <a:avLst/>
          </a:prstGeom>
        </p:spPr>
      </p:pic>
      <p:pic>
        <p:nvPicPr>
          <p:cNvPr id="956" name="picture 956"/>
          <p:cNvPicPr>
            <a:picLocks noChangeAspect="1"/>
          </p:cNvPicPr>
          <p:nvPr/>
        </p:nvPicPr>
        <p:blipFill>
          <a:blip r:embed="rId2"/>
          <a:stretch>
            <a:fillRect/>
          </a:stretch>
        </p:blipFill>
        <p:spPr>
          <a:xfrm rot="21600000">
            <a:off x="567232" y="1811451"/>
            <a:ext cx="216408" cy="223723"/>
          </a:xfrm>
          <a:prstGeom prst="rect">
            <a:avLst/>
          </a:prstGeom>
        </p:spPr>
      </p:pic>
      <p:pic>
        <p:nvPicPr>
          <p:cNvPr id="958" name="picture 958"/>
          <p:cNvPicPr>
            <a:picLocks noChangeAspect="1"/>
          </p:cNvPicPr>
          <p:nvPr/>
        </p:nvPicPr>
        <p:blipFill>
          <a:blip r:embed="rId3"/>
          <a:stretch>
            <a:fillRect/>
          </a:stretch>
        </p:blipFill>
        <p:spPr>
          <a:xfrm rot="21600000">
            <a:off x="6079235" y="1391411"/>
            <a:ext cx="6111240" cy="3878579"/>
          </a:xfrm>
          <a:prstGeom prst="rect">
            <a:avLst/>
          </a:prstGeom>
        </p:spPr>
      </p:pic>
      <p:sp>
        <p:nvSpPr>
          <p:cNvPr id="960" name="textbox 960"/>
          <p:cNvSpPr/>
          <p:nvPr/>
        </p:nvSpPr>
        <p:spPr>
          <a:xfrm>
            <a:off x="302353" y="317074"/>
            <a:ext cx="450595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4.3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Directory</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System</a:t>
            </a:r>
            <a:endParaRPr sz="2700" dirty="0">
              <a:latin typeface="微软雅黑" panose="020B0503020204020204" charset="-122"/>
              <a:ea typeface="微软雅黑" panose="020B0503020204020204" charset="-122"/>
              <a:cs typeface="微软雅黑" panose="020B0503020204020204" charset="-122"/>
            </a:endParaRPr>
          </a:p>
        </p:txBody>
      </p:sp>
      <p:pic>
        <p:nvPicPr>
          <p:cNvPr id="962" name="picture 962"/>
          <p:cNvPicPr>
            <a:picLocks noChangeAspect="1"/>
          </p:cNvPicPr>
          <p:nvPr/>
        </p:nvPicPr>
        <p:blipFill>
          <a:blip r:embed="rId4"/>
          <a:stretch>
            <a:fillRect/>
          </a:stretch>
        </p:blipFill>
        <p:spPr>
          <a:xfrm rot="21600000">
            <a:off x="11338559" y="18288"/>
            <a:ext cx="720852" cy="719328"/>
          </a:xfrm>
          <a:prstGeom prst="rect">
            <a:avLst/>
          </a:prstGeom>
        </p:spPr>
      </p:pic>
      <p:pic>
        <p:nvPicPr>
          <p:cNvPr id="964" name="picture 964"/>
          <p:cNvPicPr>
            <a:picLocks noChangeAspect="1"/>
          </p:cNvPicPr>
          <p:nvPr/>
        </p:nvPicPr>
        <p:blipFill>
          <a:blip r:embed="rId5"/>
          <a:stretch>
            <a:fillRect/>
          </a:stretch>
        </p:blipFill>
        <p:spPr>
          <a:xfrm rot="21600000">
            <a:off x="155447" y="751332"/>
            <a:ext cx="11881104" cy="19811"/>
          </a:xfrm>
          <a:prstGeom prst="rect">
            <a:avLst/>
          </a:prstGeom>
        </p:spPr>
      </p:pic>
      <p:pic>
        <p:nvPicPr>
          <p:cNvPr id="966" name="picture 966"/>
          <p:cNvPicPr>
            <a:picLocks noChangeAspect="1"/>
          </p:cNvPicPr>
          <p:nvPr/>
        </p:nvPicPr>
        <p:blipFill>
          <a:blip r:embed="rId6"/>
          <a:stretch>
            <a:fillRect/>
          </a:stretch>
        </p:blipFill>
        <p:spPr>
          <a:xfrm rot="21600000">
            <a:off x="161544" y="6461759"/>
            <a:ext cx="11879580" cy="18288"/>
          </a:xfrm>
          <a:prstGeom prst="rect">
            <a:avLst/>
          </a:prstGeom>
        </p:spPr>
      </p:pic>
      <p:sp>
        <p:nvSpPr>
          <p:cNvPr id="968" name="textbox 968"/>
          <p:cNvSpPr/>
          <p:nvPr/>
        </p:nvSpPr>
        <p:spPr>
          <a:xfrm>
            <a:off x="11586758"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50</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 name="rect 970"/>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972" name="textbox 972"/>
          <p:cNvSpPr/>
          <p:nvPr/>
        </p:nvSpPr>
        <p:spPr>
          <a:xfrm>
            <a:off x="2935602" y="1210310"/>
            <a:ext cx="6261100" cy="389699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2316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4472C4">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5"/>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974" name="picture 974"/>
          <p:cNvPicPr>
            <a:picLocks noChangeAspect="1"/>
          </p:cNvPicPr>
          <p:nvPr/>
        </p:nvPicPr>
        <p:blipFill>
          <a:blip r:embed="rId1"/>
          <a:stretch>
            <a:fillRect/>
          </a:stretch>
        </p:blipFill>
        <p:spPr>
          <a:xfrm rot="21600000">
            <a:off x="0" y="0"/>
            <a:ext cx="12192000" cy="288035"/>
          </a:xfrm>
          <a:prstGeom prst="rect">
            <a:avLst/>
          </a:prstGeom>
        </p:spPr>
      </p:pic>
      <p:pic>
        <p:nvPicPr>
          <p:cNvPr id="976" name="picture 976"/>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8" name="picture 978"/>
          <p:cNvPicPr>
            <a:picLocks noChangeAspect="1"/>
          </p:cNvPicPr>
          <p:nvPr/>
        </p:nvPicPr>
        <p:blipFill>
          <a:blip r:embed="rId1"/>
          <a:stretch>
            <a:fillRect/>
          </a:stretch>
        </p:blipFill>
        <p:spPr>
          <a:xfrm rot="21600000">
            <a:off x="11338559" y="18288"/>
            <a:ext cx="720852" cy="719328"/>
          </a:xfrm>
          <a:prstGeom prst="rect">
            <a:avLst/>
          </a:prstGeom>
        </p:spPr>
      </p:pic>
      <p:pic>
        <p:nvPicPr>
          <p:cNvPr id="980" name="picture 980"/>
          <p:cNvPicPr>
            <a:picLocks noChangeAspect="1"/>
          </p:cNvPicPr>
          <p:nvPr/>
        </p:nvPicPr>
        <p:blipFill>
          <a:blip r:embed="rId2"/>
          <a:stretch>
            <a:fillRect/>
          </a:stretch>
        </p:blipFill>
        <p:spPr>
          <a:xfrm rot="21600000">
            <a:off x="155447" y="751332"/>
            <a:ext cx="11881104" cy="19811"/>
          </a:xfrm>
          <a:prstGeom prst="rect">
            <a:avLst/>
          </a:prstGeom>
        </p:spPr>
      </p:pic>
      <p:pic>
        <p:nvPicPr>
          <p:cNvPr id="982" name="picture 982"/>
          <p:cNvPicPr>
            <a:picLocks noChangeAspect="1"/>
          </p:cNvPicPr>
          <p:nvPr/>
        </p:nvPicPr>
        <p:blipFill>
          <a:blip r:embed="rId3"/>
          <a:stretch>
            <a:fillRect/>
          </a:stretch>
        </p:blipFill>
        <p:spPr>
          <a:xfrm rot="21600000">
            <a:off x="5780532" y="605028"/>
            <a:ext cx="6411467" cy="4535423"/>
          </a:xfrm>
          <a:prstGeom prst="rect">
            <a:avLst/>
          </a:prstGeom>
        </p:spPr>
      </p:pic>
      <p:sp>
        <p:nvSpPr>
          <p:cNvPr id="984" name="textbox 984"/>
          <p:cNvSpPr/>
          <p:nvPr/>
        </p:nvSpPr>
        <p:spPr>
          <a:xfrm>
            <a:off x="219709" y="923797"/>
            <a:ext cx="5480050" cy="3849370"/>
          </a:xfrm>
          <a:prstGeom prst="roundRect">
            <a:avLst>
              <a:gd name="adj" fmla="val 7591"/>
            </a:avLst>
          </a:prstGeom>
          <a:noFill/>
          <a:ln w="25400" cap="flat">
            <a:solidFill>
              <a:srgbClr val="A5A5A5"/>
            </a:solidFill>
            <a:prstDash val="solid"/>
            <a:miter lim="0"/>
          </a:ln>
        </p:spPr>
        <p:txBody>
          <a:bodyPr vert="horz" wrap="square" lIns="0" tIns="0" rIns="0" bIns="0"/>
          <a:lstStyle/>
          <a:p>
            <a:pPr algn="l" rtl="0" eaLnBrk="0">
              <a:lnSpc>
                <a:spcPct val="116000"/>
              </a:lnSpc>
            </a:pPr>
            <a:endParaRPr sz="600" dirty="0">
              <a:latin typeface="Arial" panose="020B0604020202020204"/>
              <a:ea typeface="Arial" panose="020B0604020202020204"/>
              <a:cs typeface="Arial" panose="020B0604020202020204"/>
            </a:endParaRPr>
          </a:p>
          <a:p>
            <a:pPr marL="444500" indent="-323850" algn="l" rtl="0" eaLnBrk="0">
              <a:lnSpc>
                <a:spcPct val="118000"/>
              </a:lnSpc>
              <a:spcBef>
                <a:spcPts val="5"/>
              </a:spcBef>
              <a:tabLst>
                <a:tab pos="3365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在80台服务器，</a:t>
            </a:r>
            <a:r>
              <a:rPr sz="2400" kern="0" spc="-4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10太商用交换机的</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testbed进行实验</a:t>
            </a:r>
            <a:endParaRPr sz="2400" dirty="0">
              <a:latin typeface="微软雅黑" panose="020B0503020204020204" charset="-122"/>
              <a:ea typeface="微软雅黑" panose="020B0503020204020204" charset="-122"/>
              <a:cs typeface="微软雅黑" panose="020B0503020204020204" charset="-122"/>
            </a:endParaRPr>
          </a:p>
          <a:p>
            <a:pPr marL="441325" indent="-320675" algn="l" rtl="0" eaLnBrk="0">
              <a:lnSpc>
                <a:spcPct val="124000"/>
              </a:lnSpc>
              <a:spcBef>
                <a:spcPts val="1210"/>
              </a:spcBef>
              <a:tabLst>
                <a:tab pos="3365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Clos架构：</a:t>
            </a:r>
            <a:r>
              <a:rPr sz="2400" kern="0" spc="-5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3个核心交换机(启用3端</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口)，</a:t>
            </a:r>
            <a:r>
              <a:rPr sz="2400" kern="0" spc="-5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3个汇聚交换机(启用6端口)</a:t>
            </a:r>
            <a:r>
              <a:rPr sz="2400"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个ToR交换机(2路上行</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5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20路下行)</a:t>
            </a:r>
            <a:endParaRPr sz="2400" dirty="0">
              <a:latin typeface="微软雅黑" panose="020B0503020204020204" charset="-122"/>
              <a:ea typeface="微软雅黑" panose="020B0503020204020204" charset="-122"/>
              <a:cs typeface="微软雅黑" panose="020B0503020204020204" charset="-122"/>
            </a:endParaRPr>
          </a:p>
          <a:p>
            <a:pPr marL="120650" algn="l" rtl="0" eaLnBrk="0">
              <a:lnSpc>
                <a:spcPct val="100000"/>
              </a:lnSpc>
              <a:spcBef>
                <a:spcPts val="1280"/>
              </a:spcBef>
              <a:tabLst>
                <a:tab pos="3365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交换机-交换机带宽：</a:t>
            </a:r>
            <a:r>
              <a:rPr sz="2400" kern="0" spc="-4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10Gb</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ps</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900" dirty="0">
              <a:latin typeface="Arial" panose="020B0604020202020204"/>
              <a:ea typeface="Arial" panose="020B0604020202020204"/>
              <a:cs typeface="Arial" panose="020B0604020202020204"/>
            </a:endParaRPr>
          </a:p>
          <a:p>
            <a:pPr marL="120650" algn="l" rtl="0" eaLnBrk="0">
              <a:lnSpc>
                <a:spcPct val="100000"/>
              </a:lnSpc>
              <a:spcBef>
                <a:spcPts val="5"/>
              </a:spcBef>
              <a:tabLst>
                <a:tab pos="3365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服务器-交换机带宽：</a:t>
            </a:r>
            <a:r>
              <a:rPr sz="2400" kern="0" spc="-4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1Gb</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ps</a:t>
            </a:r>
            <a:endParaRPr sz="2400" dirty="0">
              <a:latin typeface="微软雅黑" panose="020B0503020204020204" charset="-122"/>
              <a:ea typeface="微软雅黑" panose="020B0503020204020204" charset="-122"/>
              <a:cs typeface="微软雅黑" panose="020B0503020204020204" charset="-122"/>
            </a:endParaRPr>
          </a:p>
        </p:txBody>
      </p:sp>
      <p:pic>
        <p:nvPicPr>
          <p:cNvPr id="986" name="picture 986"/>
          <p:cNvPicPr>
            <a:picLocks noChangeAspect="1"/>
          </p:cNvPicPr>
          <p:nvPr/>
        </p:nvPicPr>
        <p:blipFill>
          <a:blip r:embed="rId4"/>
          <a:stretch>
            <a:fillRect/>
          </a:stretch>
        </p:blipFill>
        <p:spPr>
          <a:xfrm rot="21600000">
            <a:off x="426440" y="4188032"/>
            <a:ext cx="216624" cy="223946"/>
          </a:xfrm>
          <a:prstGeom prst="rect">
            <a:avLst/>
          </a:prstGeom>
        </p:spPr>
      </p:pic>
      <p:pic>
        <p:nvPicPr>
          <p:cNvPr id="988" name="picture 988"/>
          <p:cNvPicPr>
            <a:picLocks noChangeAspect="1"/>
          </p:cNvPicPr>
          <p:nvPr/>
        </p:nvPicPr>
        <p:blipFill>
          <a:blip r:embed="rId5"/>
          <a:stretch>
            <a:fillRect/>
          </a:stretch>
        </p:blipFill>
        <p:spPr>
          <a:xfrm rot="21600000">
            <a:off x="426415" y="3680764"/>
            <a:ext cx="216407" cy="223723"/>
          </a:xfrm>
          <a:prstGeom prst="rect">
            <a:avLst/>
          </a:prstGeom>
        </p:spPr>
      </p:pic>
      <p:pic>
        <p:nvPicPr>
          <p:cNvPr id="990" name="picture 990"/>
          <p:cNvPicPr>
            <a:picLocks noChangeAspect="1"/>
          </p:cNvPicPr>
          <p:nvPr/>
        </p:nvPicPr>
        <p:blipFill>
          <a:blip r:embed="rId5"/>
          <a:stretch>
            <a:fillRect/>
          </a:stretch>
        </p:blipFill>
        <p:spPr>
          <a:xfrm rot="21600000">
            <a:off x="426415" y="2156511"/>
            <a:ext cx="216407" cy="223723"/>
          </a:xfrm>
          <a:prstGeom prst="rect">
            <a:avLst/>
          </a:prstGeom>
        </p:spPr>
      </p:pic>
      <p:pic>
        <p:nvPicPr>
          <p:cNvPr id="992" name="picture 992"/>
          <p:cNvPicPr>
            <a:picLocks noChangeAspect="1"/>
          </p:cNvPicPr>
          <p:nvPr/>
        </p:nvPicPr>
        <p:blipFill>
          <a:blip r:embed="rId4"/>
          <a:stretch>
            <a:fillRect/>
          </a:stretch>
        </p:blipFill>
        <p:spPr>
          <a:xfrm rot="21600000">
            <a:off x="426440" y="1139398"/>
            <a:ext cx="216624" cy="223946"/>
          </a:xfrm>
          <a:prstGeom prst="rect">
            <a:avLst/>
          </a:prstGeom>
        </p:spPr>
      </p:pic>
      <p:sp>
        <p:nvSpPr>
          <p:cNvPr id="994" name="textbox 994"/>
          <p:cNvSpPr/>
          <p:nvPr/>
        </p:nvSpPr>
        <p:spPr>
          <a:xfrm>
            <a:off x="326499" y="317074"/>
            <a:ext cx="2184400"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5</a:t>
            </a:r>
            <a:r>
              <a:rPr sz="2700" b="1" kern="0" spc="27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p:txBody>
      </p:sp>
      <p:pic>
        <p:nvPicPr>
          <p:cNvPr id="996" name="picture 996"/>
          <p:cNvPicPr>
            <a:picLocks noChangeAspect="1"/>
          </p:cNvPicPr>
          <p:nvPr/>
        </p:nvPicPr>
        <p:blipFill>
          <a:blip r:embed="rId6"/>
          <a:stretch>
            <a:fillRect/>
          </a:stretch>
        </p:blipFill>
        <p:spPr>
          <a:xfrm rot="21600000">
            <a:off x="161544" y="6461759"/>
            <a:ext cx="11879580" cy="18288"/>
          </a:xfrm>
          <a:prstGeom prst="rect">
            <a:avLst/>
          </a:prstGeom>
        </p:spPr>
      </p:pic>
      <p:sp>
        <p:nvSpPr>
          <p:cNvPr id="998" name="textbox 998"/>
          <p:cNvSpPr/>
          <p:nvPr/>
        </p:nvSpPr>
        <p:spPr>
          <a:xfrm>
            <a:off x="11586758"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52</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extbox 1000"/>
          <p:cNvSpPr/>
          <p:nvPr/>
        </p:nvSpPr>
        <p:spPr>
          <a:xfrm>
            <a:off x="219709" y="923797"/>
            <a:ext cx="11551919" cy="3654425"/>
          </a:xfrm>
          <a:prstGeom prst="roundRect">
            <a:avLst>
              <a:gd name="adj" fmla="val 7622"/>
            </a:avLst>
          </a:prstGeom>
          <a:noFill/>
          <a:ln w="25400" cap="flat">
            <a:solidFill>
              <a:srgbClr val="A5A5A5"/>
            </a:solidFill>
            <a:prstDash val="solid"/>
            <a:miter lim="0"/>
          </a:ln>
        </p:spPr>
        <p:txBody>
          <a:bodyPr vert="horz" wrap="square" lIns="0" tIns="0" rIns="0" bIns="0"/>
          <a:lstStyle/>
          <a:p>
            <a:pPr algn="l" rtl="0" eaLnBrk="0">
              <a:lnSpc>
                <a:spcPct val="101000"/>
              </a:lnSpc>
            </a:pPr>
            <a:endParaRPr sz="7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59105" indent="-334010" algn="l" rtl="0" eaLnBrk="0">
              <a:lnSpc>
                <a:spcPct val="118000"/>
              </a:lnSpc>
              <a:tabLst>
                <a:tab pos="34099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为了测量server-server通信的带宽，作者利用75台服务器进行all</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-to-all data</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shuffle。每台</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服务器向其他74台服务器各发送500MB数据</a:t>
            </a:r>
            <a:endParaRPr sz="2400" dirty="0">
              <a:latin typeface="微软雅黑" panose="020B0503020204020204" charset="-122"/>
              <a:ea typeface="微软雅黑" panose="020B0503020204020204" charset="-122"/>
              <a:cs typeface="微软雅黑" panose="020B0503020204020204" charset="-122"/>
            </a:endParaRPr>
          </a:p>
          <a:p>
            <a:pPr marL="125095" algn="l" rtl="0" eaLnBrk="0">
              <a:lnSpc>
                <a:spcPct val="89000"/>
              </a:lnSpc>
              <a:spcBef>
                <a:spcPts val="1215"/>
              </a:spcBef>
              <a:tabLst>
                <a:tab pos="34099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VL2完成shuffle的时间：</a:t>
            </a:r>
            <a:r>
              <a:rPr sz="2400" kern="0" spc="-5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95s</a:t>
            </a:r>
            <a:endParaRPr sz="2400" dirty="0">
              <a:latin typeface="微软雅黑" panose="020B0503020204020204" charset="-122"/>
              <a:ea typeface="微软雅黑" panose="020B0503020204020204" charset="-122"/>
              <a:cs typeface="微软雅黑" panose="020B0503020204020204" charset="-122"/>
            </a:endParaRPr>
          </a:p>
          <a:p>
            <a:pPr marL="125095" algn="l" rtl="0" eaLnBrk="0">
              <a:lnSpc>
                <a:spcPct val="89000"/>
              </a:lnSpc>
              <a:spcBef>
                <a:spcPts val="1435"/>
              </a:spcBef>
              <a:tabLst>
                <a:tab pos="34099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链路利用率：</a:t>
            </a:r>
            <a:r>
              <a:rPr sz="2400" kern="0" spc="-6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86%</a:t>
            </a:r>
            <a:endParaRPr sz="2400" dirty="0">
              <a:latin typeface="微软雅黑" panose="020B0503020204020204" charset="-122"/>
              <a:ea typeface="微软雅黑" panose="020B0503020204020204" charset="-122"/>
              <a:cs typeface="微软雅黑" panose="020B0503020204020204" charset="-122"/>
            </a:endParaRPr>
          </a:p>
          <a:p>
            <a:pPr marL="125095" algn="l" rtl="0" eaLnBrk="0">
              <a:lnSpc>
                <a:spcPct val="100000"/>
              </a:lnSpc>
              <a:spcBef>
                <a:spcPts val="1435"/>
              </a:spcBef>
              <a:tabLst>
                <a:tab pos="34099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实验的大部分时候，VL2能达到58.8Gbp</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s的汇聚goodput</a:t>
            </a:r>
            <a:endParaRPr sz="2400" dirty="0">
              <a:latin typeface="微软雅黑" panose="020B0503020204020204" charset="-122"/>
              <a:ea typeface="微软雅黑" panose="020B0503020204020204" charset="-122"/>
              <a:cs typeface="微软雅黑" panose="020B0503020204020204" charset="-122"/>
            </a:endParaRPr>
          </a:p>
          <a:p>
            <a:pPr marL="125095" algn="l" rtl="0" eaLnBrk="0">
              <a:lnSpc>
                <a:spcPts val="4075"/>
              </a:lnSpc>
              <a:spcBef>
                <a:spcPts val="625"/>
              </a:spcBef>
              <a:tabLst>
                <a:tab pos="34099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流的公平性指数：0.995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kern="0" spc="-50" baseline="-17000" dirty="0">
                <a:solidFill>
                  <a:srgbClr val="FF0000">
                    <a:alpha val="100000"/>
                  </a:srgbClr>
                </a:solidFill>
                <a:latin typeface="微软雅黑" panose="020B0503020204020204" charset="-122"/>
                <a:ea typeface="微软雅黑" panose="020B0503020204020204" charset="-122"/>
                <a:cs typeface="微软雅黑" panose="020B0503020204020204" charset="-122"/>
              </a:rPr>
              <a:t>I</a:t>
            </a:r>
            <a:r>
              <a:rPr sz="1700" kern="0" spc="-50" dirty="0">
                <a:solidFill>
                  <a:srgbClr val="FF0000">
                    <a:alpha val="100000"/>
                  </a:srgbClr>
                </a:solidFill>
                <a:latin typeface="微软雅黑" panose="020B0503020204020204" charset="-122"/>
                <a:ea typeface="微软雅黑" panose="020B0503020204020204" charset="-122"/>
                <a:cs typeface="微软雅黑" panose="020B0503020204020204" charset="-122"/>
              </a:rPr>
              <a:t>                                     </a:t>
            </a:r>
            <a:r>
              <a:rPr sz="2700" kern="0" spc="-50" baseline="-17000" dirty="0">
                <a:solidFill>
                  <a:srgbClr val="FF0000">
                    <a:alpha val="100000"/>
                  </a:srgbClr>
                </a:solidFill>
                <a:latin typeface="微软雅黑" panose="020B0503020204020204" charset="-122"/>
                <a:ea typeface="微软雅黑" panose="020B0503020204020204" charset="-122"/>
                <a:cs typeface="微软雅黑" panose="020B0503020204020204" charset="-122"/>
              </a:rPr>
              <a:t>大</a:t>
            </a:r>
            <a:r>
              <a:rPr sz="2700" kern="0" spc="-50" baseline="66000" dirty="0">
                <a:solidFill>
                  <a:srgbClr val="FF0000">
                    <a:alpha val="100000"/>
                  </a:srgbClr>
                </a:solidFill>
                <a:latin typeface="微软雅黑" panose="020B0503020204020204" charset="-122"/>
                <a:ea typeface="微软雅黑" panose="020B0503020204020204" charset="-122"/>
                <a:cs typeface="微软雅黑" panose="020B0503020204020204" charset="-122"/>
              </a:rPr>
              <a:t>，而是</a:t>
            </a:r>
            <a:endParaRPr sz="2700" baseline="66000" dirty="0">
              <a:latin typeface="微软雅黑" panose="020B0503020204020204" charset="-122"/>
              <a:ea typeface="微软雅黑" panose="020B0503020204020204" charset="-122"/>
              <a:cs typeface="微软雅黑" panose="020B0503020204020204" charset="-122"/>
            </a:endParaRPr>
          </a:p>
          <a:p>
            <a:pPr marL="125095" algn="l" rtl="0" eaLnBrk="0">
              <a:lnSpc>
                <a:spcPct val="100000"/>
              </a:lnSpc>
              <a:spcBef>
                <a:spcPts val="235"/>
              </a:spcBef>
              <a:tabLst>
                <a:tab pos="340995" algn="l"/>
              </a:tabLst>
            </a:pPr>
            <a:r>
              <a:rPr sz="23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600" kern="0" spc="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rPr>
              <a:t>VL</a:t>
            </a:r>
            <a:r>
              <a:rPr sz="3600" kern="0" spc="5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sz="2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600" kern="0" spc="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rPr>
              <a:t>goodput</a:t>
            </a:r>
            <a:r>
              <a:rPr sz="3600" kern="0" spc="5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rPr>
              <a:t>效率</a:t>
            </a:r>
            <a:r>
              <a:rPr sz="3600" kern="0" spc="50" baseline="-4000" dirty="0">
                <a:solidFill>
                  <a:srgbClr val="FF0000">
                    <a:alpha val="100000"/>
                  </a:srgbClr>
                </a:solidFill>
                <a:latin typeface="微软雅黑" panose="020B0503020204020204" charset="-122"/>
                <a:ea typeface="微软雅黑" panose="020B0503020204020204" charset="-122"/>
                <a:cs typeface="微软雅黑" panose="020B0503020204020204" charset="-122"/>
              </a:rPr>
              <a:t>*</a:t>
            </a:r>
            <a:r>
              <a:rPr sz="3600" kern="0" spc="5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5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600" kern="0" spc="5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rPr>
              <a:t>94%</a:t>
            </a:r>
            <a:r>
              <a:rPr sz="2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kern="0" spc="0" baseline="17000" dirty="0">
                <a:solidFill>
                  <a:srgbClr val="FF0000">
                    <a:alpha val="100000"/>
                  </a:srgbClr>
                </a:solidFill>
                <a:latin typeface="微软雅黑" panose="020B0503020204020204" charset="-122"/>
                <a:ea typeface="微软雅黑" panose="020B0503020204020204" charset="-122"/>
                <a:cs typeface="微软雅黑" panose="020B0503020204020204" charset="-122"/>
              </a:rPr>
              <a:t>goodput</a:t>
            </a:r>
            <a:r>
              <a:rPr sz="2700" kern="0" spc="40" baseline="17000" dirty="0">
                <a:solidFill>
                  <a:srgbClr val="FF0000">
                    <a:alpha val="100000"/>
                  </a:srgbClr>
                </a:solidFill>
                <a:latin typeface="微软雅黑" panose="020B0503020204020204" charset="-122"/>
                <a:ea typeface="微软雅黑" panose="020B0503020204020204" charset="-122"/>
                <a:cs typeface="微软雅黑" panose="020B0503020204020204" charset="-122"/>
              </a:rPr>
              <a:t>传输速率</a:t>
            </a:r>
            <a:endParaRPr sz="2700" baseline="17000" dirty="0">
              <a:latin typeface="微软雅黑" panose="020B0503020204020204" charset="-122"/>
              <a:ea typeface="微软雅黑" panose="020B0503020204020204" charset="-122"/>
              <a:cs typeface="微软雅黑" panose="020B0503020204020204" charset="-122"/>
            </a:endParaRPr>
          </a:p>
        </p:txBody>
      </p:sp>
      <p:pic>
        <p:nvPicPr>
          <p:cNvPr id="1002" name="picture 1002"/>
          <p:cNvPicPr>
            <a:picLocks noChangeAspect="1"/>
          </p:cNvPicPr>
          <p:nvPr/>
        </p:nvPicPr>
        <p:blipFill>
          <a:blip r:embed="rId1"/>
          <a:stretch>
            <a:fillRect/>
          </a:stretch>
        </p:blipFill>
        <p:spPr>
          <a:xfrm rot="21600000">
            <a:off x="426440" y="4188032"/>
            <a:ext cx="216624" cy="223946"/>
          </a:xfrm>
          <a:prstGeom prst="rect">
            <a:avLst/>
          </a:prstGeom>
        </p:spPr>
      </p:pic>
      <p:pic>
        <p:nvPicPr>
          <p:cNvPr id="1004" name="picture 1004"/>
          <p:cNvPicPr>
            <a:picLocks noChangeAspect="1"/>
          </p:cNvPicPr>
          <p:nvPr/>
        </p:nvPicPr>
        <p:blipFill>
          <a:blip r:embed="rId2"/>
          <a:stretch>
            <a:fillRect/>
          </a:stretch>
        </p:blipFill>
        <p:spPr>
          <a:xfrm rot="21600000">
            <a:off x="426415" y="3680764"/>
            <a:ext cx="216407" cy="223723"/>
          </a:xfrm>
          <a:prstGeom prst="rect">
            <a:avLst/>
          </a:prstGeom>
        </p:spPr>
      </p:pic>
      <p:sp>
        <p:nvSpPr>
          <p:cNvPr id="1006" name="textbox 1006"/>
          <p:cNvSpPr/>
          <p:nvPr/>
        </p:nvSpPr>
        <p:spPr>
          <a:xfrm>
            <a:off x="9724771" y="3853739"/>
            <a:ext cx="250825"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最</a:t>
            </a:r>
            <a:endParaRPr sz="1800" dirty="0">
              <a:latin typeface="微软雅黑" panose="020B0503020204020204" charset="-122"/>
              <a:ea typeface="微软雅黑" panose="020B0503020204020204" charset="-122"/>
              <a:cs typeface="微软雅黑" panose="020B0503020204020204" charset="-122"/>
            </a:endParaRPr>
          </a:p>
        </p:txBody>
      </p:sp>
      <p:sp>
        <p:nvSpPr>
          <p:cNvPr id="1008" name="textbox 1008"/>
          <p:cNvSpPr/>
          <p:nvPr/>
        </p:nvSpPr>
        <p:spPr>
          <a:xfrm>
            <a:off x="9674183" y="3579418"/>
            <a:ext cx="251459"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和</a:t>
            </a:r>
            <a:endParaRPr sz="1800" dirty="0">
              <a:latin typeface="微软雅黑" panose="020B0503020204020204" charset="-122"/>
              <a:ea typeface="微软雅黑" panose="020B0503020204020204" charset="-122"/>
              <a:cs typeface="微软雅黑" panose="020B0503020204020204" charset="-122"/>
            </a:endParaRPr>
          </a:p>
        </p:txBody>
      </p:sp>
      <p:sp>
        <p:nvSpPr>
          <p:cNvPr id="1010" name="textbox 1010"/>
          <p:cNvSpPr/>
          <p:nvPr/>
        </p:nvSpPr>
        <p:spPr>
          <a:xfrm>
            <a:off x="9505543" y="3853739"/>
            <a:ext cx="241300"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algn="r" rtl="0" eaLnBrk="0">
              <a:lnSpc>
                <a:spcPct val="89000"/>
              </a:lnSpc>
            </a:pPr>
            <a:r>
              <a:rPr sz="1800" kern="0" spc="-120" dirty="0">
                <a:solidFill>
                  <a:srgbClr val="FF0000">
                    <a:alpha val="100000"/>
                  </a:srgbClr>
                </a:solidFill>
                <a:latin typeface="微软雅黑" panose="020B0503020204020204" charset="-122"/>
                <a:ea typeface="微软雅黑" panose="020B0503020204020204" charset="-122"/>
                <a:cs typeface="微软雅黑" panose="020B0503020204020204" charset="-122"/>
              </a:rPr>
              <a:t>的</a:t>
            </a:r>
            <a:endParaRPr sz="1800" dirty="0">
              <a:latin typeface="微软雅黑" panose="020B0503020204020204" charset="-122"/>
              <a:ea typeface="微软雅黑" panose="020B0503020204020204" charset="-122"/>
              <a:cs typeface="微软雅黑" panose="020B0503020204020204" charset="-122"/>
            </a:endParaRPr>
          </a:p>
        </p:txBody>
      </p:sp>
      <p:sp>
        <p:nvSpPr>
          <p:cNvPr id="1012" name="textbox 1012"/>
          <p:cNvSpPr/>
          <p:nvPr/>
        </p:nvSpPr>
        <p:spPr>
          <a:xfrm>
            <a:off x="9454956" y="3571418"/>
            <a:ext cx="252729" cy="26479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之</a:t>
            </a:r>
            <a:endParaRPr sz="1800" dirty="0">
              <a:latin typeface="微软雅黑" panose="020B0503020204020204" charset="-122"/>
              <a:ea typeface="微软雅黑" panose="020B0503020204020204" charset="-122"/>
              <a:cs typeface="微软雅黑" panose="020B0503020204020204" charset="-122"/>
            </a:endParaRPr>
          </a:p>
        </p:txBody>
      </p:sp>
      <p:sp>
        <p:nvSpPr>
          <p:cNvPr id="1014" name="textbox 1014"/>
          <p:cNvSpPr/>
          <p:nvPr/>
        </p:nvSpPr>
        <p:spPr>
          <a:xfrm>
            <a:off x="9267342" y="3853739"/>
            <a:ext cx="250825"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达</a:t>
            </a:r>
            <a:endParaRPr sz="1800" dirty="0">
              <a:latin typeface="微软雅黑" panose="020B0503020204020204" charset="-122"/>
              <a:ea typeface="微软雅黑" panose="020B0503020204020204" charset="-122"/>
              <a:cs typeface="微软雅黑" panose="020B0503020204020204" charset="-122"/>
            </a:endParaRPr>
          </a:p>
        </p:txBody>
      </p:sp>
      <p:sp>
        <p:nvSpPr>
          <p:cNvPr id="1016" name="textbox 1016"/>
          <p:cNvSpPr/>
          <p:nvPr/>
        </p:nvSpPr>
        <p:spPr>
          <a:xfrm>
            <a:off x="9216755" y="3579418"/>
            <a:ext cx="249554"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宽</a:t>
            </a:r>
            <a:endParaRPr sz="1800" dirty="0">
              <a:latin typeface="微软雅黑" panose="020B0503020204020204" charset="-122"/>
              <a:ea typeface="微软雅黑" panose="020B0503020204020204" charset="-122"/>
              <a:cs typeface="微软雅黑" panose="020B0503020204020204" charset="-122"/>
            </a:endParaRPr>
          </a:p>
        </p:txBody>
      </p:sp>
      <p:sp>
        <p:nvSpPr>
          <p:cNvPr id="1018" name="textbox 1018"/>
          <p:cNvSpPr/>
          <p:nvPr/>
        </p:nvSpPr>
        <p:spPr>
          <a:xfrm>
            <a:off x="9039885" y="3853739"/>
            <a:ext cx="250190"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可</a:t>
            </a:r>
            <a:endParaRPr sz="1800" dirty="0">
              <a:latin typeface="微软雅黑" panose="020B0503020204020204" charset="-122"/>
              <a:ea typeface="微软雅黑" panose="020B0503020204020204" charset="-122"/>
              <a:cs typeface="微软雅黑" panose="020B0503020204020204" charset="-122"/>
            </a:endParaRPr>
          </a:p>
        </p:txBody>
      </p:sp>
      <p:sp>
        <p:nvSpPr>
          <p:cNvPr id="1020" name="textbox 1020"/>
          <p:cNvSpPr/>
          <p:nvPr/>
        </p:nvSpPr>
        <p:spPr>
          <a:xfrm>
            <a:off x="8989297" y="3579418"/>
            <a:ext cx="249554"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带</a:t>
            </a:r>
            <a:endParaRPr sz="1800" dirty="0">
              <a:latin typeface="微软雅黑" panose="020B0503020204020204" charset="-122"/>
              <a:ea typeface="微软雅黑" panose="020B0503020204020204" charset="-122"/>
              <a:cs typeface="微软雅黑" panose="020B0503020204020204" charset="-122"/>
            </a:endParaRPr>
          </a:p>
        </p:txBody>
      </p:sp>
      <p:sp>
        <p:nvSpPr>
          <p:cNvPr id="1022" name="textbox 1022"/>
          <p:cNvSpPr/>
          <p:nvPr/>
        </p:nvSpPr>
        <p:spPr>
          <a:xfrm>
            <a:off x="8820429" y="3853739"/>
            <a:ext cx="240665"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algn="r" rtl="0" eaLnBrk="0">
              <a:lnSpc>
                <a:spcPct val="89000"/>
              </a:lnSpc>
            </a:pPr>
            <a:r>
              <a:rPr sz="1800" kern="0" spc="-120" dirty="0">
                <a:solidFill>
                  <a:srgbClr val="FF0000">
                    <a:alpha val="100000"/>
                  </a:srgbClr>
                </a:solidFill>
                <a:latin typeface="微软雅黑" panose="020B0503020204020204" charset="-122"/>
                <a:ea typeface="微软雅黑" panose="020B0503020204020204" charset="-122"/>
                <a:cs typeface="微软雅黑" panose="020B0503020204020204" charset="-122"/>
              </a:rPr>
              <a:t>际</a:t>
            </a:r>
            <a:endParaRPr sz="1800" dirty="0">
              <a:latin typeface="微软雅黑" panose="020B0503020204020204" charset="-122"/>
              <a:ea typeface="微软雅黑" panose="020B0503020204020204" charset="-122"/>
              <a:cs typeface="微软雅黑" panose="020B0503020204020204" charset="-122"/>
            </a:endParaRPr>
          </a:p>
        </p:txBody>
      </p:sp>
      <p:sp>
        <p:nvSpPr>
          <p:cNvPr id="1024" name="textbox 1024"/>
          <p:cNvSpPr/>
          <p:nvPr/>
        </p:nvSpPr>
        <p:spPr>
          <a:xfrm>
            <a:off x="8769842" y="3579418"/>
            <a:ext cx="241300"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algn="r" rtl="0" eaLnBrk="0">
              <a:lnSpc>
                <a:spcPct val="89000"/>
              </a:lnSpc>
            </a:pPr>
            <a:r>
              <a:rPr sz="1800" kern="0" spc="-120" dirty="0">
                <a:solidFill>
                  <a:srgbClr val="FF0000">
                    <a:alpha val="100000"/>
                  </a:srgbClr>
                </a:solidFill>
                <a:latin typeface="微软雅黑" panose="020B0503020204020204" charset="-122"/>
                <a:ea typeface="微软雅黑" panose="020B0503020204020204" charset="-122"/>
                <a:cs typeface="微软雅黑" panose="020B0503020204020204" charset="-122"/>
              </a:rPr>
              <a:t>的</a:t>
            </a:r>
            <a:endParaRPr sz="1800" dirty="0">
              <a:latin typeface="微软雅黑" panose="020B0503020204020204" charset="-122"/>
              <a:ea typeface="微软雅黑" panose="020B0503020204020204" charset="-122"/>
              <a:cs typeface="微软雅黑" panose="020B0503020204020204" charset="-122"/>
            </a:endParaRPr>
          </a:p>
        </p:txBody>
      </p:sp>
      <p:sp>
        <p:nvSpPr>
          <p:cNvPr id="1026" name="textbox 1026"/>
          <p:cNvSpPr/>
          <p:nvPr/>
        </p:nvSpPr>
        <p:spPr>
          <a:xfrm>
            <a:off x="8582456" y="3853739"/>
            <a:ext cx="250190"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实</a:t>
            </a:r>
            <a:endParaRPr sz="1800" dirty="0">
              <a:latin typeface="微软雅黑" panose="020B0503020204020204" charset="-122"/>
              <a:ea typeface="微软雅黑" panose="020B0503020204020204" charset="-122"/>
              <a:cs typeface="微软雅黑" panose="020B0503020204020204" charset="-122"/>
            </a:endParaRPr>
          </a:p>
        </p:txBody>
      </p:sp>
      <p:sp>
        <p:nvSpPr>
          <p:cNvPr id="1028" name="textbox 1028"/>
          <p:cNvSpPr/>
          <p:nvPr/>
        </p:nvSpPr>
        <p:spPr>
          <a:xfrm>
            <a:off x="8531869" y="3595192"/>
            <a:ext cx="229234" cy="226695"/>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algn="r" rtl="0" eaLnBrk="0">
              <a:lnSpc>
                <a:spcPct val="78000"/>
              </a:lnSpc>
            </a:pPr>
            <a:r>
              <a:rPr sz="1700" kern="0" spc="-110" dirty="0">
                <a:solidFill>
                  <a:srgbClr val="FF0000">
                    <a:alpha val="100000"/>
                  </a:srgbClr>
                </a:solidFill>
                <a:latin typeface="微软雅黑" panose="020B0503020204020204" charset="-122"/>
                <a:ea typeface="微软雅黑" panose="020B0503020204020204" charset="-122"/>
                <a:cs typeface="微软雅黑" panose="020B0503020204020204" charset="-122"/>
              </a:rPr>
              <a:t>口</a:t>
            </a:r>
            <a:endParaRPr sz="1700" dirty="0">
              <a:latin typeface="微软雅黑" panose="020B0503020204020204" charset="-122"/>
              <a:ea typeface="微软雅黑" panose="020B0503020204020204" charset="-122"/>
              <a:cs typeface="微软雅黑" panose="020B0503020204020204" charset="-122"/>
            </a:endParaRPr>
          </a:p>
        </p:txBody>
      </p:sp>
      <p:sp>
        <p:nvSpPr>
          <p:cNvPr id="1030" name="textbox 1030"/>
          <p:cNvSpPr/>
          <p:nvPr/>
        </p:nvSpPr>
        <p:spPr>
          <a:xfrm>
            <a:off x="8351570" y="3853739"/>
            <a:ext cx="252729"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后</a:t>
            </a:r>
            <a:endParaRPr sz="1800" dirty="0">
              <a:latin typeface="微软雅黑" panose="020B0503020204020204" charset="-122"/>
              <a:ea typeface="微软雅黑" panose="020B0503020204020204" charset="-122"/>
              <a:cs typeface="微软雅黑" panose="020B0503020204020204" charset="-122"/>
            </a:endParaRPr>
          </a:p>
        </p:txBody>
      </p:sp>
      <p:sp>
        <p:nvSpPr>
          <p:cNvPr id="1032" name="textbox 1032"/>
          <p:cNvSpPr/>
          <p:nvPr/>
        </p:nvSpPr>
        <p:spPr>
          <a:xfrm>
            <a:off x="8300983" y="3579418"/>
            <a:ext cx="250825"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接</a:t>
            </a:r>
            <a:endParaRPr sz="1800" dirty="0">
              <a:latin typeface="微软雅黑" panose="020B0503020204020204" charset="-122"/>
              <a:ea typeface="微软雅黑" panose="020B0503020204020204" charset="-122"/>
              <a:cs typeface="微软雅黑" panose="020B0503020204020204" charset="-122"/>
            </a:endParaRPr>
          </a:p>
        </p:txBody>
      </p:sp>
      <p:sp>
        <p:nvSpPr>
          <p:cNvPr id="1034" name="textbox 1034"/>
          <p:cNvSpPr/>
          <p:nvPr/>
        </p:nvSpPr>
        <p:spPr>
          <a:xfrm>
            <a:off x="8125485" y="3853739"/>
            <a:ext cx="250190"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头</a:t>
            </a:r>
            <a:endParaRPr sz="1800" dirty="0">
              <a:latin typeface="微软雅黑" panose="020B0503020204020204" charset="-122"/>
              <a:ea typeface="微软雅黑" panose="020B0503020204020204" charset="-122"/>
              <a:cs typeface="微软雅黑" panose="020B0503020204020204" charset="-122"/>
            </a:endParaRPr>
          </a:p>
        </p:txBody>
      </p:sp>
      <p:sp>
        <p:nvSpPr>
          <p:cNvPr id="1036" name="textbox 1036"/>
          <p:cNvSpPr/>
          <p:nvPr/>
        </p:nvSpPr>
        <p:spPr>
          <a:xfrm>
            <a:off x="8074897" y="3579418"/>
            <a:ext cx="248920"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络</a:t>
            </a:r>
            <a:endParaRPr sz="1800" dirty="0">
              <a:latin typeface="微软雅黑" panose="020B0503020204020204" charset="-122"/>
              <a:ea typeface="微软雅黑" panose="020B0503020204020204" charset="-122"/>
              <a:cs typeface="微软雅黑" panose="020B0503020204020204" charset="-122"/>
            </a:endParaRPr>
          </a:p>
        </p:txBody>
      </p:sp>
      <p:sp>
        <p:nvSpPr>
          <p:cNvPr id="1038" name="textbox 1038"/>
          <p:cNvSpPr/>
          <p:nvPr/>
        </p:nvSpPr>
        <p:spPr>
          <a:xfrm>
            <a:off x="7894828" y="3845966"/>
            <a:ext cx="252095" cy="26415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87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包</a:t>
            </a:r>
            <a:endParaRPr sz="1800" dirty="0">
              <a:latin typeface="微软雅黑" panose="020B0503020204020204" charset="-122"/>
              <a:ea typeface="微软雅黑" panose="020B0503020204020204" charset="-122"/>
              <a:cs typeface="微软雅黑" panose="020B0503020204020204" charset="-122"/>
            </a:endParaRPr>
          </a:p>
        </p:txBody>
      </p:sp>
      <p:sp>
        <p:nvSpPr>
          <p:cNvPr id="1040" name="textbox 1040"/>
          <p:cNvSpPr/>
          <p:nvPr/>
        </p:nvSpPr>
        <p:spPr>
          <a:xfrm>
            <a:off x="7844240" y="3579418"/>
            <a:ext cx="235584"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algn="r" rtl="0" eaLnBrk="0">
              <a:lnSpc>
                <a:spcPct val="89000"/>
              </a:lnSpc>
            </a:pPr>
            <a:r>
              <a:rPr sz="1800" kern="0" spc="-160" dirty="0">
                <a:solidFill>
                  <a:srgbClr val="FF0000">
                    <a:alpha val="100000"/>
                  </a:srgbClr>
                </a:solidFill>
                <a:latin typeface="微软雅黑" panose="020B0503020204020204" charset="-122"/>
                <a:ea typeface="微软雅黑" panose="020B0503020204020204" charset="-122"/>
                <a:cs typeface="微软雅黑" panose="020B0503020204020204" charset="-122"/>
              </a:rPr>
              <a:t>网</a:t>
            </a:r>
            <a:endParaRPr sz="1800" dirty="0">
              <a:latin typeface="微软雅黑" panose="020B0503020204020204" charset="-122"/>
              <a:ea typeface="微软雅黑" panose="020B0503020204020204" charset="-122"/>
              <a:cs typeface="微软雅黑" panose="020B0503020204020204" charset="-122"/>
            </a:endParaRPr>
          </a:p>
        </p:txBody>
      </p:sp>
      <p:sp>
        <p:nvSpPr>
          <p:cNvPr id="1042" name="textbox 1042"/>
          <p:cNvSpPr/>
          <p:nvPr/>
        </p:nvSpPr>
        <p:spPr>
          <a:xfrm>
            <a:off x="7774813" y="3866540"/>
            <a:ext cx="143510" cy="219709"/>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algn="r" rtl="0" eaLnBrk="0">
              <a:lnSpc>
                <a:spcPct val="80000"/>
              </a:lnSpc>
            </a:pPr>
            <a:r>
              <a:rPr sz="1600" kern="0" spc="-70" dirty="0">
                <a:solidFill>
                  <a:srgbClr val="FF0000">
                    <a:alpha val="100000"/>
                  </a:srgbClr>
                </a:solidFill>
                <a:latin typeface="微软雅黑" panose="020B0503020204020204" charset="-122"/>
                <a:ea typeface="微软雅黑" panose="020B0503020204020204" charset="-122"/>
                <a:cs typeface="微软雅黑" panose="020B0503020204020204" charset="-122"/>
              </a:rPr>
              <a:t>P</a:t>
            </a:r>
            <a:endParaRPr sz="1600" dirty="0">
              <a:latin typeface="微软雅黑" panose="020B0503020204020204" charset="-122"/>
              <a:ea typeface="微软雅黑" panose="020B0503020204020204" charset="-122"/>
              <a:cs typeface="微软雅黑" panose="020B0503020204020204" charset="-122"/>
            </a:endParaRPr>
          </a:p>
        </p:txBody>
      </p:sp>
      <p:sp>
        <p:nvSpPr>
          <p:cNvPr id="1044" name="textbox 1044"/>
          <p:cNvSpPr/>
          <p:nvPr/>
        </p:nvSpPr>
        <p:spPr>
          <a:xfrm>
            <a:off x="7671393" y="3579418"/>
            <a:ext cx="252729"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是</a:t>
            </a:r>
            <a:endParaRPr sz="1800" dirty="0">
              <a:latin typeface="微软雅黑" panose="020B0503020204020204" charset="-122"/>
              <a:ea typeface="微软雅黑" panose="020B0503020204020204" charset="-122"/>
              <a:cs typeface="微软雅黑" panose="020B0503020204020204" charset="-122"/>
            </a:endParaRPr>
          </a:p>
        </p:txBody>
      </p:sp>
      <p:sp>
        <p:nvSpPr>
          <p:cNvPr id="1046" name="textbox 1046"/>
          <p:cNvSpPr/>
          <p:nvPr/>
        </p:nvSpPr>
        <p:spPr>
          <a:xfrm>
            <a:off x="6220231" y="3853739"/>
            <a:ext cx="1492885"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动问题和以太/</a:t>
            </a:r>
            <a:endParaRPr sz="1800" dirty="0">
              <a:latin typeface="微软雅黑" panose="020B0503020204020204" charset="-122"/>
              <a:ea typeface="微软雅黑" panose="020B0503020204020204" charset="-122"/>
              <a:cs typeface="微软雅黑" panose="020B0503020204020204" charset="-122"/>
            </a:endParaRPr>
          </a:p>
        </p:txBody>
      </p:sp>
      <p:sp>
        <p:nvSpPr>
          <p:cNvPr id="1048" name="textbox 1048"/>
          <p:cNvSpPr/>
          <p:nvPr/>
        </p:nvSpPr>
        <p:spPr>
          <a:xfrm>
            <a:off x="6173807" y="3579418"/>
            <a:ext cx="1478914"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t效率的分母不</a:t>
            </a:r>
            <a:endParaRPr sz="1800" dirty="0">
              <a:latin typeface="微软雅黑" panose="020B0503020204020204" charset="-122"/>
              <a:ea typeface="微软雅黑" panose="020B0503020204020204" charset="-122"/>
              <a:cs typeface="微软雅黑" panose="020B0503020204020204" charset="-122"/>
            </a:endParaRPr>
          </a:p>
        </p:txBody>
      </p:sp>
      <p:sp>
        <p:nvSpPr>
          <p:cNvPr id="1050" name="textbox 1050"/>
          <p:cNvSpPr/>
          <p:nvPr/>
        </p:nvSpPr>
        <p:spPr>
          <a:xfrm>
            <a:off x="5304002" y="3853739"/>
            <a:ext cx="937894" cy="2692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9000"/>
              </a:lnSpc>
            </a:pPr>
            <a:r>
              <a:rPr sz="18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考虑了驱</a:t>
            </a:r>
            <a:endParaRPr sz="1800" dirty="0">
              <a:latin typeface="微软雅黑" panose="020B0503020204020204" charset="-122"/>
              <a:ea typeface="微软雅黑" panose="020B0503020204020204" charset="-122"/>
              <a:cs typeface="微软雅黑" panose="020B0503020204020204" charset="-122"/>
            </a:endParaRPr>
          </a:p>
        </p:txBody>
      </p:sp>
      <p:sp>
        <p:nvSpPr>
          <p:cNvPr id="1052" name="textbox 1052"/>
          <p:cNvSpPr/>
          <p:nvPr/>
        </p:nvSpPr>
        <p:spPr>
          <a:xfrm>
            <a:off x="5257578" y="3579418"/>
            <a:ext cx="977264" cy="29908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800" kern="0" spc="-30" dirty="0">
                <a:solidFill>
                  <a:srgbClr val="FF0000">
                    <a:alpha val="100000"/>
                  </a:srgbClr>
                </a:solidFill>
                <a:latin typeface="微软雅黑" panose="020B0503020204020204" charset="-122"/>
                <a:ea typeface="微软雅黑" panose="020B0503020204020204" charset="-122"/>
                <a:cs typeface="微软雅黑" panose="020B0503020204020204" charset="-122"/>
              </a:rPr>
              <a:t>*goodpu</a:t>
            </a:r>
            <a:endParaRPr sz="1800" dirty="0">
              <a:latin typeface="微软雅黑" panose="020B0503020204020204" charset="-122"/>
              <a:ea typeface="微软雅黑" panose="020B0503020204020204" charset="-122"/>
              <a:cs typeface="微软雅黑" panose="020B0503020204020204" charset="-122"/>
            </a:endParaRPr>
          </a:p>
        </p:txBody>
      </p:sp>
      <p:pic>
        <p:nvPicPr>
          <p:cNvPr id="1054" name="picture 1054"/>
          <p:cNvPicPr>
            <a:picLocks noChangeAspect="1"/>
          </p:cNvPicPr>
          <p:nvPr/>
        </p:nvPicPr>
        <p:blipFill>
          <a:blip r:embed="rId3"/>
          <a:stretch>
            <a:fillRect/>
          </a:stretch>
        </p:blipFill>
        <p:spPr>
          <a:xfrm rot="21600000">
            <a:off x="426415" y="3171748"/>
            <a:ext cx="216407" cy="223723"/>
          </a:xfrm>
          <a:prstGeom prst="rect">
            <a:avLst/>
          </a:prstGeom>
        </p:spPr>
      </p:pic>
      <p:pic>
        <p:nvPicPr>
          <p:cNvPr id="1056" name="picture 1056"/>
          <p:cNvPicPr>
            <a:picLocks noChangeAspect="1"/>
          </p:cNvPicPr>
          <p:nvPr/>
        </p:nvPicPr>
        <p:blipFill>
          <a:blip r:embed="rId1"/>
          <a:stretch>
            <a:fillRect/>
          </a:stretch>
        </p:blipFill>
        <p:spPr>
          <a:xfrm rot="21600000">
            <a:off x="426440" y="2663779"/>
            <a:ext cx="216624" cy="223946"/>
          </a:xfrm>
          <a:prstGeom prst="rect">
            <a:avLst/>
          </a:prstGeom>
        </p:spPr>
      </p:pic>
      <p:pic>
        <p:nvPicPr>
          <p:cNvPr id="1058" name="picture 1058"/>
          <p:cNvPicPr>
            <a:picLocks noChangeAspect="1"/>
          </p:cNvPicPr>
          <p:nvPr/>
        </p:nvPicPr>
        <p:blipFill>
          <a:blip r:embed="rId2"/>
          <a:stretch>
            <a:fillRect/>
          </a:stretch>
        </p:blipFill>
        <p:spPr>
          <a:xfrm rot="21600000">
            <a:off x="426415" y="2156511"/>
            <a:ext cx="216407" cy="223723"/>
          </a:xfrm>
          <a:prstGeom prst="rect">
            <a:avLst/>
          </a:prstGeom>
        </p:spPr>
      </p:pic>
      <p:pic>
        <p:nvPicPr>
          <p:cNvPr id="1060" name="picture 1060"/>
          <p:cNvPicPr>
            <a:picLocks noChangeAspect="1"/>
          </p:cNvPicPr>
          <p:nvPr/>
        </p:nvPicPr>
        <p:blipFill>
          <a:blip r:embed="rId1"/>
          <a:stretch>
            <a:fillRect/>
          </a:stretch>
        </p:blipFill>
        <p:spPr>
          <a:xfrm rot="21600000">
            <a:off x="426440" y="1139398"/>
            <a:ext cx="216624" cy="223946"/>
          </a:xfrm>
          <a:prstGeom prst="rect">
            <a:avLst/>
          </a:prstGeom>
        </p:spPr>
      </p:pic>
      <p:sp>
        <p:nvSpPr>
          <p:cNvPr id="1062" name="textbox 1062"/>
          <p:cNvSpPr/>
          <p:nvPr/>
        </p:nvSpPr>
        <p:spPr>
          <a:xfrm>
            <a:off x="11586758"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53</a:t>
            </a:r>
            <a:endParaRPr sz="1800" dirty="0">
              <a:latin typeface="Calibri" panose="020F0502020204030204"/>
              <a:ea typeface="Calibri" panose="020F0502020204030204"/>
              <a:cs typeface="Calibri" panose="020F0502020204030204"/>
            </a:endParaRPr>
          </a:p>
        </p:txBody>
      </p:sp>
      <p:pic>
        <p:nvPicPr>
          <p:cNvPr id="1064" name="picture 1064"/>
          <p:cNvPicPr>
            <a:picLocks noChangeAspect="1"/>
          </p:cNvPicPr>
          <p:nvPr/>
        </p:nvPicPr>
        <p:blipFill>
          <a:blip r:embed="rId4"/>
          <a:stretch>
            <a:fillRect/>
          </a:stretch>
        </p:blipFill>
        <p:spPr>
          <a:xfrm rot="21600000">
            <a:off x="161544" y="6461759"/>
            <a:ext cx="11879580" cy="18288"/>
          </a:xfrm>
          <a:prstGeom prst="rect">
            <a:avLst/>
          </a:prstGeom>
        </p:spPr>
      </p:pic>
      <p:pic>
        <p:nvPicPr>
          <p:cNvPr id="1066" name="picture 1066"/>
          <p:cNvPicPr>
            <a:picLocks noChangeAspect="1"/>
          </p:cNvPicPr>
          <p:nvPr/>
        </p:nvPicPr>
        <p:blipFill>
          <a:blip r:embed="rId5"/>
          <a:stretch>
            <a:fillRect/>
          </a:stretch>
        </p:blipFill>
        <p:spPr>
          <a:xfrm rot="21600000">
            <a:off x="6577584" y="4434839"/>
            <a:ext cx="5614415" cy="2423159"/>
          </a:xfrm>
          <a:prstGeom prst="rect">
            <a:avLst/>
          </a:prstGeom>
        </p:spPr>
      </p:pic>
      <p:sp>
        <p:nvSpPr>
          <p:cNvPr id="1068" name="textbox 1068"/>
          <p:cNvSpPr/>
          <p:nvPr/>
        </p:nvSpPr>
        <p:spPr>
          <a:xfrm>
            <a:off x="391464" y="4965344"/>
            <a:ext cx="6121400" cy="857885"/>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21590" algn="l" rtl="0" eaLnBrk="0">
              <a:lnSpc>
                <a:spcPct val="89000"/>
              </a:lnSpc>
            </a:pPr>
            <a:r>
              <a:rPr sz="24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94%的goodp</a:t>
            </a:r>
            <a:r>
              <a:rPr sz="24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ut效率和0.995的公平性指数</a:t>
            </a:r>
            <a:endParaRPr sz="2400" dirty="0">
              <a:latin typeface="微软雅黑" panose="020B0503020204020204" charset="-122"/>
              <a:ea typeface="微软雅黑" panose="020B0503020204020204" charset="-122"/>
              <a:cs typeface="微软雅黑" panose="020B0503020204020204" charset="-122"/>
            </a:endParaRPr>
          </a:p>
          <a:p>
            <a:pPr marL="12700" algn="l" rtl="0" eaLnBrk="0">
              <a:lnSpc>
                <a:spcPts val="3995"/>
              </a:lnSpc>
            </a:pPr>
            <a:r>
              <a:rPr sz="2400" b="1" kern="0" spc="-60" dirty="0">
                <a:solidFill>
                  <a:srgbClr val="4472C4">
                    <a:alpha val="100000"/>
                  </a:srgbClr>
                </a:solidFill>
                <a:latin typeface="微软雅黑" panose="020B0503020204020204" charset="-122"/>
                <a:ea typeface="微软雅黑" panose="020B0503020204020204" charset="-122"/>
                <a:cs typeface="微软雅黑" panose="020B0503020204020204" charset="-122"/>
              </a:rPr>
              <a:t>表明VL2可以为DCN服务器提供统一高带宽。</a:t>
            </a:r>
            <a:endParaRPr sz="2400" dirty="0">
              <a:latin typeface="微软雅黑" panose="020B0503020204020204" charset="-122"/>
              <a:ea typeface="微软雅黑" panose="020B0503020204020204" charset="-122"/>
              <a:cs typeface="微软雅黑" panose="020B0503020204020204" charset="-122"/>
            </a:endParaRPr>
          </a:p>
        </p:txBody>
      </p:sp>
      <p:sp>
        <p:nvSpPr>
          <p:cNvPr id="1070" name="textbox 1070"/>
          <p:cNvSpPr/>
          <p:nvPr/>
        </p:nvSpPr>
        <p:spPr>
          <a:xfrm>
            <a:off x="326499" y="317074"/>
            <a:ext cx="7153909"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30" dirty="0">
                <a:solidFill>
                  <a:srgbClr val="F26849">
                    <a:alpha val="100000"/>
                  </a:srgbClr>
                </a:solidFill>
                <a:latin typeface="微软雅黑" panose="020B0503020204020204" charset="-122"/>
                <a:ea typeface="微软雅黑" panose="020B0503020204020204" charset="-122"/>
                <a:cs typeface="微软雅黑" panose="020B0503020204020204" charset="-122"/>
              </a:rPr>
              <a:t>5.1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3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0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Provides</a:t>
            </a:r>
            <a:r>
              <a:rPr sz="2700" b="1" kern="0" spc="27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Uniform</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High</a:t>
            </a:r>
            <a:r>
              <a:rPr sz="2700" b="1" kern="0" spc="13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Capacity</a:t>
            </a:r>
            <a:endParaRPr sz="2700" dirty="0">
              <a:latin typeface="微软雅黑" panose="020B0503020204020204" charset="-122"/>
              <a:ea typeface="微软雅黑" panose="020B0503020204020204" charset="-122"/>
              <a:cs typeface="微软雅黑" panose="020B0503020204020204" charset="-122"/>
            </a:endParaRPr>
          </a:p>
        </p:txBody>
      </p:sp>
      <p:pic>
        <p:nvPicPr>
          <p:cNvPr id="1072" name="picture 1072"/>
          <p:cNvPicPr>
            <a:picLocks noChangeAspect="1"/>
          </p:cNvPicPr>
          <p:nvPr/>
        </p:nvPicPr>
        <p:blipFill>
          <a:blip r:embed="rId6"/>
          <a:stretch>
            <a:fillRect/>
          </a:stretch>
        </p:blipFill>
        <p:spPr>
          <a:xfrm rot="21600000">
            <a:off x="11338559" y="18288"/>
            <a:ext cx="720852" cy="719328"/>
          </a:xfrm>
          <a:prstGeom prst="rect">
            <a:avLst/>
          </a:prstGeom>
        </p:spPr>
      </p:pic>
      <p:pic>
        <p:nvPicPr>
          <p:cNvPr id="1074" name="picture 1074"/>
          <p:cNvPicPr>
            <a:picLocks noChangeAspect="1"/>
          </p:cNvPicPr>
          <p:nvPr/>
        </p:nvPicPr>
        <p:blipFill>
          <a:blip r:embed="rId7"/>
          <a:stretch>
            <a:fillRect/>
          </a:stretch>
        </p:blipFill>
        <p:spPr>
          <a:xfrm rot="21600000">
            <a:off x="155447" y="751332"/>
            <a:ext cx="11881104" cy="19811"/>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 name="textbox 1076"/>
          <p:cNvSpPr/>
          <p:nvPr/>
        </p:nvSpPr>
        <p:spPr>
          <a:xfrm>
            <a:off x="219709" y="923797"/>
            <a:ext cx="11551919" cy="5291454"/>
          </a:xfrm>
          <a:prstGeom prst="roundRect">
            <a:avLst>
              <a:gd name="adj" fmla="val 7424"/>
            </a:avLst>
          </a:prstGeom>
          <a:noFill/>
          <a:ln w="25400" cap="flat">
            <a:solidFill>
              <a:srgbClr val="A5A5A5"/>
            </a:solidFill>
            <a:prstDash val="solid"/>
            <a:miter lim="0"/>
          </a:ln>
        </p:spPr>
        <p:txBody>
          <a:bodyPr vert="horz" wrap="square" lIns="0" tIns="0" rIns="0" bIns="0"/>
          <a:lstStyle/>
          <a:p>
            <a:pPr algn="l" rtl="0" eaLnBrk="0">
              <a:lnSpc>
                <a:spcPct val="101000"/>
              </a:lnSpc>
            </a:pPr>
            <a:endParaRPr sz="500" dirty="0">
              <a:latin typeface="Arial" panose="020B0604020202020204"/>
              <a:ea typeface="Arial" panose="020B0604020202020204"/>
              <a:cs typeface="Arial" panose="020B0604020202020204"/>
            </a:endParaRPr>
          </a:p>
          <a:p>
            <a:pPr marL="413385" indent="-321945" algn="l" rtl="0" eaLnBrk="0">
              <a:lnSpc>
                <a:spcPct val="118000"/>
              </a:lnSpc>
              <a:spcBef>
                <a:spcPts val="5"/>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测量原因：</a:t>
            </a:r>
            <a:r>
              <a:rPr sz="2400" kern="0" spc="-4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ECMP以流为粒度实现VLB，短时间内可能存在大象流和老鼠流在核</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心交换机划分不均匀的情况。</a:t>
            </a:r>
            <a:endParaRPr sz="2400" dirty="0">
              <a:latin typeface="微软雅黑" panose="020B0503020204020204" charset="-122"/>
              <a:ea typeface="微软雅黑" panose="020B0503020204020204" charset="-122"/>
              <a:cs typeface="微软雅黑" panose="020B0503020204020204" charset="-122"/>
            </a:endParaRPr>
          </a:p>
          <a:p>
            <a:pPr marL="410845" indent="-319405" algn="l" rtl="0" eaLnBrk="0">
              <a:lnSpc>
                <a:spcPct val="118000"/>
              </a:lnSpc>
              <a:spcBef>
                <a:spcPts val="1205"/>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在75节点testbed实验，模仿实际的流量特征，流的并发数</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和大小根据第三章观</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测实验得到的分布随</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机选取。</a:t>
            </a:r>
            <a:endParaRPr sz="2400" dirty="0">
              <a:latin typeface="微软雅黑" panose="020B0503020204020204" charset="-122"/>
              <a:ea typeface="微软雅黑" panose="020B0503020204020204" charset="-122"/>
              <a:cs typeface="微软雅黑" panose="020B0503020204020204" charset="-122"/>
            </a:endParaRPr>
          </a:p>
          <a:p>
            <a:pPr marL="91440" algn="l" rtl="0" eaLnBrk="0">
              <a:lnSpc>
                <a:spcPct val="89000"/>
              </a:lnSpc>
              <a:spcBef>
                <a:spcPts val="1190"/>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每隔10s通过SNMP数据获取每个汇聚交换机到核心交换机的链路情况。</a:t>
            </a:r>
            <a:endParaRPr sz="2400" dirty="0">
              <a:latin typeface="微软雅黑" panose="020B0503020204020204" charset="-122"/>
              <a:ea typeface="微软雅黑" panose="020B0503020204020204" charset="-122"/>
              <a:cs typeface="微软雅黑" panose="020B0503020204020204" charset="-122"/>
            </a:endParaRPr>
          </a:p>
          <a:p>
            <a:pPr marL="91440" algn="l" rtl="0" eaLnBrk="0">
              <a:lnSpc>
                <a:spcPct val="89000"/>
              </a:lnSpc>
              <a:spcBef>
                <a:spcPts val="1445"/>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计算到核心交换机的Jain公平性指数的</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时间序列，如图所示</a:t>
            </a:r>
            <a:endParaRPr sz="2400" dirty="0">
              <a:latin typeface="微软雅黑" panose="020B0503020204020204" charset="-122"/>
              <a:ea typeface="微软雅黑" panose="020B0503020204020204" charset="-122"/>
              <a:cs typeface="微软雅黑" panose="020B0503020204020204" charset="-122"/>
            </a:endParaRPr>
          </a:p>
          <a:p>
            <a:pPr marL="425450" indent="-334010" algn="l" rtl="0" eaLnBrk="0">
              <a:lnSpc>
                <a:spcPct val="118000"/>
              </a:lnSpc>
              <a:spcBef>
                <a:spcPts val="1425"/>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每个汇聚交换机在实验的时间跨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度上</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的平均公平性指数均在0.98以</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上</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1000"/>
              </a:lnSpc>
            </a:pPr>
            <a:endParaRPr sz="1000" dirty="0">
              <a:latin typeface="Arial" panose="020B0604020202020204"/>
              <a:ea typeface="Arial" panose="020B0604020202020204"/>
              <a:cs typeface="Arial" panose="020B0604020202020204"/>
            </a:endParaRPr>
          </a:p>
          <a:p>
            <a:pPr marL="425450" indent="-334010" algn="l" rtl="0" eaLnBrk="0">
              <a:lnSpc>
                <a:spcPct val="118000"/>
              </a:lnSpc>
              <a:spcBef>
                <a:spcPts val="5"/>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这种结果的出现是因为汇聚交换机</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上</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的流足够多，静态多路有效</a:t>
            </a:r>
            <a:endParaRPr sz="2400" dirty="0">
              <a:latin typeface="微软雅黑" panose="020B0503020204020204" charset="-122"/>
              <a:ea typeface="微软雅黑" panose="020B0503020204020204" charset="-122"/>
              <a:cs typeface="微软雅黑" panose="020B0503020204020204" charset="-122"/>
            </a:endParaRPr>
          </a:p>
        </p:txBody>
      </p:sp>
      <p:pic>
        <p:nvPicPr>
          <p:cNvPr id="1078" name="picture 1078"/>
          <p:cNvPicPr>
            <a:picLocks noChangeAspect="1"/>
          </p:cNvPicPr>
          <p:nvPr/>
        </p:nvPicPr>
        <p:blipFill>
          <a:blip r:embed="rId1"/>
          <a:stretch>
            <a:fillRect/>
          </a:stretch>
        </p:blipFill>
        <p:spPr>
          <a:xfrm rot="21600000">
            <a:off x="426415" y="5205018"/>
            <a:ext cx="216407" cy="223723"/>
          </a:xfrm>
          <a:prstGeom prst="rect">
            <a:avLst/>
          </a:prstGeom>
        </p:spPr>
      </p:pic>
      <p:pic>
        <p:nvPicPr>
          <p:cNvPr id="1080" name="picture 1080"/>
          <p:cNvPicPr>
            <a:picLocks noChangeAspect="1"/>
          </p:cNvPicPr>
          <p:nvPr/>
        </p:nvPicPr>
        <p:blipFill>
          <a:blip r:embed="rId2"/>
          <a:stretch>
            <a:fillRect/>
          </a:stretch>
        </p:blipFill>
        <p:spPr>
          <a:xfrm rot="21600000">
            <a:off x="426440" y="4188032"/>
            <a:ext cx="216624" cy="223946"/>
          </a:xfrm>
          <a:prstGeom prst="rect">
            <a:avLst/>
          </a:prstGeom>
        </p:spPr>
      </p:pic>
      <p:pic>
        <p:nvPicPr>
          <p:cNvPr id="1082" name="picture 1082"/>
          <p:cNvPicPr>
            <a:picLocks noChangeAspect="1"/>
          </p:cNvPicPr>
          <p:nvPr/>
        </p:nvPicPr>
        <p:blipFill>
          <a:blip r:embed="rId1"/>
          <a:stretch>
            <a:fillRect/>
          </a:stretch>
        </p:blipFill>
        <p:spPr>
          <a:xfrm rot="21600000">
            <a:off x="426415" y="3680764"/>
            <a:ext cx="216407" cy="223723"/>
          </a:xfrm>
          <a:prstGeom prst="rect">
            <a:avLst/>
          </a:prstGeom>
        </p:spPr>
      </p:pic>
      <p:pic>
        <p:nvPicPr>
          <p:cNvPr id="1084" name="picture 1084"/>
          <p:cNvPicPr>
            <a:picLocks noChangeAspect="1"/>
          </p:cNvPicPr>
          <p:nvPr/>
        </p:nvPicPr>
        <p:blipFill>
          <a:blip r:embed="rId3"/>
          <a:stretch>
            <a:fillRect/>
          </a:stretch>
        </p:blipFill>
        <p:spPr>
          <a:xfrm rot="21600000">
            <a:off x="426415" y="3171748"/>
            <a:ext cx="216407" cy="223723"/>
          </a:xfrm>
          <a:prstGeom prst="rect">
            <a:avLst/>
          </a:prstGeom>
        </p:spPr>
      </p:pic>
      <p:pic>
        <p:nvPicPr>
          <p:cNvPr id="1086" name="picture 1086"/>
          <p:cNvPicPr>
            <a:picLocks noChangeAspect="1"/>
          </p:cNvPicPr>
          <p:nvPr/>
        </p:nvPicPr>
        <p:blipFill>
          <a:blip r:embed="rId1"/>
          <a:stretch>
            <a:fillRect/>
          </a:stretch>
        </p:blipFill>
        <p:spPr>
          <a:xfrm rot="21600000">
            <a:off x="426415" y="2156511"/>
            <a:ext cx="216407" cy="223723"/>
          </a:xfrm>
          <a:prstGeom prst="rect">
            <a:avLst/>
          </a:prstGeom>
        </p:spPr>
      </p:pic>
      <p:pic>
        <p:nvPicPr>
          <p:cNvPr id="1088" name="picture 1088"/>
          <p:cNvPicPr>
            <a:picLocks noChangeAspect="1"/>
          </p:cNvPicPr>
          <p:nvPr/>
        </p:nvPicPr>
        <p:blipFill>
          <a:blip r:embed="rId2"/>
          <a:stretch>
            <a:fillRect/>
          </a:stretch>
        </p:blipFill>
        <p:spPr>
          <a:xfrm rot="21600000">
            <a:off x="426440" y="1139398"/>
            <a:ext cx="216624" cy="223946"/>
          </a:xfrm>
          <a:prstGeom prst="rect">
            <a:avLst/>
          </a:prstGeom>
        </p:spPr>
      </p:pic>
      <p:pic>
        <p:nvPicPr>
          <p:cNvPr id="1090" name="picture 1090"/>
          <p:cNvPicPr>
            <a:picLocks noChangeAspect="1"/>
          </p:cNvPicPr>
          <p:nvPr/>
        </p:nvPicPr>
        <p:blipFill>
          <a:blip r:embed="rId4"/>
          <a:stretch>
            <a:fillRect/>
          </a:stretch>
        </p:blipFill>
        <p:spPr>
          <a:xfrm rot="21600000">
            <a:off x="161544" y="6461759"/>
            <a:ext cx="11879580" cy="18288"/>
          </a:xfrm>
          <a:prstGeom prst="rect">
            <a:avLst/>
          </a:prstGeom>
        </p:spPr>
      </p:pic>
      <p:pic>
        <p:nvPicPr>
          <p:cNvPr id="1092" name="picture 1092"/>
          <p:cNvPicPr>
            <a:picLocks noChangeAspect="1"/>
          </p:cNvPicPr>
          <p:nvPr/>
        </p:nvPicPr>
        <p:blipFill>
          <a:blip r:embed="rId5"/>
          <a:stretch>
            <a:fillRect/>
          </a:stretch>
        </p:blipFill>
        <p:spPr>
          <a:xfrm rot="21600000">
            <a:off x="5824728" y="4050791"/>
            <a:ext cx="6367271" cy="2807206"/>
          </a:xfrm>
          <a:prstGeom prst="rect">
            <a:avLst/>
          </a:prstGeom>
        </p:spPr>
      </p:pic>
      <p:sp>
        <p:nvSpPr>
          <p:cNvPr id="1094" name="textbox 1094"/>
          <p:cNvSpPr/>
          <p:nvPr/>
        </p:nvSpPr>
        <p:spPr>
          <a:xfrm>
            <a:off x="433179" y="317074"/>
            <a:ext cx="5300979"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80" dirty="0">
                <a:solidFill>
                  <a:srgbClr val="F26849">
                    <a:alpha val="100000"/>
                  </a:srgbClr>
                </a:solidFill>
                <a:latin typeface="微软雅黑" panose="020B0503020204020204" charset="-122"/>
                <a:ea typeface="微软雅黑" panose="020B0503020204020204" charset="-122"/>
                <a:cs typeface="微软雅黑" panose="020B0503020204020204" charset="-122"/>
              </a:rPr>
              <a:t>5.2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8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0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Provides</a:t>
            </a:r>
            <a:r>
              <a:rPr sz="2700" b="1" kern="0" spc="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VLB</a:t>
            </a:r>
            <a:r>
              <a:rPr sz="2700" b="1" kern="0" spc="2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Fairness</a:t>
            </a:r>
            <a:endParaRPr sz="2700" dirty="0">
              <a:latin typeface="微软雅黑" panose="020B0503020204020204" charset="-122"/>
              <a:ea typeface="微软雅黑" panose="020B0503020204020204" charset="-122"/>
              <a:cs typeface="微软雅黑" panose="020B0503020204020204" charset="-122"/>
            </a:endParaRPr>
          </a:p>
        </p:txBody>
      </p:sp>
      <p:pic>
        <p:nvPicPr>
          <p:cNvPr id="1096" name="picture 1096"/>
          <p:cNvPicPr>
            <a:picLocks noChangeAspect="1"/>
          </p:cNvPicPr>
          <p:nvPr/>
        </p:nvPicPr>
        <p:blipFill>
          <a:blip r:embed="rId6"/>
          <a:stretch>
            <a:fillRect/>
          </a:stretch>
        </p:blipFill>
        <p:spPr>
          <a:xfrm rot="21600000">
            <a:off x="11338559" y="18288"/>
            <a:ext cx="720852" cy="719328"/>
          </a:xfrm>
          <a:prstGeom prst="rect">
            <a:avLst/>
          </a:prstGeom>
        </p:spPr>
      </p:pic>
      <p:pic>
        <p:nvPicPr>
          <p:cNvPr id="1098" name="picture 1098"/>
          <p:cNvPicPr>
            <a:picLocks noChangeAspect="1"/>
          </p:cNvPicPr>
          <p:nvPr/>
        </p:nvPicPr>
        <p:blipFill>
          <a:blip r:embed="rId7"/>
          <a:stretch>
            <a:fillRect/>
          </a:stretch>
        </p:blipFill>
        <p:spPr>
          <a:xfrm rot="21600000">
            <a:off x="155447" y="751332"/>
            <a:ext cx="11881104" cy="19811"/>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 name="textbox 1100"/>
          <p:cNvSpPr/>
          <p:nvPr/>
        </p:nvSpPr>
        <p:spPr>
          <a:xfrm>
            <a:off x="219709" y="923797"/>
            <a:ext cx="11551919" cy="5291454"/>
          </a:xfrm>
          <a:prstGeom prst="roundRect">
            <a:avLst>
              <a:gd name="adj" fmla="val 7424"/>
            </a:avLst>
          </a:prstGeom>
          <a:noFill/>
          <a:ln w="25400" cap="flat">
            <a:solidFill>
              <a:srgbClr val="A5A5A5"/>
            </a:solidFill>
            <a:prstDash val="solid"/>
            <a:miter lim="0"/>
          </a:ln>
        </p:spPr>
        <p:txBody>
          <a:bodyPr vert="horz" wrap="square" lIns="0" tIns="0" rIns="0" bIns="0"/>
          <a:lstStyle/>
          <a:p>
            <a:pPr algn="l" rtl="0" eaLnBrk="0">
              <a:lnSpc>
                <a:spcPct val="100000"/>
              </a:lnSpc>
            </a:pPr>
            <a:endParaRPr sz="500" dirty="0">
              <a:latin typeface="Arial" panose="020B0604020202020204"/>
              <a:ea typeface="Arial" panose="020B0604020202020204"/>
              <a:cs typeface="Arial" panose="020B0604020202020204"/>
            </a:endParaRPr>
          </a:p>
          <a:p>
            <a:pPr marL="414020" indent="-322580" algn="l" rtl="0" eaLnBrk="0">
              <a:lnSpc>
                <a:spcPct val="118000"/>
              </a:lnSpc>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a:t>
            </a:r>
            <a:r>
              <a:rPr sz="2400" kern="0" spc="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L2的敏捷性依赖于V</a:t>
            </a:r>
            <a:r>
              <a:rPr sz="2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LB的数学证明：只要流量模型符合hose</a:t>
            </a:r>
            <a:r>
              <a:rPr sz="2400" kern="0" spc="22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model，即每台</a:t>
            </a:r>
            <a:r>
              <a:rPr sz="2400" kern="0" spc="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服务器的进/出速率低</a:t>
            </a:r>
            <a:r>
              <a:rPr sz="2400" kern="0" spc="-2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于某个限速，流量就能被均匀分摊避免拥塞。</a:t>
            </a:r>
            <a:endParaRPr sz="2400" dirty="0">
              <a:latin typeface="微软雅黑" panose="020B0503020204020204" charset="-122"/>
              <a:ea typeface="微软雅黑" panose="020B0503020204020204" charset="-122"/>
              <a:cs typeface="微软雅黑" panose="020B0503020204020204" charset="-122"/>
            </a:endParaRPr>
          </a:p>
          <a:p>
            <a:pPr marL="91440" algn="l" rtl="0" eaLnBrk="0">
              <a:lnSpc>
                <a:spcPct val="89000"/>
              </a:lnSpc>
              <a:spcBef>
                <a:spcPts val="1210"/>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VL2没用采用复杂的准入机制或流量调控，</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而是采用TCP来限制每个流的速率。</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2000"/>
              </a:lnSpc>
            </a:pPr>
            <a:endParaRPr sz="1000" dirty="0">
              <a:latin typeface="Arial" panose="020B0604020202020204"/>
              <a:ea typeface="Arial" panose="020B0604020202020204"/>
              <a:cs typeface="Arial" panose="020B0604020202020204"/>
            </a:endParaRPr>
          </a:p>
          <a:p>
            <a:pPr marL="73660" algn="l" rtl="0" eaLnBrk="0">
              <a:lnSpc>
                <a:spcPct val="93000"/>
              </a:lnSpc>
              <a:spcBef>
                <a:spcPts val="700"/>
              </a:spcBef>
            </a:pPr>
            <a:r>
              <a:rPr sz="23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两个问题：</a:t>
            </a:r>
            <a:endParaRPr sz="2300" dirty="0">
              <a:latin typeface="微软雅黑" panose="020B0503020204020204" charset="-122"/>
              <a:ea typeface="微软雅黑" panose="020B0503020204020204" charset="-122"/>
              <a:cs typeface="微软雅黑" panose="020B0503020204020204" charset="-122"/>
            </a:endParaRPr>
          </a:p>
          <a:p>
            <a:pPr marL="91440" algn="l" rtl="0" eaLnBrk="0">
              <a:lnSpc>
                <a:spcPct val="89000"/>
              </a:lnSpc>
              <a:spcBef>
                <a:spcPts val="1445"/>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TCP调整流量以RTT为时间</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跨度，可能难以满足速率的及时性调控要求</a:t>
            </a:r>
            <a:endParaRPr sz="2400" dirty="0">
              <a:latin typeface="微软雅黑" panose="020B0503020204020204" charset="-122"/>
              <a:ea typeface="微软雅黑" panose="020B0503020204020204" charset="-122"/>
              <a:cs typeface="微软雅黑" panose="020B0503020204020204" charset="-122"/>
            </a:endParaRPr>
          </a:p>
          <a:p>
            <a:pPr marL="434340" indent="-342900" algn="l" rtl="0" eaLnBrk="0">
              <a:lnSpc>
                <a:spcPct val="123000"/>
              </a:lnSpc>
              <a:spcBef>
                <a:spcPts val="1455"/>
              </a:spcBef>
              <a:tabLst>
                <a:tab pos="30797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大量突发的mice flow，由于slow start，可能短时间内造成突发流量，违反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hose</a:t>
            </a:r>
            <a:r>
              <a:rPr sz="24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model</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7000"/>
              </a:lnSpc>
            </a:pPr>
            <a:endParaRPr sz="700" dirty="0">
              <a:latin typeface="Arial" panose="020B0604020202020204"/>
              <a:ea typeface="Arial" panose="020B0604020202020204"/>
              <a:cs typeface="Arial" panose="020B0604020202020204"/>
            </a:endParaRPr>
          </a:p>
          <a:p>
            <a:pPr marL="69215" algn="l" rtl="0" eaLnBrk="0">
              <a:lnSpc>
                <a:spcPct val="89000"/>
              </a:lnSpc>
              <a:spcBef>
                <a:spcPts val="0"/>
              </a:spcBef>
            </a:pP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作者设计实验验证了</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TCP足以胜任hose</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model的速率调控。</a:t>
            </a:r>
            <a:endParaRPr sz="2400" dirty="0">
              <a:latin typeface="微软雅黑" panose="020B0503020204020204" charset="-122"/>
              <a:ea typeface="微软雅黑" panose="020B0503020204020204" charset="-122"/>
              <a:cs typeface="微软雅黑" panose="020B0503020204020204" charset="-122"/>
            </a:endParaRPr>
          </a:p>
        </p:txBody>
      </p:sp>
      <p:pic>
        <p:nvPicPr>
          <p:cNvPr id="1102" name="picture 1102"/>
          <p:cNvPicPr>
            <a:picLocks noChangeAspect="1"/>
          </p:cNvPicPr>
          <p:nvPr/>
        </p:nvPicPr>
        <p:blipFill>
          <a:blip r:embed="rId1"/>
          <a:stretch>
            <a:fillRect/>
          </a:stretch>
        </p:blipFill>
        <p:spPr>
          <a:xfrm rot="21600000">
            <a:off x="426440" y="4188032"/>
            <a:ext cx="216624" cy="223946"/>
          </a:xfrm>
          <a:prstGeom prst="rect">
            <a:avLst/>
          </a:prstGeom>
        </p:spPr>
      </p:pic>
      <p:pic>
        <p:nvPicPr>
          <p:cNvPr id="1104" name="picture 1104"/>
          <p:cNvPicPr>
            <a:picLocks noChangeAspect="1"/>
          </p:cNvPicPr>
          <p:nvPr/>
        </p:nvPicPr>
        <p:blipFill>
          <a:blip r:embed="rId2"/>
          <a:stretch>
            <a:fillRect/>
          </a:stretch>
        </p:blipFill>
        <p:spPr>
          <a:xfrm rot="21600000">
            <a:off x="426415" y="3680764"/>
            <a:ext cx="216407" cy="223723"/>
          </a:xfrm>
          <a:prstGeom prst="rect">
            <a:avLst/>
          </a:prstGeom>
        </p:spPr>
      </p:pic>
      <p:pic>
        <p:nvPicPr>
          <p:cNvPr id="1106" name="picture 1106"/>
          <p:cNvPicPr>
            <a:picLocks noChangeAspect="1"/>
          </p:cNvPicPr>
          <p:nvPr/>
        </p:nvPicPr>
        <p:blipFill>
          <a:blip r:embed="rId2"/>
          <a:stretch>
            <a:fillRect/>
          </a:stretch>
        </p:blipFill>
        <p:spPr>
          <a:xfrm rot="21600000">
            <a:off x="426415" y="2156511"/>
            <a:ext cx="216407" cy="223723"/>
          </a:xfrm>
          <a:prstGeom prst="rect">
            <a:avLst/>
          </a:prstGeom>
        </p:spPr>
      </p:pic>
      <p:pic>
        <p:nvPicPr>
          <p:cNvPr id="1108" name="picture 1108"/>
          <p:cNvPicPr>
            <a:picLocks noChangeAspect="1"/>
          </p:cNvPicPr>
          <p:nvPr/>
        </p:nvPicPr>
        <p:blipFill>
          <a:blip r:embed="rId1"/>
          <a:stretch>
            <a:fillRect/>
          </a:stretch>
        </p:blipFill>
        <p:spPr>
          <a:xfrm rot="21600000">
            <a:off x="426440" y="1139398"/>
            <a:ext cx="216624" cy="223946"/>
          </a:xfrm>
          <a:prstGeom prst="rect">
            <a:avLst/>
          </a:prstGeom>
        </p:spPr>
      </p:pic>
      <p:sp>
        <p:nvSpPr>
          <p:cNvPr id="1110" name="textbox 1110"/>
          <p:cNvSpPr/>
          <p:nvPr/>
        </p:nvSpPr>
        <p:spPr>
          <a:xfrm>
            <a:off x="433179" y="317074"/>
            <a:ext cx="7016750"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5.3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Provides</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Performance</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Isolation</a:t>
            </a:r>
            <a:endParaRPr sz="2700" dirty="0">
              <a:latin typeface="微软雅黑" panose="020B0503020204020204" charset="-122"/>
              <a:ea typeface="微软雅黑" panose="020B0503020204020204" charset="-122"/>
              <a:cs typeface="微软雅黑" panose="020B0503020204020204" charset="-122"/>
            </a:endParaRPr>
          </a:p>
        </p:txBody>
      </p:sp>
      <p:pic>
        <p:nvPicPr>
          <p:cNvPr id="1112" name="picture 1112"/>
          <p:cNvPicPr>
            <a:picLocks noChangeAspect="1"/>
          </p:cNvPicPr>
          <p:nvPr/>
        </p:nvPicPr>
        <p:blipFill>
          <a:blip r:embed="rId3"/>
          <a:stretch>
            <a:fillRect/>
          </a:stretch>
        </p:blipFill>
        <p:spPr>
          <a:xfrm rot="21600000">
            <a:off x="11338559" y="18288"/>
            <a:ext cx="720852" cy="719328"/>
          </a:xfrm>
          <a:prstGeom prst="rect">
            <a:avLst/>
          </a:prstGeom>
        </p:spPr>
      </p:pic>
      <p:pic>
        <p:nvPicPr>
          <p:cNvPr id="1114" name="picture 1114"/>
          <p:cNvPicPr>
            <a:picLocks noChangeAspect="1"/>
          </p:cNvPicPr>
          <p:nvPr/>
        </p:nvPicPr>
        <p:blipFill>
          <a:blip r:embed="rId4"/>
          <a:stretch>
            <a:fillRect/>
          </a:stretch>
        </p:blipFill>
        <p:spPr>
          <a:xfrm rot="21600000">
            <a:off x="155447" y="751332"/>
            <a:ext cx="11881104" cy="19811"/>
          </a:xfrm>
          <a:prstGeom prst="rect">
            <a:avLst/>
          </a:prstGeom>
        </p:spPr>
      </p:pic>
      <p:pic>
        <p:nvPicPr>
          <p:cNvPr id="1116" name="picture 1116"/>
          <p:cNvPicPr>
            <a:picLocks noChangeAspect="1"/>
          </p:cNvPicPr>
          <p:nvPr/>
        </p:nvPicPr>
        <p:blipFill>
          <a:blip r:embed="rId5"/>
          <a:stretch>
            <a:fillRect/>
          </a:stretch>
        </p:blipFill>
        <p:spPr>
          <a:xfrm rot="21600000">
            <a:off x="161544" y="6461759"/>
            <a:ext cx="11879580" cy="18288"/>
          </a:xfrm>
          <a:prstGeom prst="rect">
            <a:avLst/>
          </a:prstGeom>
        </p:spPr>
      </p:pic>
      <p:sp>
        <p:nvSpPr>
          <p:cNvPr id="1118" name="textbox 1118"/>
          <p:cNvSpPr/>
          <p:nvPr/>
        </p:nvSpPr>
        <p:spPr>
          <a:xfrm>
            <a:off x="11586758"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55</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textbox 1120"/>
          <p:cNvSpPr/>
          <p:nvPr/>
        </p:nvSpPr>
        <p:spPr>
          <a:xfrm>
            <a:off x="11586758"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56</a:t>
            </a:r>
            <a:endParaRPr sz="1800" dirty="0">
              <a:latin typeface="Calibri" panose="020F0502020204030204"/>
              <a:ea typeface="Calibri" panose="020F0502020204030204"/>
              <a:cs typeface="Calibri" panose="020F0502020204030204"/>
            </a:endParaRPr>
          </a:p>
        </p:txBody>
      </p:sp>
      <p:grpSp>
        <p:nvGrpSpPr>
          <p:cNvPr id="8" name="group 8"/>
          <p:cNvGrpSpPr/>
          <p:nvPr/>
        </p:nvGrpSpPr>
        <p:grpSpPr>
          <a:xfrm rot="21600000">
            <a:off x="274320" y="3994402"/>
            <a:ext cx="11876532" cy="2770632"/>
            <a:chOff x="0" y="0"/>
            <a:chExt cx="11876532" cy="2770632"/>
          </a:xfrm>
        </p:grpSpPr>
        <p:pic>
          <p:nvPicPr>
            <p:cNvPr id="1122" name="picture 1122"/>
            <p:cNvPicPr>
              <a:picLocks noChangeAspect="1"/>
            </p:cNvPicPr>
            <p:nvPr/>
          </p:nvPicPr>
          <p:blipFill>
            <a:blip r:embed="rId1"/>
            <a:stretch>
              <a:fillRect/>
            </a:stretch>
          </p:blipFill>
          <p:spPr>
            <a:xfrm rot="21600000">
              <a:off x="0" y="0"/>
              <a:ext cx="11876532" cy="2770632"/>
            </a:xfrm>
            <a:prstGeom prst="rect">
              <a:avLst/>
            </a:prstGeom>
          </p:spPr>
        </p:pic>
        <p:sp>
          <p:nvSpPr>
            <p:cNvPr id="1124" name="textbox 1124"/>
            <p:cNvSpPr/>
            <p:nvPr/>
          </p:nvSpPr>
          <p:spPr>
            <a:xfrm>
              <a:off x="-12700" y="-12700"/>
              <a:ext cx="11902440" cy="2796539"/>
            </a:xfrm>
            <a:prstGeom prst="rect">
              <a:avLst/>
            </a:prstGeom>
            <a:noFill/>
            <a:ln w="0" cap="flat">
              <a:noFill/>
              <a:prstDash val="solid"/>
              <a:miter lim="0"/>
            </a:ln>
          </p:spPr>
          <p:txBody>
            <a:bodyPr vert="horz" wrap="square" lIns="0" tIns="0" rIns="0" bIns="0"/>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25730" algn="l" rtl="0" eaLnBrk="0">
                <a:lnSpc>
                  <a:spcPct val="92000"/>
                </a:lnSpc>
              </a:pPr>
              <a:r>
                <a:rPr sz="2100" kern="0" spc="130" dirty="0">
                  <a:solidFill>
                    <a:srgbClr val="FFFFFF">
                      <a:alpha val="100000"/>
                    </a:srgbClr>
                  </a:solidFill>
                  <a:latin typeface="等线" panose="02010600030101010101" charset="-122"/>
                  <a:ea typeface="等线" panose="02010600030101010101" charset="-122"/>
                  <a:cs typeface="等线" panose="02010600030101010101" charset="-122"/>
                </a:rPr>
                <a:t>实验证明</a:t>
              </a:r>
              <a:r>
                <a:rPr sz="2100" kern="0" spc="0" dirty="0">
                  <a:solidFill>
                    <a:srgbClr val="FFFFFF">
                      <a:alpha val="100000"/>
                    </a:srgbClr>
                  </a:solidFill>
                  <a:latin typeface="Calibri" panose="020F0502020204030204"/>
                  <a:ea typeface="Calibri" panose="020F0502020204030204"/>
                  <a:cs typeface="Calibri" panose="020F0502020204030204"/>
                </a:rPr>
                <a:t>TCP</a:t>
              </a:r>
              <a:r>
                <a:rPr sz="2100" kern="0" spc="130" dirty="0">
                  <a:solidFill>
                    <a:srgbClr val="FFFFFF">
                      <a:alpha val="100000"/>
                    </a:srgbClr>
                  </a:solidFill>
                  <a:latin typeface="等线" panose="02010600030101010101" charset="-122"/>
                  <a:ea typeface="等线" panose="02010600030101010101" charset="-122"/>
                  <a:cs typeface="等线" panose="02010600030101010101" charset="-122"/>
                </a:rPr>
                <a:t>天然适合与</a:t>
              </a:r>
              <a:r>
                <a:rPr sz="2100" kern="0" spc="0" dirty="0">
                  <a:solidFill>
                    <a:srgbClr val="FFFFFF">
                      <a:alpha val="100000"/>
                    </a:srgbClr>
                  </a:solidFill>
                  <a:latin typeface="Calibri" panose="020F0502020204030204"/>
                  <a:ea typeface="Calibri" panose="020F0502020204030204"/>
                  <a:cs typeface="Calibri" panose="020F0502020204030204"/>
                </a:rPr>
                <a:t>VLB</a:t>
              </a:r>
              <a:r>
                <a:rPr sz="2100" kern="0" spc="130" dirty="0">
                  <a:solidFill>
                    <a:srgbClr val="FFFFFF">
                      <a:alpha val="100000"/>
                    </a:srgbClr>
                  </a:solidFill>
                  <a:latin typeface="等线" panose="02010600030101010101" charset="-122"/>
                  <a:ea typeface="等线" panose="02010600030101010101" charset="-122"/>
                  <a:cs typeface="等线" panose="02010600030101010101" charset="-122"/>
                </a:rPr>
                <a:t>配合执行</a:t>
              </a:r>
              <a:r>
                <a:rPr sz="2100" kern="0" spc="0" dirty="0">
                  <a:solidFill>
                    <a:srgbClr val="FFFFFF">
                      <a:alpha val="100000"/>
                    </a:srgbClr>
                  </a:solidFill>
                  <a:latin typeface="Calibri" panose="020F0502020204030204"/>
                  <a:ea typeface="Calibri" panose="020F0502020204030204"/>
                  <a:cs typeface="Calibri" panose="020F0502020204030204"/>
                </a:rPr>
                <a:t>hose</a:t>
              </a:r>
              <a:r>
                <a:rPr sz="2100" kern="0" spc="240" dirty="0">
                  <a:solidFill>
                    <a:srgbClr val="FFFFFF">
                      <a:alpha val="100000"/>
                    </a:srgbClr>
                  </a:solidFill>
                  <a:latin typeface="Calibri" panose="020F0502020204030204"/>
                  <a:ea typeface="Calibri" panose="020F0502020204030204"/>
                  <a:cs typeface="Calibri" panose="020F0502020204030204"/>
                </a:rPr>
                <a:t> </a:t>
              </a:r>
              <a:r>
                <a:rPr sz="2100" kern="0" spc="0" dirty="0">
                  <a:solidFill>
                    <a:srgbClr val="FFFFFF">
                      <a:alpha val="100000"/>
                    </a:srgbClr>
                  </a:solidFill>
                  <a:latin typeface="Calibri" panose="020F0502020204030204"/>
                  <a:ea typeface="Calibri" panose="020F0502020204030204"/>
                  <a:cs typeface="Calibri" panose="020F0502020204030204"/>
                </a:rPr>
                <a:t>model</a:t>
              </a:r>
              <a:r>
                <a:rPr sz="2100" kern="0" spc="130" dirty="0">
                  <a:solidFill>
                    <a:srgbClr val="FFFFFF">
                      <a:alpha val="100000"/>
                    </a:srgbClr>
                  </a:solidFill>
                  <a:latin typeface="等线" panose="02010600030101010101" charset="-122"/>
                  <a:ea typeface="等线" panose="02010600030101010101" charset="-122"/>
                  <a:cs typeface="等线" panose="02010600030101010101" charset="-122"/>
                </a:rPr>
                <a:t>；没有</a:t>
              </a:r>
              <a:r>
                <a:rPr sz="2100" kern="0" spc="0" dirty="0">
                  <a:solidFill>
                    <a:srgbClr val="FFFFFF">
                      <a:alpha val="100000"/>
                    </a:srgbClr>
                  </a:solidFill>
                  <a:latin typeface="Calibri" panose="020F0502020204030204"/>
                  <a:ea typeface="Calibri" panose="020F0502020204030204"/>
                  <a:cs typeface="Calibri" panose="020F0502020204030204"/>
                </a:rPr>
                <a:t>over</a:t>
              </a:r>
              <a:r>
                <a:rPr sz="2100" kern="0" spc="120" dirty="0">
                  <a:solidFill>
                    <a:srgbClr val="FFFFFF">
                      <a:alpha val="100000"/>
                    </a:srgbClr>
                  </a:solidFill>
                  <a:latin typeface="Calibri" panose="020F0502020204030204"/>
                  <a:ea typeface="Calibri" panose="020F0502020204030204"/>
                  <a:cs typeface="Calibri" panose="020F0502020204030204"/>
                </a:rPr>
                <a:t>-</a:t>
              </a:r>
              <a:r>
                <a:rPr sz="2100" kern="0" spc="0" dirty="0">
                  <a:solidFill>
                    <a:srgbClr val="FFFFFF">
                      <a:alpha val="100000"/>
                    </a:srgbClr>
                  </a:solidFill>
                  <a:latin typeface="Calibri" panose="020F0502020204030204"/>
                  <a:ea typeface="Calibri" panose="020F0502020204030204"/>
                  <a:cs typeface="Calibri" panose="020F0502020204030204"/>
                </a:rPr>
                <a:t>subscription</a:t>
              </a:r>
              <a:r>
                <a:rPr sz="2100" kern="0" spc="120" dirty="0">
                  <a:solidFill>
                    <a:srgbClr val="FFFFFF">
                      <a:alpha val="100000"/>
                    </a:srgbClr>
                  </a:solidFill>
                  <a:latin typeface="等线" panose="02010600030101010101" charset="-122"/>
                  <a:ea typeface="等线" panose="02010600030101010101" charset="-122"/>
                  <a:cs typeface="等线" panose="02010600030101010101" charset="-122"/>
                </a:rPr>
                <a:t>的网络也可以做到服务</a:t>
              </a:r>
              <a:endParaRPr sz="2100" dirty="0">
                <a:latin typeface="等线" panose="02010600030101010101" charset="-122"/>
                <a:ea typeface="等线" panose="02010600030101010101" charset="-122"/>
                <a:cs typeface="等线" panose="02010600030101010101" charset="-122"/>
              </a:endParaRPr>
            </a:p>
          </p:txBody>
        </p:sp>
      </p:grpSp>
      <p:sp>
        <p:nvSpPr>
          <p:cNvPr id="1126" name="textbox 1126"/>
          <p:cNvSpPr/>
          <p:nvPr/>
        </p:nvSpPr>
        <p:spPr>
          <a:xfrm>
            <a:off x="125222" y="1481582"/>
            <a:ext cx="5809615" cy="2390775"/>
          </a:xfrm>
          <a:prstGeom prst="roundRect">
            <a:avLst>
              <a:gd name="adj" fmla="val 7963"/>
            </a:avLst>
          </a:prstGeom>
          <a:noFill/>
          <a:ln w="25400" cap="flat">
            <a:solidFill>
              <a:srgbClr val="A5A5A5"/>
            </a:solidFill>
            <a:prstDash val="solid"/>
            <a:miter lim="0"/>
          </a:ln>
        </p:spPr>
        <p:txBody>
          <a:bodyPr vert="horz" wrap="square" lIns="0" tIns="0" rIns="0" bIns="0"/>
          <a:lstStyle/>
          <a:p>
            <a:pPr algn="l" rtl="0" eaLnBrk="0">
              <a:lnSpc>
                <a:spcPct val="101000"/>
              </a:lnSpc>
            </a:pPr>
            <a:endParaRPr sz="900" dirty="0">
              <a:latin typeface="Arial" panose="020B0604020202020204"/>
              <a:ea typeface="Arial" panose="020B0604020202020204"/>
              <a:cs typeface="Arial" panose="020B0604020202020204"/>
            </a:endParaRPr>
          </a:p>
          <a:p>
            <a:pPr marL="243205" algn="l" rtl="0" eaLnBrk="0">
              <a:lnSpc>
                <a:spcPct val="93000"/>
              </a:lnSpc>
              <a:spcBef>
                <a:spcPts val="5"/>
              </a:spcBef>
              <a:tabLst>
                <a:tab pos="441325" algn="l"/>
              </a:tabLst>
            </a:pP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4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服务一有一组持续通信的服务器</a:t>
            </a:r>
            <a:endParaRPr sz="2100" dirty="0">
              <a:latin typeface="微软雅黑" panose="020B0503020204020204" charset="-122"/>
              <a:ea typeface="微软雅黑" panose="020B0503020204020204" charset="-122"/>
              <a:cs typeface="微软雅黑" panose="020B0503020204020204" charset="-122"/>
            </a:endParaRPr>
          </a:p>
          <a:p>
            <a:pPr marL="566420" indent="-323215" algn="l" rtl="0" eaLnBrk="0">
              <a:lnSpc>
                <a:spcPct val="99000"/>
              </a:lnSpc>
              <a:spcBef>
                <a:spcPts val="890"/>
              </a:spcBef>
              <a:tabLst>
                <a:tab pos="440690" algn="l"/>
              </a:tabLst>
            </a:pP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4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服务二每隔2s加入新的服务器发送8</a:t>
            </a: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GB      </a:t>
            </a:r>
            <a:r>
              <a:rPr sz="2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大象流</a:t>
            </a:r>
            <a:endParaRPr sz="2100" dirty="0">
              <a:latin typeface="微软雅黑" panose="020B0503020204020204" charset="-122"/>
              <a:ea typeface="微软雅黑" panose="020B0503020204020204" charset="-122"/>
              <a:cs typeface="微软雅黑" panose="020B0503020204020204" charset="-122"/>
            </a:endParaRPr>
          </a:p>
          <a:p>
            <a:pPr marL="243205" algn="l" rtl="0" eaLnBrk="0">
              <a:lnSpc>
                <a:spcPct val="100000"/>
              </a:lnSpc>
              <a:spcBef>
                <a:spcPts val="895"/>
              </a:spcBef>
              <a:tabLst>
                <a:tab pos="440690" algn="l"/>
              </a:tabLst>
            </a:pP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4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观测服务一的</a:t>
            </a: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goodput</a:t>
            </a:r>
            <a:r>
              <a:rPr sz="2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随时间变化</a:t>
            </a:r>
            <a:endParaRPr sz="21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600" dirty="0">
              <a:latin typeface="Arial" panose="020B0604020202020204"/>
              <a:ea typeface="Arial" panose="020B0604020202020204"/>
              <a:cs typeface="Arial" panose="020B0604020202020204"/>
            </a:endParaRPr>
          </a:p>
          <a:p>
            <a:pPr marL="243205" algn="l" rtl="0" eaLnBrk="0">
              <a:lnSpc>
                <a:spcPct val="93000"/>
              </a:lnSpc>
              <a:spcBef>
                <a:spcPts val="0"/>
              </a:spcBef>
              <a:tabLst>
                <a:tab pos="441325" algn="l"/>
              </a:tabLst>
            </a:pP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3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结果：无明显变化</a:t>
            </a:r>
            <a:endParaRPr sz="2100" dirty="0">
              <a:latin typeface="微软雅黑" panose="020B0503020204020204" charset="-122"/>
              <a:ea typeface="微软雅黑" panose="020B0503020204020204" charset="-122"/>
              <a:cs typeface="微软雅黑" panose="020B0503020204020204" charset="-122"/>
            </a:endParaRPr>
          </a:p>
        </p:txBody>
      </p:sp>
      <p:pic>
        <p:nvPicPr>
          <p:cNvPr id="1128" name="picture 1128"/>
          <p:cNvPicPr>
            <a:picLocks noChangeAspect="1"/>
          </p:cNvPicPr>
          <p:nvPr/>
        </p:nvPicPr>
        <p:blipFill>
          <a:blip r:embed="rId2"/>
          <a:stretch>
            <a:fillRect/>
          </a:stretch>
        </p:blipFill>
        <p:spPr>
          <a:xfrm rot="21600000">
            <a:off x="424264" y="3268265"/>
            <a:ext cx="198229" cy="204930"/>
          </a:xfrm>
          <a:prstGeom prst="rect">
            <a:avLst/>
          </a:prstGeom>
        </p:spPr>
      </p:pic>
      <p:pic>
        <p:nvPicPr>
          <p:cNvPr id="1130" name="picture 1130"/>
          <p:cNvPicPr>
            <a:picLocks noChangeAspect="1"/>
          </p:cNvPicPr>
          <p:nvPr/>
        </p:nvPicPr>
        <p:blipFill>
          <a:blip r:embed="rId3"/>
          <a:stretch>
            <a:fillRect/>
          </a:stretch>
        </p:blipFill>
        <p:spPr>
          <a:xfrm rot="21600000">
            <a:off x="424238" y="2857009"/>
            <a:ext cx="198013" cy="204706"/>
          </a:xfrm>
          <a:prstGeom prst="rect">
            <a:avLst/>
          </a:prstGeom>
        </p:spPr>
      </p:pic>
      <p:pic>
        <p:nvPicPr>
          <p:cNvPr id="1132" name="picture 1132"/>
          <p:cNvPicPr>
            <a:picLocks noChangeAspect="1"/>
          </p:cNvPicPr>
          <p:nvPr/>
        </p:nvPicPr>
        <p:blipFill>
          <a:blip r:embed="rId3"/>
          <a:stretch>
            <a:fillRect/>
          </a:stretch>
        </p:blipFill>
        <p:spPr>
          <a:xfrm rot="21600000">
            <a:off x="424238" y="2110249"/>
            <a:ext cx="198013" cy="204706"/>
          </a:xfrm>
          <a:prstGeom prst="rect">
            <a:avLst/>
          </a:prstGeom>
        </p:spPr>
      </p:pic>
      <p:pic>
        <p:nvPicPr>
          <p:cNvPr id="1134" name="picture 1134"/>
          <p:cNvPicPr>
            <a:picLocks noChangeAspect="1"/>
          </p:cNvPicPr>
          <p:nvPr/>
        </p:nvPicPr>
        <p:blipFill>
          <a:blip r:embed="rId2"/>
          <a:stretch>
            <a:fillRect/>
          </a:stretch>
        </p:blipFill>
        <p:spPr>
          <a:xfrm rot="21600000">
            <a:off x="424264" y="1698291"/>
            <a:ext cx="198229" cy="204930"/>
          </a:xfrm>
          <a:prstGeom prst="rect">
            <a:avLst/>
          </a:prstGeom>
        </p:spPr>
      </p:pic>
      <p:sp>
        <p:nvSpPr>
          <p:cNvPr id="1136" name="textbox 1136"/>
          <p:cNvSpPr/>
          <p:nvPr/>
        </p:nvSpPr>
        <p:spPr>
          <a:xfrm>
            <a:off x="6443725" y="1481582"/>
            <a:ext cx="5452745" cy="2404745"/>
          </a:xfrm>
          <a:prstGeom prst="roundRect">
            <a:avLst>
              <a:gd name="adj" fmla="val 7960"/>
            </a:avLst>
          </a:prstGeom>
          <a:noFill/>
          <a:ln w="25400" cap="flat">
            <a:solidFill>
              <a:srgbClr val="A5A5A5"/>
            </a:solidFill>
            <a:prstDash val="solid"/>
            <a:miter lim="0"/>
          </a:ln>
        </p:spPr>
        <p:txBody>
          <a:bodyPr vert="horz" wrap="square" lIns="0" tIns="0" rIns="0" bIns="0"/>
          <a:lstStyle/>
          <a:p>
            <a:pPr algn="l" rtl="0" eaLnBrk="0">
              <a:lnSpc>
                <a:spcPct val="101000"/>
              </a:lnSpc>
            </a:pPr>
            <a:endParaRPr sz="900" dirty="0">
              <a:latin typeface="Arial" panose="020B0604020202020204"/>
              <a:ea typeface="Arial" panose="020B0604020202020204"/>
              <a:cs typeface="Arial" panose="020B0604020202020204"/>
            </a:endParaRPr>
          </a:p>
          <a:p>
            <a:pPr marL="106045" algn="l" rtl="0" eaLnBrk="0">
              <a:lnSpc>
                <a:spcPct val="93000"/>
              </a:lnSpc>
              <a:spcBef>
                <a:spcPts val="0"/>
              </a:spcBef>
              <a:tabLst>
                <a:tab pos="304165" algn="l"/>
              </a:tabLst>
            </a:pP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4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服务一有一组持续通信的服务器</a:t>
            </a:r>
            <a:endParaRPr sz="2100" dirty="0">
              <a:latin typeface="微软雅黑" panose="020B0503020204020204" charset="-122"/>
              <a:ea typeface="微软雅黑" panose="020B0503020204020204" charset="-122"/>
              <a:cs typeface="微软雅黑" panose="020B0503020204020204" charset="-122"/>
            </a:endParaRPr>
          </a:p>
          <a:p>
            <a:pPr marL="429260" indent="-323215" algn="l" rtl="0" eaLnBrk="0">
              <a:lnSpc>
                <a:spcPct val="99000"/>
              </a:lnSpc>
              <a:spcBef>
                <a:spcPts val="890"/>
              </a:spcBef>
              <a:tabLst>
                <a:tab pos="304165" algn="l"/>
              </a:tabLst>
            </a:pP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4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服务二产生老鼠流</a:t>
            </a: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burst</a:t>
            </a:r>
            <a:r>
              <a:rPr sz="21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，且每次</a:t>
            </a: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burst   </a:t>
            </a:r>
            <a:r>
              <a:rPr sz="2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规模逐渐增大</a:t>
            </a:r>
            <a:endParaRPr sz="2100" dirty="0">
              <a:latin typeface="微软雅黑" panose="020B0503020204020204" charset="-122"/>
              <a:ea typeface="微软雅黑" panose="020B0503020204020204" charset="-122"/>
              <a:cs typeface="微软雅黑" panose="020B0503020204020204" charset="-122"/>
            </a:endParaRPr>
          </a:p>
          <a:p>
            <a:pPr marL="106045" algn="l" rtl="0" eaLnBrk="0">
              <a:lnSpc>
                <a:spcPct val="100000"/>
              </a:lnSpc>
              <a:spcBef>
                <a:spcPts val="895"/>
              </a:spcBef>
              <a:tabLst>
                <a:tab pos="304165" algn="l"/>
              </a:tabLst>
            </a:pP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观测服务一的</a:t>
            </a: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goodput</a:t>
            </a:r>
            <a:r>
              <a:rPr sz="21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随时间</a:t>
            </a:r>
            <a:r>
              <a:rPr sz="2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变化</a:t>
            </a:r>
            <a:endParaRPr sz="21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600" dirty="0">
              <a:latin typeface="Arial" panose="020B0604020202020204"/>
              <a:ea typeface="Arial" panose="020B0604020202020204"/>
              <a:cs typeface="Arial" panose="020B0604020202020204"/>
            </a:endParaRPr>
          </a:p>
          <a:p>
            <a:pPr marL="106045" algn="l" rtl="0" eaLnBrk="0">
              <a:lnSpc>
                <a:spcPct val="93000"/>
              </a:lnSpc>
              <a:spcBef>
                <a:spcPts val="0"/>
              </a:spcBef>
              <a:tabLst>
                <a:tab pos="304165" algn="l"/>
              </a:tabLst>
            </a:pP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3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结果：无明显变化</a:t>
            </a:r>
            <a:endParaRPr sz="2100" dirty="0">
              <a:latin typeface="微软雅黑" panose="020B0503020204020204" charset="-122"/>
              <a:ea typeface="微软雅黑" panose="020B0503020204020204" charset="-122"/>
              <a:cs typeface="微软雅黑" panose="020B0503020204020204" charset="-122"/>
            </a:endParaRPr>
          </a:p>
        </p:txBody>
      </p:sp>
      <p:pic>
        <p:nvPicPr>
          <p:cNvPr id="1138" name="picture 1138"/>
          <p:cNvPicPr>
            <a:picLocks noChangeAspect="1"/>
          </p:cNvPicPr>
          <p:nvPr/>
        </p:nvPicPr>
        <p:blipFill>
          <a:blip r:embed="rId2"/>
          <a:stretch>
            <a:fillRect/>
          </a:stretch>
        </p:blipFill>
        <p:spPr>
          <a:xfrm rot="21600000">
            <a:off x="6606244" y="3268265"/>
            <a:ext cx="198229" cy="204930"/>
          </a:xfrm>
          <a:prstGeom prst="rect">
            <a:avLst/>
          </a:prstGeom>
        </p:spPr>
      </p:pic>
      <p:pic>
        <p:nvPicPr>
          <p:cNvPr id="1140" name="picture 1140"/>
          <p:cNvPicPr>
            <a:picLocks noChangeAspect="1"/>
          </p:cNvPicPr>
          <p:nvPr/>
        </p:nvPicPr>
        <p:blipFill>
          <a:blip r:embed="rId3"/>
          <a:stretch>
            <a:fillRect/>
          </a:stretch>
        </p:blipFill>
        <p:spPr>
          <a:xfrm rot="21600000">
            <a:off x="6606218" y="2857009"/>
            <a:ext cx="198012" cy="204706"/>
          </a:xfrm>
          <a:prstGeom prst="rect">
            <a:avLst/>
          </a:prstGeom>
        </p:spPr>
      </p:pic>
      <p:pic>
        <p:nvPicPr>
          <p:cNvPr id="1142" name="picture 1142"/>
          <p:cNvPicPr>
            <a:picLocks noChangeAspect="1"/>
          </p:cNvPicPr>
          <p:nvPr/>
        </p:nvPicPr>
        <p:blipFill>
          <a:blip r:embed="rId3"/>
          <a:stretch>
            <a:fillRect/>
          </a:stretch>
        </p:blipFill>
        <p:spPr>
          <a:xfrm rot="21600000">
            <a:off x="6606218" y="2110249"/>
            <a:ext cx="198012" cy="204706"/>
          </a:xfrm>
          <a:prstGeom prst="rect">
            <a:avLst/>
          </a:prstGeom>
        </p:spPr>
      </p:pic>
      <p:pic>
        <p:nvPicPr>
          <p:cNvPr id="1144" name="picture 1144"/>
          <p:cNvPicPr>
            <a:picLocks noChangeAspect="1"/>
          </p:cNvPicPr>
          <p:nvPr/>
        </p:nvPicPr>
        <p:blipFill>
          <a:blip r:embed="rId2"/>
          <a:stretch>
            <a:fillRect/>
          </a:stretch>
        </p:blipFill>
        <p:spPr>
          <a:xfrm rot="21600000">
            <a:off x="6606244" y="1698291"/>
            <a:ext cx="198229" cy="204930"/>
          </a:xfrm>
          <a:prstGeom prst="rect">
            <a:avLst/>
          </a:prstGeom>
        </p:spPr>
      </p:pic>
      <p:sp>
        <p:nvSpPr>
          <p:cNvPr id="1146" name="textbox 1146"/>
          <p:cNvSpPr/>
          <p:nvPr/>
        </p:nvSpPr>
        <p:spPr>
          <a:xfrm>
            <a:off x="148844" y="6264305"/>
            <a:ext cx="11905615" cy="316229"/>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95000"/>
              </a:lnSpc>
              <a:tabLst>
                <a:tab pos="248920" algn="l"/>
                <a:tab pos="11891010" algn="l"/>
              </a:tabLst>
            </a:pPr>
            <a:r>
              <a:rPr sz="2000" strike="sngStrike" kern="0" spc="0" dirty="0">
                <a:solidFill>
                  <a:srgbClr val="FFFFFF">
                    <a:alpha val="100000"/>
                  </a:srgbClr>
                </a:solidFill>
                <a:latin typeface="等线" panose="02010600030101010101" charset="-122"/>
                <a:ea typeface="等线" panose="02010600030101010101" charset="-122"/>
                <a:cs typeface="等线" panose="02010600030101010101" charset="-122"/>
              </a:rPr>
              <a:t>	</a:t>
            </a:r>
            <a:r>
              <a:rPr sz="2000" strike="sngStrike" kern="0" spc="-130" dirty="0">
                <a:solidFill>
                  <a:srgbClr val="FFFFFF">
                    <a:alpha val="100000"/>
                  </a:srgbClr>
                </a:solidFill>
                <a:latin typeface="等线" panose="02010600030101010101" charset="-122"/>
                <a:ea typeface="等线" panose="02010600030101010101" charset="-122"/>
                <a:cs typeface="等线" panose="02010600030101010101" charset="-122"/>
              </a:rPr>
              <a:t>间性能隔离！</a:t>
            </a:r>
            <a:r>
              <a:rPr sz="2000" strike="sngStrike" kern="0" spc="0" dirty="0">
                <a:solidFill>
                  <a:srgbClr val="FFFFFF">
                    <a:alpha val="100000"/>
                  </a:srgbClr>
                </a:solidFill>
                <a:latin typeface="等线" panose="02010600030101010101" charset="-122"/>
                <a:ea typeface="等线" panose="02010600030101010101" charset="-122"/>
                <a:cs typeface="等线" panose="02010600030101010101" charset="-122"/>
              </a:rPr>
              <a:t>	</a:t>
            </a:r>
            <a:endParaRPr sz="2000" dirty="0">
              <a:latin typeface="等线" panose="02010600030101010101" charset="-122"/>
              <a:ea typeface="等线" panose="02010600030101010101" charset="-122"/>
              <a:cs typeface="等线" panose="02010600030101010101" charset="-122"/>
            </a:endParaRPr>
          </a:p>
        </p:txBody>
      </p:sp>
      <p:sp>
        <p:nvSpPr>
          <p:cNvPr id="1148" name="textbox 1148"/>
          <p:cNvSpPr/>
          <p:nvPr/>
        </p:nvSpPr>
        <p:spPr>
          <a:xfrm>
            <a:off x="433179" y="317074"/>
            <a:ext cx="7016750"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5.3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2</a:t>
            </a:r>
            <a:r>
              <a:rPr sz="2700" b="1" kern="0" spc="31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Provides</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Performance</a:t>
            </a:r>
            <a:r>
              <a:rPr sz="2700" b="1" kern="0" spc="28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Isolation</a:t>
            </a:r>
            <a:endParaRPr sz="2700" dirty="0">
              <a:latin typeface="微软雅黑" panose="020B0503020204020204" charset="-122"/>
              <a:ea typeface="微软雅黑" panose="020B0503020204020204" charset="-122"/>
              <a:cs typeface="微软雅黑" panose="020B0503020204020204" charset="-122"/>
            </a:endParaRPr>
          </a:p>
        </p:txBody>
      </p:sp>
      <p:sp>
        <p:nvSpPr>
          <p:cNvPr id="1150" name="textbox 1150"/>
          <p:cNvSpPr/>
          <p:nvPr/>
        </p:nvSpPr>
        <p:spPr>
          <a:xfrm>
            <a:off x="6579323" y="998047"/>
            <a:ext cx="3212464"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实验二：老鼠流隔离</a:t>
            </a:r>
            <a:endParaRPr sz="2700" dirty="0">
              <a:latin typeface="微软雅黑" panose="020B0503020204020204" charset="-122"/>
              <a:ea typeface="微软雅黑" panose="020B0503020204020204" charset="-122"/>
              <a:cs typeface="微软雅黑" panose="020B0503020204020204" charset="-122"/>
            </a:endParaRPr>
          </a:p>
        </p:txBody>
      </p:sp>
      <p:sp>
        <p:nvSpPr>
          <p:cNvPr id="1152" name="textbox 1152"/>
          <p:cNvSpPr/>
          <p:nvPr/>
        </p:nvSpPr>
        <p:spPr>
          <a:xfrm>
            <a:off x="397344" y="998047"/>
            <a:ext cx="3209289"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实验一：大象流隔离</a:t>
            </a:r>
            <a:endParaRPr sz="2700" dirty="0">
              <a:latin typeface="微软雅黑" panose="020B0503020204020204" charset="-122"/>
              <a:ea typeface="微软雅黑" panose="020B0503020204020204" charset="-122"/>
              <a:cs typeface="微软雅黑" panose="020B0503020204020204" charset="-122"/>
            </a:endParaRPr>
          </a:p>
        </p:txBody>
      </p:sp>
      <p:pic>
        <p:nvPicPr>
          <p:cNvPr id="1154" name="picture 1154"/>
          <p:cNvPicPr>
            <a:picLocks noChangeAspect="1"/>
          </p:cNvPicPr>
          <p:nvPr/>
        </p:nvPicPr>
        <p:blipFill>
          <a:blip r:embed="rId4"/>
          <a:stretch>
            <a:fillRect/>
          </a:stretch>
        </p:blipFill>
        <p:spPr>
          <a:xfrm rot="21600000">
            <a:off x="11338559" y="18288"/>
            <a:ext cx="720852" cy="719328"/>
          </a:xfrm>
          <a:prstGeom prst="rect">
            <a:avLst/>
          </a:prstGeom>
        </p:spPr>
      </p:pic>
      <p:pic>
        <p:nvPicPr>
          <p:cNvPr id="1156" name="picture 1156"/>
          <p:cNvPicPr>
            <a:picLocks noChangeAspect="1"/>
          </p:cNvPicPr>
          <p:nvPr/>
        </p:nvPicPr>
        <p:blipFill>
          <a:blip r:embed="rId5"/>
          <a:stretch>
            <a:fillRect/>
          </a:stretch>
        </p:blipFill>
        <p:spPr>
          <a:xfrm rot="21600000">
            <a:off x="155447" y="751332"/>
            <a:ext cx="11881104" cy="19811"/>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 name="textbox 1158"/>
          <p:cNvSpPr/>
          <p:nvPr/>
        </p:nvSpPr>
        <p:spPr>
          <a:xfrm>
            <a:off x="79501" y="1382521"/>
            <a:ext cx="11816715" cy="4981575"/>
          </a:xfrm>
          <a:prstGeom prst="roundRect">
            <a:avLst>
              <a:gd name="adj" fmla="val 7451"/>
            </a:avLst>
          </a:prstGeom>
          <a:noFill/>
          <a:ln w="25400" cap="flat">
            <a:solidFill>
              <a:srgbClr val="A5A5A5"/>
            </a:solidFill>
            <a:prstDash val="solid"/>
            <a:miter lim="0"/>
          </a:ln>
        </p:spPr>
        <p:txBody>
          <a:bodyPr vert="horz" wrap="square" lIns="0" tIns="0" rIns="0" bIns="0"/>
          <a:lstStyle/>
          <a:p>
            <a:pPr algn="l" rtl="0" eaLnBrk="0">
              <a:lnSpc>
                <a:spcPct val="104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60655" algn="l" rtl="0" eaLnBrk="0">
              <a:lnSpc>
                <a:spcPct val="89000"/>
              </a:lnSpc>
              <a:tabLst>
                <a:tab pos="37719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服务为数据混洗(data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shuffle)</a:t>
            </a:r>
            <a:endParaRPr sz="2400" dirty="0">
              <a:latin typeface="微软雅黑" panose="020B0503020204020204" charset="-122"/>
              <a:ea typeface="微软雅黑" panose="020B0503020204020204" charset="-122"/>
              <a:cs typeface="微软雅黑" panose="020B0503020204020204" charset="-122"/>
            </a:endParaRPr>
          </a:p>
          <a:p>
            <a:pPr marL="160655" algn="l" rtl="0" eaLnBrk="0">
              <a:lnSpc>
                <a:spcPct val="89000"/>
              </a:lnSpc>
              <a:spcBef>
                <a:spcPts val="640"/>
              </a:spcBef>
              <a:tabLst>
                <a:tab pos="37719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把聚合交换机和核心交换机之间的链路逐渐断掉，直到只剩下一条；再</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逐渐恢复</a:t>
            </a:r>
            <a:endParaRPr sz="2400" dirty="0">
              <a:latin typeface="微软雅黑" panose="020B0503020204020204" charset="-122"/>
              <a:ea typeface="微软雅黑" panose="020B0503020204020204" charset="-122"/>
              <a:cs typeface="微软雅黑" panose="020B0503020204020204" charset="-122"/>
            </a:endParaRPr>
          </a:p>
          <a:p>
            <a:pPr marL="160655" algn="l" rtl="0" eaLnBrk="0">
              <a:lnSpc>
                <a:spcPct val="89000"/>
              </a:lnSpc>
              <a:spcBef>
                <a:spcPts val="630"/>
              </a:spcBef>
              <a:tabLst>
                <a:tab pos="37719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图为服务的聚合带宽；图中竖线为链路断开和恢复的时间</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9000"/>
              </a:lnSpc>
            </a:pPr>
            <a:endParaRPr sz="1000" dirty="0">
              <a:latin typeface="Arial" panose="020B0604020202020204"/>
              <a:ea typeface="Arial" panose="020B0604020202020204"/>
              <a:cs typeface="Arial" panose="020B0604020202020204"/>
            </a:endParaRPr>
          </a:p>
          <a:p>
            <a:pPr marL="160655" algn="l" rtl="0" eaLnBrk="0">
              <a:lnSpc>
                <a:spcPct val="97000"/>
              </a:lnSpc>
              <a:spcBef>
                <a:spcPts val="670"/>
              </a:spcBef>
              <a:tabLst>
                <a:tab pos="377190" algn="l"/>
              </a:tabLst>
            </a:pPr>
            <a:r>
              <a:rPr sz="2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2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2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结果：</a:t>
            </a:r>
            <a:endParaRPr sz="2200" dirty="0">
              <a:latin typeface="微软雅黑" panose="020B0503020204020204" charset="-122"/>
              <a:ea typeface="微软雅黑" panose="020B0503020204020204" charset="-122"/>
              <a:cs typeface="微软雅黑" panose="020B0503020204020204" charset="-122"/>
            </a:endParaRPr>
          </a:p>
          <a:p>
            <a:pPr marL="617855" algn="l" rtl="0" eaLnBrk="0">
              <a:lnSpc>
                <a:spcPct val="89000"/>
              </a:lnSpc>
              <a:spcBef>
                <a:spcPts val="645"/>
              </a:spcBef>
              <a:tabLst>
                <a:tab pos="83375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链路故障后可以快速重新收敛</a:t>
            </a:r>
            <a:endParaRPr sz="2400" dirty="0">
              <a:latin typeface="微软雅黑" panose="020B0503020204020204" charset="-122"/>
              <a:ea typeface="微软雅黑" panose="020B0503020204020204" charset="-122"/>
              <a:cs typeface="微软雅黑" panose="020B0503020204020204" charset="-122"/>
            </a:endParaRPr>
          </a:p>
          <a:p>
            <a:pPr marL="617855" algn="l" rtl="0" eaLnBrk="0">
              <a:lnSpc>
                <a:spcPct val="89000"/>
              </a:lnSpc>
              <a:spcBef>
                <a:spcPts val="630"/>
              </a:spcBef>
              <a:tabLst>
                <a:tab pos="83375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聚合速率可以优雅地降低</a:t>
            </a:r>
            <a:endParaRPr sz="2400" dirty="0">
              <a:latin typeface="微软雅黑" panose="020B0503020204020204" charset="-122"/>
              <a:ea typeface="微软雅黑" panose="020B0503020204020204" charset="-122"/>
              <a:cs typeface="微软雅黑" panose="020B0503020204020204" charset="-122"/>
            </a:endParaRPr>
          </a:p>
          <a:p>
            <a:pPr marL="951230" indent="-333375" algn="l" rtl="0" eaLnBrk="0">
              <a:lnSpc>
                <a:spcPct val="103000"/>
              </a:lnSpc>
              <a:spcBef>
                <a:spcPts val="640"/>
              </a:spcBef>
              <a:tabLst>
                <a:tab pos="83375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链路恢复后速率恢复较慢(由</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于OSPF计</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时器的保守设置)</a:t>
            </a:r>
            <a:endParaRPr sz="2400" dirty="0">
              <a:latin typeface="微软雅黑" panose="020B0503020204020204" charset="-122"/>
              <a:ea typeface="微软雅黑" panose="020B0503020204020204" charset="-122"/>
              <a:cs typeface="微软雅黑" panose="020B0503020204020204" charset="-122"/>
            </a:endParaRPr>
          </a:p>
          <a:p>
            <a:pPr marL="939165" indent="-321310" algn="l" rtl="0" eaLnBrk="0">
              <a:lnSpc>
                <a:spcPct val="104000"/>
              </a:lnSpc>
              <a:spcBef>
                <a:spcPts val="480"/>
              </a:spcBef>
              <a:tabLst>
                <a:tab pos="83375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结果也展示了VL2在over-subscription</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情形下也可以充分利用带宽</a:t>
            </a:r>
            <a:endParaRPr sz="2400" dirty="0">
              <a:latin typeface="微软雅黑" panose="020B0503020204020204" charset="-122"/>
              <a:ea typeface="微软雅黑" panose="020B0503020204020204" charset="-122"/>
              <a:cs typeface="微软雅黑" panose="020B0503020204020204" charset="-122"/>
            </a:endParaRPr>
          </a:p>
        </p:txBody>
      </p:sp>
      <p:pic>
        <p:nvPicPr>
          <p:cNvPr id="1160" name="picture 1160"/>
          <p:cNvPicPr>
            <a:picLocks noChangeAspect="1"/>
          </p:cNvPicPr>
          <p:nvPr/>
        </p:nvPicPr>
        <p:blipFill>
          <a:blip r:embed="rId1"/>
          <a:stretch>
            <a:fillRect/>
          </a:stretch>
        </p:blipFill>
        <p:spPr>
          <a:xfrm rot="21600000">
            <a:off x="806500" y="5079796"/>
            <a:ext cx="216408" cy="223723"/>
          </a:xfrm>
          <a:prstGeom prst="rect">
            <a:avLst/>
          </a:prstGeom>
        </p:spPr>
      </p:pic>
      <p:pic>
        <p:nvPicPr>
          <p:cNvPr id="1162" name="picture 1162"/>
          <p:cNvPicPr>
            <a:picLocks noChangeAspect="1"/>
          </p:cNvPicPr>
          <p:nvPr/>
        </p:nvPicPr>
        <p:blipFill>
          <a:blip r:embed="rId2"/>
          <a:stretch>
            <a:fillRect/>
          </a:stretch>
        </p:blipFill>
        <p:spPr>
          <a:xfrm rot="21600000">
            <a:off x="806500" y="4267250"/>
            <a:ext cx="216408" cy="223723"/>
          </a:xfrm>
          <a:prstGeom prst="rect">
            <a:avLst/>
          </a:prstGeom>
        </p:spPr>
      </p:pic>
      <p:pic>
        <p:nvPicPr>
          <p:cNvPr id="1164" name="picture 1164"/>
          <p:cNvPicPr>
            <a:picLocks noChangeAspect="1"/>
          </p:cNvPicPr>
          <p:nvPr/>
        </p:nvPicPr>
        <p:blipFill>
          <a:blip r:embed="rId1"/>
          <a:stretch>
            <a:fillRect/>
          </a:stretch>
        </p:blipFill>
        <p:spPr>
          <a:xfrm rot="21600000">
            <a:off x="806500" y="3860342"/>
            <a:ext cx="216408" cy="223723"/>
          </a:xfrm>
          <a:prstGeom prst="rect">
            <a:avLst/>
          </a:prstGeom>
        </p:spPr>
      </p:pic>
      <p:pic>
        <p:nvPicPr>
          <p:cNvPr id="1166" name="picture 1166"/>
          <p:cNvPicPr>
            <a:picLocks noChangeAspect="1"/>
          </p:cNvPicPr>
          <p:nvPr/>
        </p:nvPicPr>
        <p:blipFill>
          <a:blip r:embed="rId3"/>
          <a:stretch>
            <a:fillRect/>
          </a:stretch>
        </p:blipFill>
        <p:spPr>
          <a:xfrm rot="21600000">
            <a:off x="806500" y="3454958"/>
            <a:ext cx="216408" cy="223723"/>
          </a:xfrm>
          <a:prstGeom prst="rect">
            <a:avLst/>
          </a:prstGeom>
        </p:spPr>
      </p:pic>
      <p:pic>
        <p:nvPicPr>
          <p:cNvPr id="1168" name="picture 1168"/>
          <p:cNvPicPr>
            <a:picLocks noChangeAspect="1"/>
          </p:cNvPicPr>
          <p:nvPr/>
        </p:nvPicPr>
        <p:blipFill>
          <a:blip r:embed="rId4"/>
          <a:stretch>
            <a:fillRect/>
          </a:stretch>
        </p:blipFill>
        <p:spPr>
          <a:xfrm rot="21600000">
            <a:off x="349326" y="3047446"/>
            <a:ext cx="216624" cy="223946"/>
          </a:xfrm>
          <a:prstGeom prst="rect">
            <a:avLst/>
          </a:prstGeom>
        </p:spPr>
      </p:pic>
      <p:pic>
        <p:nvPicPr>
          <p:cNvPr id="1170" name="picture 1170"/>
          <p:cNvPicPr>
            <a:picLocks noChangeAspect="1"/>
          </p:cNvPicPr>
          <p:nvPr/>
        </p:nvPicPr>
        <p:blipFill>
          <a:blip r:embed="rId3"/>
          <a:stretch>
            <a:fillRect/>
          </a:stretch>
        </p:blipFill>
        <p:spPr>
          <a:xfrm rot="21600000">
            <a:off x="349300" y="2456357"/>
            <a:ext cx="216407" cy="223723"/>
          </a:xfrm>
          <a:prstGeom prst="rect">
            <a:avLst/>
          </a:prstGeom>
        </p:spPr>
      </p:pic>
      <p:pic>
        <p:nvPicPr>
          <p:cNvPr id="1172" name="picture 1172"/>
          <p:cNvPicPr>
            <a:picLocks noChangeAspect="1"/>
          </p:cNvPicPr>
          <p:nvPr/>
        </p:nvPicPr>
        <p:blipFill>
          <a:blip r:embed="rId5"/>
          <a:stretch>
            <a:fillRect/>
          </a:stretch>
        </p:blipFill>
        <p:spPr>
          <a:xfrm rot="21600000">
            <a:off x="349326" y="2050496"/>
            <a:ext cx="216624" cy="223946"/>
          </a:xfrm>
          <a:prstGeom prst="rect">
            <a:avLst/>
          </a:prstGeom>
        </p:spPr>
      </p:pic>
      <p:pic>
        <p:nvPicPr>
          <p:cNvPr id="1174" name="picture 1174"/>
          <p:cNvPicPr>
            <a:picLocks noChangeAspect="1"/>
          </p:cNvPicPr>
          <p:nvPr/>
        </p:nvPicPr>
        <p:blipFill>
          <a:blip r:embed="rId3"/>
          <a:stretch>
            <a:fillRect/>
          </a:stretch>
        </p:blipFill>
        <p:spPr>
          <a:xfrm rot="21600000">
            <a:off x="349300" y="1643812"/>
            <a:ext cx="216407" cy="223723"/>
          </a:xfrm>
          <a:prstGeom prst="rect">
            <a:avLst/>
          </a:prstGeom>
        </p:spPr>
      </p:pic>
      <p:pic>
        <p:nvPicPr>
          <p:cNvPr id="1176" name="picture 1176"/>
          <p:cNvPicPr>
            <a:picLocks noChangeAspect="1"/>
          </p:cNvPicPr>
          <p:nvPr/>
        </p:nvPicPr>
        <p:blipFill>
          <a:blip r:embed="rId6"/>
          <a:stretch>
            <a:fillRect/>
          </a:stretch>
        </p:blipFill>
        <p:spPr>
          <a:xfrm rot="21600000">
            <a:off x="161544" y="6461759"/>
            <a:ext cx="11879580" cy="18288"/>
          </a:xfrm>
          <a:prstGeom prst="rect">
            <a:avLst/>
          </a:prstGeom>
        </p:spPr>
      </p:pic>
      <p:pic>
        <p:nvPicPr>
          <p:cNvPr id="1178" name="picture 1178"/>
          <p:cNvPicPr>
            <a:picLocks noChangeAspect="1"/>
          </p:cNvPicPr>
          <p:nvPr/>
        </p:nvPicPr>
        <p:blipFill>
          <a:blip r:embed="rId7"/>
          <a:stretch>
            <a:fillRect/>
          </a:stretch>
        </p:blipFill>
        <p:spPr>
          <a:xfrm rot="21600000">
            <a:off x="6444995" y="3040379"/>
            <a:ext cx="5747004" cy="3432048"/>
          </a:xfrm>
          <a:prstGeom prst="rect">
            <a:avLst/>
          </a:prstGeom>
        </p:spPr>
      </p:pic>
      <p:sp>
        <p:nvSpPr>
          <p:cNvPr id="1180" name="textbox 1180"/>
          <p:cNvSpPr/>
          <p:nvPr/>
        </p:nvSpPr>
        <p:spPr>
          <a:xfrm>
            <a:off x="433179" y="317074"/>
            <a:ext cx="7085965" cy="4368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5.4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VL</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2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Convergence</a:t>
            </a:r>
            <a:r>
              <a:rPr sz="2700" b="1" kern="0" spc="14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After</a:t>
            </a:r>
            <a:r>
              <a:rPr sz="2700" b="1" kern="0" spc="29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Link</a:t>
            </a:r>
            <a:r>
              <a:rPr sz="2700" b="1" kern="0" spc="270" dirty="0">
                <a:solidFill>
                  <a:srgbClr val="F2684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Failures</a:t>
            </a:r>
            <a:endParaRPr sz="2700" dirty="0">
              <a:latin typeface="微软雅黑" panose="020B0503020204020204" charset="-122"/>
              <a:ea typeface="微软雅黑" panose="020B0503020204020204" charset="-122"/>
              <a:cs typeface="微软雅黑" panose="020B0503020204020204" charset="-122"/>
            </a:endParaRPr>
          </a:p>
        </p:txBody>
      </p:sp>
      <p:sp>
        <p:nvSpPr>
          <p:cNvPr id="1182" name="textbox 1182"/>
          <p:cNvSpPr/>
          <p:nvPr/>
        </p:nvSpPr>
        <p:spPr>
          <a:xfrm>
            <a:off x="392728" y="950804"/>
            <a:ext cx="2153285" cy="40385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700" b="1" kern="0" spc="90" dirty="0">
                <a:solidFill>
                  <a:srgbClr val="4472C4">
                    <a:alpha val="100000"/>
                  </a:srgbClr>
                </a:solidFill>
                <a:latin typeface="微软雅黑" panose="020B0503020204020204" charset="-122"/>
                <a:ea typeface="微软雅黑" panose="020B0503020204020204" charset="-122"/>
                <a:cs typeface="微软雅黑" panose="020B0503020204020204" charset="-122"/>
              </a:rPr>
              <a:t>错误处理能力</a:t>
            </a:r>
            <a:endParaRPr sz="2700" dirty="0">
              <a:latin typeface="微软雅黑" panose="020B0503020204020204" charset="-122"/>
              <a:ea typeface="微软雅黑" panose="020B0503020204020204" charset="-122"/>
              <a:cs typeface="微软雅黑" panose="020B0503020204020204" charset="-122"/>
            </a:endParaRPr>
          </a:p>
        </p:txBody>
      </p:sp>
      <p:pic>
        <p:nvPicPr>
          <p:cNvPr id="1184" name="picture 1184"/>
          <p:cNvPicPr>
            <a:picLocks noChangeAspect="1"/>
          </p:cNvPicPr>
          <p:nvPr/>
        </p:nvPicPr>
        <p:blipFill>
          <a:blip r:embed="rId8"/>
          <a:stretch>
            <a:fillRect/>
          </a:stretch>
        </p:blipFill>
        <p:spPr>
          <a:xfrm rot="21600000">
            <a:off x="11338559" y="18288"/>
            <a:ext cx="720852" cy="719328"/>
          </a:xfrm>
          <a:prstGeom prst="rect">
            <a:avLst/>
          </a:prstGeom>
        </p:spPr>
      </p:pic>
      <p:pic>
        <p:nvPicPr>
          <p:cNvPr id="1186" name="picture 1186"/>
          <p:cNvPicPr>
            <a:picLocks noChangeAspect="1"/>
          </p:cNvPicPr>
          <p:nvPr/>
        </p:nvPicPr>
        <p:blipFill>
          <a:blip r:embed="rId9"/>
          <a:stretch>
            <a:fillRect/>
          </a:stretch>
        </p:blipFill>
        <p:spPr>
          <a:xfrm rot="21600000">
            <a:off x="155447" y="751332"/>
            <a:ext cx="11881104" cy="19811"/>
          </a:xfrm>
          <a:prstGeom prst="rect">
            <a:avLst/>
          </a:prstGeom>
        </p:spPr>
      </p:pic>
      <p:sp>
        <p:nvSpPr>
          <p:cNvPr id="1188" name="textbox 1188"/>
          <p:cNvSpPr/>
          <p:nvPr/>
        </p:nvSpPr>
        <p:spPr>
          <a:xfrm>
            <a:off x="11586758"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57</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0" name="picture 1190"/>
          <p:cNvPicPr>
            <a:picLocks noChangeAspect="1"/>
          </p:cNvPicPr>
          <p:nvPr/>
        </p:nvPicPr>
        <p:blipFill>
          <a:blip r:embed="rId1"/>
          <a:stretch>
            <a:fillRect/>
          </a:stretch>
        </p:blipFill>
        <p:spPr>
          <a:xfrm rot="21600000">
            <a:off x="161544" y="6461759"/>
            <a:ext cx="11879580" cy="18288"/>
          </a:xfrm>
          <a:prstGeom prst="rect">
            <a:avLst/>
          </a:prstGeom>
        </p:spPr>
      </p:pic>
      <p:pic>
        <p:nvPicPr>
          <p:cNvPr id="1192" name="picture 1192"/>
          <p:cNvPicPr>
            <a:picLocks noChangeAspect="1"/>
          </p:cNvPicPr>
          <p:nvPr/>
        </p:nvPicPr>
        <p:blipFill>
          <a:blip r:embed="rId2"/>
          <a:stretch>
            <a:fillRect/>
          </a:stretch>
        </p:blipFill>
        <p:spPr>
          <a:xfrm rot="21600000">
            <a:off x="0" y="3765803"/>
            <a:ext cx="12192000" cy="2750820"/>
          </a:xfrm>
          <a:prstGeom prst="rect">
            <a:avLst/>
          </a:prstGeom>
        </p:spPr>
      </p:pic>
      <p:sp>
        <p:nvSpPr>
          <p:cNvPr id="1194" name="textbox 1194"/>
          <p:cNvSpPr/>
          <p:nvPr/>
        </p:nvSpPr>
        <p:spPr>
          <a:xfrm>
            <a:off x="219709" y="1089914"/>
            <a:ext cx="11536680" cy="2352675"/>
          </a:xfrm>
          <a:prstGeom prst="roundRect">
            <a:avLst>
              <a:gd name="adj" fmla="val 7979"/>
            </a:avLst>
          </a:prstGeom>
          <a:noFill/>
          <a:ln w="25400" cap="flat">
            <a:solidFill>
              <a:srgbClr val="A5A5A5"/>
            </a:solidFill>
            <a:prstDash val="solid"/>
            <a:miter lim="0"/>
          </a:ln>
        </p:spPr>
        <p:txBody>
          <a:bodyPr vert="horz" wrap="square" lIns="0" tIns="0" rIns="0" bIns="0"/>
          <a:lstStyle/>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92100" algn="l" rtl="0" eaLnBrk="0">
              <a:lnSpc>
                <a:spcPct val="89000"/>
              </a:lnSpc>
              <a:tabLst>
                <a:tab pos="5080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目录服务器提供高带宽，低延迟的查询服务</a:t>
            </a:r>
            <a:endParaRPr sz="2400" dirty="0">
              <a:latin typeface="微软雅黑" panose="020B0503020204020204" charset="-122"/>
              <a:ea typeface="微软雅黑" panose="020B0503020204020204" charset="-122"/>
              <a:cs typeface="微软雅黑" panose="020B0503020204020204" charset="-122"/>
            </a:endParaRPr>
          </a:p>
          <a:p>
            <a:pPr marL="292100" algn="l" rtl="0" eaLnBrk="0">
              <a:lnSpc>
                <a:spcPct val="89000"/>
              </a:lnSpc>
              <a:spcBef>
                <a:spcPts val="1435"/>
              </a:spcBef>
              <a:tabLst>
                <a:tab pos="5080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目录系统处理更新的速度远快于现</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实网络发生变化的速度</a:t>
            </a:r>
            <a:endParaRPr sz="2400" dirty="0">
              <a:latin typeface="微软雅黑" panose="020B0503020204020204" charset="-122"/>
              <a:ea typeface="微软雅黑" panose="020B0503020204020204" charset="-122"/>
              <a:cs typeface="微软雅黑" panose="020B0503020204020204" charset="-122"/>
            </a:endParaRPr>
          </a:p>
          <a:p>
            <a:pPr marL="292100" algn="l" rtl="0" eaLnBrk="0">
              <a:lnSpc>
                <a:spcPct val="89000"/>
              </a:lnSpc>
              <a:spcBef>
                <a:spcPts val="1445"/>
              </a:spcBef>
              <a:tabLst>
                <a:tab pos="5080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扩展性良好：响应查询的速度随目录服务器数</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量线性增长</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8000"/>
              </a:lnSpc>
            </a:pPr>
            <a:endParaRPr sz="11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92100" algn="l" rtl="0" eaLnBrk="0">
              <a:lnSpc>
                <a:spcPct val="89000"/>
              </a:lnSpc>
              <a:tabLst>
                <a:tab pos="5080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目录系统对组件的故障鲁</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棒性良好</a:t>
            </a:r>
            <a:endParaRPr sz="2400" dirty="0">
              <a:latin typeface="微软雅黑" panose="020B0503020204020204" charset="-122"/>
              <a:ea typeface="微软雅黑" panose="020B0503020204020204" charset="-122"/>
              <a:cs typeface="微软雅黑" panose="020B0503020204020204" charset="-122"/>
            </a:endParaRPr>
          </a:p>
        </p:txBody>
      </p:sp>
      <p:pic>
        <p:nvPicPr>
          <p:cNvPr id="1196" name="picture 1196"/>
          <p:cNvPicPr>
            <a:picLocks noChangeAspect="1"/>
          </p:cNvPicPr>
          <p:nvPr/>
        </p:nvPicPr>
        <p:blipFill>
          <a:blip r:embed="rId3"/>
          <a:stretch>
            <a:fillRect/>
          </a:stretch>
        </p:blipFill>
        <p:spPr>
          <a:xfrm rot="21600000">
            <a:off x="567232" y="2906826"/>
            <a:ext cx="216408" cy="223723"/>
          </a:xfrm>
          <a:prstGeom prst="rect">
            <a:avLst/>
          </a:prstGeom>
        </p:spPr>
      </p:pic>
      <p:pic>
        <p:nvPicPr>
          <p:cNvPr id="1198" name="picture 1198"/>
          <p:cNvPicPr>
            <a:picLocks noChangeAspect="1"/>
          </p:cNvPicPr>
          <p:nvPr/>
        </p:nvPicPr>
        <p:blipFill>
          <a:blip r:embed="rId4"/>
          <a:stretch>
            <a:fillRect/>
          </a:stretch>
        </p:blipFill>
        <p:spPr>
          <a:xfrm rot="21600000">
            <a:off x="567232" y="2399334"/>
            <a:ext cx="216408" cy="223723"/>
          </a:xfrm>
          <a:prstGeom prst="rect">
            <a:avLst/>
          </a:prstGeom>
        </p:spPr>
      </p:pic>
      <p:pic>
        <p:nvPicPr>
          <p:cNvPr id="1200" name="picture 1200"/>
          <p:cNvPicPr>
            <a:picLocks noChangeAspect="1"/>
          </p:cNvPicPr>
          <p:nvPr/>
        </p:nvPicPr>
        <p:blipFill>
          <a:blip r:embed="rId5"/>
          <a:stretch>
            <a:fillRect/>
          </a:stretch>
        </p:blipFill>
        <p:spPr>
          <a:xfrm rot="21600000">
            <a:off x="567258" y="1889841"/>
            <a:ext cx="216624" cy="223946"/>
          </a:xfrm>
          <a:prstGeom prst="rect">
            <a:avLst/>
          </a:prstGeom>
        </p:spPr>
      </p:pic>
      <p:pic>
        <p:nvPicPr>
          <p:cNvPr id="1202" name="picture 1202"/>
          <p:cNvPicPr>
            <a:picLocks noChangeAspect="1"/>
          </p:cNvPicPr>
          <p:nvPr/>
        </p:nvPicPr>
        <p:blipFill>
          <a:blip r:embed="rId3"/>
          <a:stretch>
            <a:fillRect/>
          </a:stretch>
        </p:blipFill>
        <p:spPr>
          <a:xfrm rot="21600000">
            <a:off x="567232" y="1382572"/>
            <a:ext cx="216408" cy="223723"/>
          </a:xfrm>
          <a:prstGeom prst="rect">
            <a:avLst/>
          </a:prstGeom>
        </p:spPr>
      </p:pic>
      <p:sp>
        <p:nvSpPr>
          <p:cNvPr id="1204" name="textbox 1204"/>
          <p:cNvSpPr/>
          <p:nvPr/>
        </p:nvSpPr>
        <p:spPr>
          <a:xfrm>
            <a:off x="142747" y="317074"/>
            <a:ext cx="11906884" cy="44958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00000"/>
              </a:lnSpc>
              <a:tabLst>
                <a:tab pos="302895" algn="l"/>
                <a:tab pos="11893550" algn="l"/>
              </a:tabLst>
            </a:pPr>
            <a:r>
              <a:rPr sz="2700" b="1" u="sng" kern="0" spc="0" dirty="0">
                <a:solidFill>
                  <a:srgbClr val="F26849">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	</a:t>
            </a:r>
            <a:r>
              <a:rPr sz="2700" b="1" u="sng" kern="0" spc="250" dirty="0">
                <a:solidFill>
                  <a:srgbClr val="F26849">
                    <a:alpha val="100000"/>
                  </a:srgbClr>
                </a:solidFill>
                <a:latin typeface="微软雅黑" panose="020B0503020204020204" charset="-122"/>
                <a:ea typeface="微软雅黑" panose="020B0503020204020204" charset="-122"/>
                <a:cs typeface="微软雅黑" panose="020B0503020204020204" charset="-122"/>
              </a:rPr>
              <a:t>5.5</a:t>
            </a:r>
            <a:r>
              <a:rPr sz="2700" b="1" u="sng" kern="0" spc="310" dirty="0">
                <a:solidFill>
                  <a:srgbClr val="F26849">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 </a:t>
            </a:r>
            <a:r>
              <a:rPr sz="2700" b="1" u="sng"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Directory</a:t>
            </a:r>
            <a:r>
              <a:rPr sz="2700" b="1" u="sng" kern="0" spc="250" dirty="0">
                <a:solidFill>
                  <a:srgbClr val="F26849">
                    <a:alpha val="100000"/>
                  </a:srgbClr>
                </a:solidFill>
                <a:latin typeface="微软雅黑" panose="020B0503020204020204" charset="-122"/>
                <a:ea typeface="微软雅黑" panose="020B0503020204020204" charset="-122"/>
                <a:cs typeface="微软雅黑" panose="020B0503020204020204" charset="-122"/>
              </a:rPr>
              <a:t>-</a:t>
            </a:r>
            <a:r>
              <a:rPr sz="2700" b="1" u="sng"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system</a:t>
            </a:r>
            <a:r>
              <a:rPr sz="2700" b="1" u="sng" kern="0" spc="280" dirty="0">
                <a:solidFill>
                  <a:srgbClr val="F26849">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 </a:t>
            </a:r>
            <a:r>
              <a:rPr sz="2700" b="1" u="sng" kern="0" spc="0" dirty="0">
                <a:solidFill>
                  <a:srgbClr val="F26849">
                    <a:alpha val="100000"/>
                  </a:srgbClr>
                </a:solidFill>
                <a:latin typeface="微软雅黑" panose="020B0503020204020204" charset="-122"/>
                <a:ea typeface="微软雅黑" panose="020B0503020204020204" charset="-122"/>
                <a:cs typeface="微软雅黑" panose="020B0503020204020204" charset="-122"/>
              </a:rPr>
              <a:t>performance</a:t>
            </a:r>
            <a:r>
              <a:rPr sz="2700" b="1" u="sng" kern="0" spc="0" dirty="0">
                <a:solidFill>
                  <a:srgbClr val="F26849">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	</a:t>
            </a:r>
            <a:endParaRPr sz="2700" dirty="0">
              <a:latin typeface="微软雅黑" panose="020B0503020204020204" charset="-122"/>
              <a:ea typeface="微软雅黑" panose="020B0503020204020204" charset="-122"/>
              <a:cs typeface="微软雅黑" panose="020B0503020204020204" charset="-122"/>
            </a:endParaRPr>
          </a:p>
        </p:txBody>
      </p:sp>
      <p:pic>
        <p:nvPicPr>
          <p:cNvPr id="1206" name="picture 1206"/>
          <p:cNvPicPr>
            <a:picLocks noChangeAspect="1"/>
          </p:cNvPicPr>
          <p:nvPr/>
        </p:nvPicPr>
        <p:blipFill>
          <a:blip r:embed="rId6"/>
          <a:stretch>
            <a:fillRect/>
          </a:stretch>
        </p:blipFill>
        <p:spPr>
          <a:xfrm rot="21600000">
            <a:off x="11338559" y="18288"/>
            <a:ext cx="720852" cy="719328"/>
          </a:xfrm>
          <a:prstGeom prst="rect">
            <a:avLst/>
          </a:prstGeom>
        </p:spPr>
      </p:pic>
      <p:sp>
        <p:nvSpPr>
          <p:cNvPr id="1208" name="textbox 1208"/>
          <p:cNvSpPr/>
          <p:nvPr/>
        </p:nvSpPr>
        <p:spPr>
          <a:xfrm>
            <a:off x="11586758" y="6559321"/>
            <a:ext cx="246379"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58</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0" name="rect 1210"/>
          <p:cNvSpPr/>
          <p:nvPr/>
        </p:nvSpPr>
        <p:spPr>
          <a:xfrm>
            <a:off x="0" y="0"/>
            <a:ext cx="12192000" cy="6857998"/>
          </a:xfrm>
          <a:prstGeom prst="rect">
            <a:avLst/>
          </a:prstGeom>
          <a:solidFill>
            <a:srgbClr val="F7F7F7">
              <a:alpha val="39607"/>
            </a:srgbClr>
          </a:solidFill>
          <a:ln w="0" cap="flat">
            <a:noFill/>
            <a:prstDash val="solid"/>
            <a:miter lim="0"/>
          </a:ln>
        </p:spPr>
        <p:txBody>
          <a:bodyPr rtlCol="0"/>
          <a:lstStyle/>
          <a:p>
            <a:pPr algn="ctr"/>
            <a:endParaRPr lang="zh-CN" altLang="en-US"/>
          </a:p>
        </p:txBody>
      </p:sp>
      <p:sp>
        <p:nvSpPr>
          <p:cNvPr id="1212" name="textbox 1212"/>
          <p:cNvSpPr/>
          <p:nvPr/>
        </p:nvSpPr>
        <p:spPr>
          <a:xfrm>
            <a:off x="2935602" y="1210310"/>
            <a:ext cx="6261100" cy="389699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2423160" algn="l" rtl="0" eaLnBrk="0">
              <a:lnSpc>
                <a:spcPct val="84000"/>
              </a:lnSpc>
            </a:pPr>
            <a:r>
              <a:rPr sz="3200" b="1" kern="0" spc="-20" dirty="0">
                <a:solidFill>
                  <a:srgbClr val="2F5EB0">
                    <a:alpha val="100000"/>
                  </a:srgbClr>
                </a:solidFill>
                <a:latin typeface="微软雅黑" panose="020B0503020204020204" charset="-122"/>
                <a:ea typeface="微软雅黑" panose="020B0503020204020204" charset="-122"/>
                <a:cs typeface="微软雅黑" panose="020B0503020204020204" charset="-122"/>
              </a:rPr>
              <a:t>Outline</a:t>
            </a:r>
            <a:endParaRPr sz="3200" dirty="0">
              <a:latin typeface="微软雅黑" panose="020B0503020204020204" charset="-122"/>
              <a:ea typeface="微软雅黑" panose="020B0503020204020204" charset="-122"/>
              <a:cs typeface="微软雅黑" panose="020B0503020204020204" charset="-122"/>
            </a:endParaRPr>
          </a:p>
          <a:p>
            <a:pPr marL="41275" algn="l" rtl="0" eaLnBrk="0">
              <a:lnSpc>
                <a:spcPct val="92000"/>
              </a:lnSpc>
              <a:spcBef>
                <a:spcPts val="1720"/>
              </a:spcBef>
            </a:pPr>
            <a:r>
              <a:rPr sz="2700" b="1" kern="0" spc="50" dirty="0">
                <a:solidFill>
                  <a:srgbClr val="D9D9D9">
                    <a:alpha val="100000"/>
                  </a:srgbClr>
                </a:solidFill>
                <a:latin typeface="微软雅黑" panose="020B0503020204020204" charset="-122"/>
                <a:ea typeface="微软雅黑" panose="020B0503020204020204" charset="-122"/>
                <a:cs typeface="微软雅黑" panose="020B0503020204020204" charset="-122"/>
              </a:rPr>
              <a:t>I.</a:t>
            </a:r>
            <a:r>
              <a:rPr sz="2700" b="1" kern="0" spc="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Introduction</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58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a:t>
            </a:r>
            <a:r>
              <a:rPr sz="2700" b="1" kern="0" spc="80" dirty="0">
                <a:solidFill>
                  <a:srgbClr val="D9D9D9">
                    <a:alpha val="100000"/>
                  </a:srgbClr>
                </a:solidFill>
                <a:latin typeface="微软雅黑" panose="020B0503020204020204" charset="-122"/>
                <a:ea typeface="微软雅黑" panose="020B0503020204020204" charset="-122"/>
                <a:cs typeface="微软雅黑" panose="020B0503020204020204" charset="-122"/>
              </a:rPr>
              <a:t>.</a:t>
            </a: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Background</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III</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Measurements</a:t>
            </a:r>
            <a:r>
              <a:rPr sz="2700" b="1" kern="0" spc="130" dirty="0">
                <a:solidFill>
                  <a:srgbClr val="D9D9D9">
                    <a:alpha val="100000"/>
                  </a:srgbClr>
                </a:solidFill>
                <a:latin typeface="微软雅黑" panose="020B0503020204020204" charset="-122"/>
                <a:ea typeface="微软雅黑" panose="020B0503020204020204" charset="-122"/>
                <a:cs typeface="微软雅黑" panose="020B0503020204020204" charset="-122"/>
              </a:rPr>
              <a:t> &amp;</a:t>
            </a:r>
            <a:r>
              <a:rPr sz="2700" b="1" kern="0" spc="30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Implications</a:t>
            </a:r>
            <a:endParaRPr sz="2700" dirty="0">
              <a:latin typeface="微软雅黑" panose="020B0503020204020204" charset="-122"/>
              <a:ea typeface="微软雅黑" panose="020B0503020204020204" charset="-122"/>
              <a:cs typeface="微软雅黑" panose="020B0503020204020204" charset="-122"/>
            </a:endParaRPr>
          </a:p>
          <a:p>
            <a:pPr marL="41275" algn="l" rtl="0" eaLnBrk="0">
              <a:lnSpc>
                <a:spcPct val="100000"/>
              </a:lnSpc>
              <a:spcBef>
                <a:spcPts val="1320"/>
              </a:spcBef>
            </a:pP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IV.</a:t>
            </a:r>
            <a:r>
              <a:rPr sz="2700" b="1" kern="0" spc="22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Virtual</a:t>
            </a:r>
            <a:r>
              <a:rPr sz="2700" b="1" kern="0" spc="29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Layer Two</a:t>
            </a:r>
            <a:r>
              <a:rPr sz="2700" b="1" kern="0" spc="270" dirty="0">
                <a:solidFill>
                  <a:srgbClr val="D9D9D9">
                    <a:alpha val="100000"/>
                  </a:srgbClr>
                </a:solidFill>
                <a:latin typeface="微软雅黑" panose="020B0503020204020204" charset="-122"/>
                <a:ea typeface="微软雅黑" panose="020B0503020204020204" charset="-122"/>
                <a:cs typeface="微软雅黑" panose="020B0503020204020204" charset="-122"/>
              </a:rPr>
              <a:t> </a:t>
            </a:r>
            <a:r>
              <a:rPr sz="2700" b="1" kern="0" spc="20" dirty="0">
                <a:solidFill>
                  <a:srgbClr val="D9D9D9">
                    <a:alpha val="100000"/>
                  </a:srgbClr>
                </a:solidFill>
                <a:latin typeface="微软雅黑" panose="020B0503020204020204" charset="-122"/>
                <a:ea typeface="微软雅黑" panose="020B0503020204020204" charset="-122"/>
                <a:cs typeface="微软雅黑" panose="020B0503020204020204" charset="-122"/>
              </a:rPr>
              <a:t>Networking</a:t>
            </a:r>
            <a:endParaRPr sz="2700" dirty="0">
              <a:latin typeface="微软雅黑" panose="020B0503020204020204" charset="-122"/>
              <a:ea typeface="微软雅黑" panose="020B0503020204020204" charset="-122"/>
              <a:cs typeface="微软雅黑" panose="020B0503020204020204" charset="-122"/>
            </a:endParaRPr>
          </a:p>
          <a:p>
            <a:pPr marL="12700" algn="l" rtl="0" eaLnBrk="0">
              <a:lnSpc>
                <a:spcPct val="84000"/>
              </a:lnSpc>
              <a:spcBef>
                <a:spcPts val="1360"/>
              </a:spcBef>
            </a:pPr>
            <a:r>
              <a:rPr sz="2700" b="1" kern="0" spc="60" dirty="0">
                <a:solidFill>
                  <a:srgbClr val="D9D9D9">
                    <a:alpha val="100000"/>
                  </a:srgbClr>
                </a:solidFill>
                <a:latin typeface="微软雅黑" panose="020B0503020204020204" charset="-122"/>
                <a:ea typeface="微软雅黑" panose="020B0503020204020204" charset="-122"/>
                <a:cs typeface="微软雅黑" panose="020B0503020204020204" charset="-122"/>
              </a:rPr>
              <a:t>V.     </a:t>
            </a:r>
            <a:r>
              <a:rPr sz="2700" b="1" kern="0" spc="0" dirty="0">
                <a:solidFill>
                  <a:srgbClr val="D9D9D9">
                    <a:alpha val="100000"/>
                  </a:srgbClr>
                </a:solidFill>
                <a:latin typeface="微软雅黑" panose="020B0503020204020204" charset="-122"/>
                <a:ea typeface="微软雅黑" panose="020B0503020204020204" charset="-122"/>
                <a:cs typeface="微软雅黑" panose="020B0503020204020204" charset="-122"/>
              </a:rPr>
              <a:t>Evaluation</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5"/>
              </a:spcBef>
            </a:pP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VI</a:t>
            </a:r>
            <a:r>
              <a:rPr sz="2700" b="1" kern="0" spc="3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27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Review</a:t>
            </a:r>
            <a:endParaRPr sz="2700" dirty="0">
              <a:latin typeface="微软雅黑" panose="020B0503020204020204" charset="-122"/>
              <a:ea typeface="微软雅黑" panose="020B0503020204020204" charset="-122"/>
              <a:cs typeface="微软雅黑" panose="020B0503020204020204" charset="-122"/>
            </a:endParaRPr>
          </a:p>
        </p:txBody>
      </p:sp>
      <p:pic>
        <p:nvPicPr>
          <p:cNvPr id="1214" name="picture 1214"/>
          <p:cNvPicPr>
            <a:picLocks noChangeAspect="1"/>
          </p:cNvPicPr>
          <p:nvPr/>
        </p:nvPicPr>
        <p:blipFill>
          <a:blip r:embed="rId1"/>
          <a:stretch>
            <a:fillRect/>
          </a:stretch>
        </p:blipFill>
        <p:spPr>
          <a:xfrm rot="21600000">
            <a:off x="0" y="0"/>
            <a:ext cx="12192000" cy="288035"/>
          </a:xfrm>
          <a:prstGeom prst="rect">
            <a:avLst/>
          </a:prstGeom>
        </p:spPr>
      </p:pic>
      <p:pic>
        <p:nvPicPr>
          <p:cNvPr id="1216" name="picture 1216"/>
          <p:cNvPicPr>
            <a:picLocks noChangeAspect="1"/>
          </p:cNvPicPr>
          <p:nvPr/>
        </p:nvPicPr>
        <p:blipFill>
          <a:blip r:embed="rId2"/>
          <a:stretch>
            <a:fillRect/>
          </a:stretch>
        </p:blipFill>
        <p:spPr>
          <a:xfrm rot="21600000">
            <a:off x="0" y="6669023"/>
            <a:ext cx="12191999" cy="3505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 name="textbox 1218"/>
          <p:cNvSpPr/>
          <p:nvPr/>
        </p:nvSpPr>
        <p:spPr>
          <a:xfrm>
            <a:off x="219709" y="1740661"/>
            <a:ext cx="11536680" cy="3372484"/>
          </a:xfrm>
          <a:prstGeom prst="roundRect">
            <a:avLst>
              <a:gd name="adj" fmla="val 7678"/>
            </a:avLst>
          </a:prstGeom>
          <a:noFill/>
          <a:ln w="25400" cap="flat">
            <a:solidFill>
              <a:srgbClr val="A5A5A5"/>
            </a:solidFill>
            <a:prstDash val="solid"/>
            <a:miter lim="0"/>
          </a:ln>
        </p:spPr>
        <p:txBody>
          <a:bodyPr vert="horz" wrap="square" lIns="0" tIns="0" rIns="0" bIns="0"/>
          <a:lstStyle/>
          <a:p>
            <a:pPr algn="l" rtl="0" eaLnBrk="0">
              <a:lnSpc>
                <a:spcPct val="161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50190" algn="l" rtl="0" eaLnBrk="0">
              <a:lnSpc>
                <a:spcPct val="92000"/>
              </a:lnSpc>
            </a:pPr>
            <a:r>
              <a:rPr sz="2700" b="1" kern="0" spc="80" dirty="0">
                <a:solidFill>
                  <a:srgbClr val="4472C4">
                    <a:alpha val="100000"/>
                  </a:srgbClr>
                </a:solidFill>
                <a:latin typeface="微软雅黑" panose="020B0503020204020204" charset="-122"/>
                <a:ea typeface="微软雅黑" panose="020B0503020204020204" charset="-122"/>
                <a:cs typeface="微软雅黑" panose="020B0503020204020204" charset="-122"/>
              </a:rPr>
              <a:t>核心目标</a:t>
            </a:r>
            <a:endParaRPr sz="2700" dirty="0">
              <a:latin typeface="微软雅黑" panose="020B0503020204020204" charset="-122"/>
              <a:ea typeface="微软雅黑" panose="020B0503020204020204" charset="-122"/>
              <a:cs typeface="微软雅黑" panose="020B0503020204020204" charset="-122"/>
            </a:endParaRPr>
          </a:p>
          <a:p>
            <a:pPr marL="275590" algn="l" rtl="0" eaLnBrk="0">
              <a:lnSpc>
                <a:spcPct val="100000"/>
              </a:lnSpc>
              <a:spcBef>
                <a:spcPts val="1615"/>
              </a:spcBef>
              <a:tabLst>
                <a:tab pos="527050"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实现数据中心的敏捷性（</a:t>
            </a: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Agility</a:t>
            </a:r>
            <a:r>
              <a:rPr sz="27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7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7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支持任意服务器分</a:t>
            </a:r>
            <a:r>
              <a:rPr sz="2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配给任意服务</a:t>
            </a:r>
            <a:endParaRPr sz="2700" dirty="0">
              <a:latin typeface="微软雅黑" panose="020B0503020204020204" charset="-122"/>
              <a:ea typeface="微软雅黑" panose="020B0503020204020204" charset="-122"/>
              <a:cs typeface="微软雅黑" panose="020B0503020204020204" charset="-122"/>
            </a:endParaRPr>
          </a:p>
          <a:p>
            <a:pPr marL="275590" algn="l" rtl="0" eaLnBrk="0">
              <a:lnSpc>
                <a:spcPct val="92000"/>
              </a:lnSpc>
              <a:spcBef>
                <a:spcPts val="1370"/>
              </a:spcBef>
              <a:tabLst>
                <a:tab pos="527050"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提供统一高带宽：服务器间通信速率仅受限于网卡，而</a:t>
            </a:r>
            <a:r>
              <a:rPr sz="2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非网络瓶颈</a:t>
            </a:r>
            <a:endParaRPr sz="2700" dirty="0">
              <a:latin typeface="微软雅黑" panose="020B0503020204020204" charset="-122"/>
              <a:ea typeface="微软雅黑" panose="020B0503020204020204" charset="-122"/>
              <a:cs typeface="微软雅黑" panose="020B0503020204020204" charset="-122"/>
            </a:endParaRPr>
          </a:p>
          <a:p>
            <a:pPr marL="275590" algn="l" rtl="0" eaLnBrk="0">
              <a:lnSpc>
                <a:spcPct val="92000"/>
              </a:lnSpc>
              <a:spcBef>
                <a:spcPts val="1615"/>
              </a:spcBef>
              <a:tabLst>
                <a:tab pos="527050"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性能隔离：服务之间互不干扰，像连接在独立</a:t>
            </a:r>
            <a:r>
              <a:rPr sz="2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交换机上</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3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75590" algn="l" rtl="0" eaLnBrk="0">
              <a:lnSpc>
                <a:spcPct val="92000"/>
              </a:lnSpc>
              <a:tabLst>
                <a:tab pos="527050"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保持L2语义：支持</a:t>
            </a: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VM</a:t>
            </a:r>
            <a:r>
              <a:rPr sz="27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热迁移、</a:t>
            </a:r>
            <a:r>
              <a:rPr sz="2700"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ARP</a:t>
            </a:r>
            <a:r>
              <a:rPr sz="27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、广播等，兼容传统应用</a:t>
            </a:r>
            <a:endParaRPr sz="2700" dirty="0">
              <a:latin typeface="微软雅黑" panose="020B0503020204020204" charset="-122"/>
              <a:ea typeface="微软雅黑" panose="020B0503020204020204" charset="-122"/>
              <a:cs typeface="微软雅黑" panose="020B0503020204020204" charset="-122"/>
            </a:endParaRPr>
          </a:p>
        </p:txBody>
      </p:sp>
      <p:pic>
        <p:nvPicPr>
          <p:cNvPr id="1220" name="picture 1220"/>
          <p:cNvPicPr>
            <a:picLocks noChangeAspect="1"/>
          </p:cNvPicPr>
          <p:nvPr/>
        </p:nvPicPr>
        <p:blipFill>
          <a:blip r:embed="rId1"/>
          <a:stretch>
            <a:fillRect/>
          </a:stretch>
        </p:blipFill>
        <p:spPr>
          <a:xfrm rot="21600000">
            <a:off x="571457" y="4427821"/>
            <a:ext cx="252115" cy="260637"/>
          </a:xfrm>
          <a:prstGeom prst="rect">
            <a:avLst/>
          </a:prstGeom>
        </p:spPr>
      </p:pic>
      <p:pic>
        <p:nvPicPr>
          <p:cNvPr id="1222" name="picture 1222"/>
          <p:cNvPicPr>
            <a:picLocks noChangeAspect="1"/>
          </p:cNvPicPr>
          <p:nvPr/>
        </p:nvPicPr>
        <p:blipFill>
          <a:blip r:embed="rId2"/>
          <a:stretch>
            <a:fillRect/>
          </a:stretch>
        </p:blipFill>
        <p:spPr>
          <a:xfrm rot="21600000">
            <a:off x="571482" y="3843524"/>
            <a:ext cx="252331" cy="260861"/>
          </a:xfrm>
          <a:prstGeom prst="rect">
            <a:avLst/>
          </a:prstGeom>
        </p:spPr>
      </p:pic>
      <p:pic>
        <p:nvPicPr>
          <p:cNvPr id="1224" name="picture 1224"/>
          <p:cNvPicPr>
            <a:picLocks noChangeAspect="1"/>
          </p:cNvPicPr>
          <p:nvPr/>
        </p:nvPicPr>
        <p:blipFill>
          <a:blip r:embed="rId3"/>
          <a:stretch>
            <a:fillRect/>
          </a:stretch>
        </p:blipFill>
        <p:spPr>
          <a:xfrm rot="21600000">
            <a:off x="571457" y="3260056"/>
            <a:ext cx="252115" cy="260637"/>
          </a:xfrm>
          <a:prstGeom prst="rect">
            <a:avLst/>
          </a:prstGeom>
        </p:spPr>
      </p:pic>
      <p:pic>
        <p:nvPicPr>
          <p:cNvPr id="1226" name="picture 1226"/>
          <p:cNvPicPr>
            <a:picLocks noChangeAspect="1"/>
          </p:cNvPicPr>
          <p:nvPr/>
        </p:nvPicPr>
        <p:blipFill>
          <a:blip r:embed="rId4"/>
          <a:stretch>
            <a:fillRect/>
          </a:stretch>
        </p:blipFill>
        <p:spPr>
          <a:xfrm rot="21600000">
            <a:off x="571482" y="2674363"/>
            <a:ext cx="252331" cy="260861"/>
          </a:xfrm>
          <a:prstGeom prst="rect">
            <a:avLst/>
          </a:prstGeom>
        </p:spPr>
      </p:pic>
      <p:sp>
        <p:nvSpPr>
          <p:cNvPr id="1228" name="textbox 1228"/>
          <p:cNvSpPr/>
          <p:nvPr/>
        </p:nvSpPr>
        <p:spPr>
          <a:xfrm>
            <a:off x="263709" y="127150"/>
            <a:ext cx="1789429" cy="52260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4000"/>
              </a:lnSpc>
            </a:pPr>
            <a:r>
              <a:rPr sz="3900" b="1" kern="0" spc="-30" dirty="0">
                <a:solidFill>
                  <a:srgbClr val="F26849">
                    <a:alpha val="100000"/>
                  </a:srgbClr>
                </a:solidFill>
                <a:latin typeface="微软雅黑" panose="020B0503020204020204" charset="-122"/>
                <a:ea typeface="微软雅黑" panose="020B0503020204020204" charset="-122"/>
                <a:cs typeface="微软雅黑" panose="020B0503020204020204" charset="-122"/>
              </a:rPr>
              <a:t>Review</a:t>
            </a:r>
            <a:endParaRPr sz="3900" dirty="0">
              <a:latin typeface="微软雅黑" panose="020B0503020204020204" charset="-122"/>
              <a:ea typeface="微软雅黑" panose="020B0503020204020204" charset="-122"/>
              <a:cs typeface="微软雅黑" panose="020B0503020204020204" charset="-122"/>
            </a:endParaRPr>
          </a:p>
        </p:txBody>
      </p:sp>
      <p:pic>
        <p:nvPicPr>
          <p:cNvPr id="1230" name="picture 1230"/>
          <p:cNvPicPr>
            <a:picLocks noChangeAspect="1"/>
          </p:cNvPicPr>
          <p:nvPr/>
        </p:nvPicPr>
        <p:blipFill>
          <a:blip r:embed="rId5"/>
          <a:stretch>
            <a:fillRect/>
          </a:stretch>
        </p:blipFill>
        <p:spPr>
          <a:xfrm rot="21600000">
            <a:off x="11338559" y="18288"/>
            <a:ext cx="720852" cy="719328"/>
          </a:xfrm>
          <a:prstGeom prst="rect">
            <a:avLst/>
          </a:prstGeom>
        </p:spPr>
      </p:pic>
      <p:pic>
        <p:nvPicPr>
          <p:cNvPr id="1232" name="picture 1232"/>
          <p:cNvPicPr>
            <a:picLocks noChangeAspect="1"/>
          </p:cNvPicPr>
          <p:nvPr/>
        </p:nvPicPr>
        <p:blipFill>
          <a:blip r:embed="rId6"/>
          <a:stretch>
            <a:fillRect/>
          </a:stretch>
        </p:blipFill>
        <p:spPr>
          <a:xfrm rot="21600000">
            <a:off x="155447" y="751332"/>
            <a:ext cx="11881104" cy="19811"/>
          </a:xfrm>
          <a:prstGeom prst="rect">
            <a:avLst/>
          </a:prstGeom>
        </p:spPr>
      </p:pic>
      <p:pic>
        <p:nvPicPr>
          <p:cNvPr id="1234" name="picture 1234"/>
          <p:cNvPicPr>
            <a:picLocks noChangeAspect="1"/>
          </p:cNvPicPr>
          <p:nvPr/>
        </p:nvPicPr>
        <p:blipFill>
          <a:blip r:embed="rId7"/>
          <a:stretch>
            <a:fillRect/>
          </a:stretch>
        </p:blipFill>
        <p:spPr>
          <a:xfrm rot="21600000">
            <a:off x="161544" y="6461759"/>
            <a:ext cx="11879580" cy="18288"/>
          </a:xfrm>
          <a:prstGeom prst="rect">
            <a:avLst/>
          </a:prstGeom>
        </p:spPr>
      </p:pic>
      <p:sp>
        <p:nvSpPr>
          <p:cNvPr id="1236" name="textbox 1236"/>
          <p:cNvSpPr/>
          <p:nvPr/>
        </p:nvSpPr>
        <p:spPr>
          <a:xfrm>
            <a:off x="11587445" y="6559321"/>
            <a:ext cx="24574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60</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 name="textbox 1238"/>
          <p:cNvSpPr/>
          <p:nvPr/>
        </p:nvSpPr>
        <p:spPr>
          <a:xfrm>
            <a:off x="219709" y="1271270"/>
            <a:ext cx="11536680" cy="4317365"/>
          </a:xfrm>
          <a:prstGeom prst="roundRect">
            <a:avLst>
              <a:gd name="adj" fmla="val 7525"/>
            </a:avLst>
          </a:prstGeom>
          <a:noFill/>
          <a:ln w="25400" cap="flat">
            <a:solidFill>
              <a:srgbClr val="A5A5A5"/>
            </a:solidFill>
            <a:prstDash val="solid"/>
            <a:miter lim="0"/>
          </a:ln>
        </p:spPr>
        <p:txBody>
          <a:bodyPr vert="horz" wrap="square" lIns="0" tIns="0" rIns="0" bIns="0"/>
          <a:lstStyle/>
          <a:p>
            <a:pPr algn="l" rtl="0" eaLnBrk="0">
              <a:lnSpc>
                <a:spcPct val="115000"/>
              </a:lnSpc>
            </a:pPr>
            <a:endParaRPr sz="400" dirty="0">
              <a:latin typeface="Arial" panose="020B0604020202020204"/>
              <a:ea typeface="Arial" panose="020B0604020202020204"/>
              <a:cs typeface="Arial" panose="020B0604020202020204"/>
            </a:endParaRPr>
          </a:p>
          <a:p>
            <a:pPr marL="232410" algn="l" rtl="0" eaLnBrk="0">
              <a:lnSpc>
                <a:spcPct val="89000"/>
              </a:lnSpc>
              <a:spcBef>
                <a:spcPts val="0"/>
              </a:spcBef>
            </a:pPr>
            <a:r>
              <a:rPr sz="32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关键设计</a:t>
            </a:r>
            <a:endParaRPr sz="3200" dirty="0">
              <a:latin typeface="微软雅黑" panose="020B0503020204020204" charset="-122"/>
              <a:ea typeface="微软雅黑" panose="020B0503020204020204" charset="-122"/>
              <a:cs typeface="微软雅黑" panose="020B0503020204020204" charset="-122"/>
            </a:endParaRPr>
          </a:p>
          <a:p>
            <a:pPr marL="252095" algn="l" rtl="0" eaLnBrk="0">
              <a:lnSpc>
                <a:spcPct val="89000"/>
              </a:lnSpc>
              <a:spcBef>
                <a:spcPts val="1830"/>
              </a:spcBef>
              <a:tabLst>
                <a:tab pos="4686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Scale-out</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拓扑（Clos/Fat-tree）</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marL="709295" algn="l" rtl="0" eaLnBrk="0">
              <a:lnSpc>
                <a:spcPct val="89000"/>
              </a:lnSpc>
              <a:spcBef>
                <a:spcPts val="725"/>
              </a:spcBef>
              <a:tabLst>
                <a:tab pos="9258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使用大量廉价交换机构建高带宽、无阻塞网络。</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0000"/>
              </a:lnSpc>
            </a:pPr>
            <a:endParaRPr sz="1000" dirty="0">
              <a:latin typeface="Arial" panose="020B0604020202020204"/>
              <a:ea typeface="Arial" panose="020B0604020202020204"/>
              <a:cs typeface="Arial" panose="020B0604020202020204"/>
            </a:endParaRPr>
          </a:p>
          <a:p>
            <a:pPr marL="709295" algn="l" rtl="0" eaLnBrk="0">
              <a:lnSpc>
                <a:spcPct val="89000"/>
              </a:lnSpc>
              <a:spcBef>
                <a:spcPts val="725"/>
              </a:spcBef>
              <a:tabLst>
                <a:tab pos="9258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多路径容错，链路故障时带宽优雅</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降级。</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marL="252095" algn="l" rtl="0" eaLnBrk="0">
              <a:lnSpc>
                <a:spcPct val="100000"/>
              </a:lnSpc>
              <a:spcBef>
                <a:spcPts val="725"/>
              </a:spcBef>
              <a:tabLst>
                <a:tab pos="4686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Valiant</a:t>
            </a:r>
            <a:r>
              <a:rPr sz="24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Load</a:t>
            </a:r>
            <a:r>
              <a:rPr sz="24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Balancing</a:t>
            </a:r>
            <a:r>
              <a:rPr sz="2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(VLB)</a:t>
            </a:r>
            <a:endParaRPr sz="2400" dirty="0">
              <a:latin typeface="微软雅黑" panose="020B0503020204020204" charset="-122"/>
              <a:ea typeface="微软雅黑" panose="020B0503020204020204" charset="-122"/>
              <a:cs typeface="微软雅黑" panose="020B0503020204020204" charset="-122"/>
            </a:endParaRPr>
          </a:p>
          <a:p>
            <a:pPr marL="709295" algn="l" rtl="0" eaLnBrk="0">
              <a:lnSpc>
                <a:spcPct val="89000"/>
              </a:lnSpc>
              <a:spcBef>
                <a:spcPts val="1720"/>
              </a:spcBef>
              <a:tabLst>
                <a:tab pos="9258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每个流随机选择中间交换机转发，避免</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热点。</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709295" algn="l" rtl="0" eaLnBrk="0">
              <a:lnSpc>
                <a:spcPct val="89000"/>
              </a:lnSpc>
              <a:spcBef>
                <a:spcPts val="5"/>
              </a:spcBef>
              <a:tabLst>
                <a:tab pos="9258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基于流级别（flow-level）而非包级别，避免乱序。</a:t>
            </a:r>
            <a:endParaRPr sz="2400" dirty="0">
              <a:latin typeface="微软雅黑" panose="020B0503020204020204" charset="-122"/>
              <a:ea typeface="微软雅黑" panose="020B0503020204020204" charset="-122"/>
              <a:cs typeface="微软雅黑" panose="020B0503020204020204" charset="-122"/>
            </a:endParaRPr>
          </a:p>
        </p:txBody>
      </p:sp>
      <p:pic>
        <p:nvPicPr>
          <p:cNvPr id="1240" name="picture 1240"/>
          <p:cNvPicPr>
            <a:picLocks noChangeAspect="1"/>
          </p:cNvPicPr>
          <p:nvPr/>
        </p:nvPicPr>
        <p:blipFill>
          <a:blip r:embed="rId1"/>
          <a:stretch>
            <a:fillRect/>
          </a:stretch>
        </p:blipFill>
        <p:spPr>
          <a:xfrm rot="21600000">
            <a:off x="1024432" y="5049951"/>
            <a:ext cx="216408" cy="223723"/>
          </a:xfrm>
          <a:prstGeom prst="rect">
            <a:avLst/>
          </a:prstGeom>
        </p:spPr>
      </p:pic>
      <p:pic>
        <p:nvPicPr>
          <p:cNvPr id="1242" name="picture 1242"/>
          <p:cNvPicPr>
            <a:picLocks noChangeAspect="1"/>
          </p:cNvPicPr>
          <p:nvPr/>
        </p:nvPicPr>
        <p:blipFill>
          <a:blip r:embed="rId2"/>
          <a:stretch>
            <a:fillRect/>
          </a:stretch>
        </p:blipFill>
        <p:spPr>
          <a:xfrm rot="21600000">
            <a:off x="1024432" y="4464736"/>
            <a:ext cx="216408" cy="223723"/>
          </a:xfrm>
          <a:prstGeom prst="rect">
            <a:avLst/>
          </a:prstGeom>
        </p:spPr>
      </p:pic>
      <p:pic>
        <p:nvPicPr>
          <p:cNvPr id="1244" name="picture 1244"/>
          <p:cNvPicPr>
            <a:picLocks noChangeAspect="1"/>
          </p:cNvPicPr>
          <p:nvPr/>
        </p:nvPicPr>
        <p:blipFill>
          <a:blip r:embed="rId1"/>
          <a:stretch>
            <a:fillRect/>
          </a:stretch>
        </p:blipFill>
        <p:spPr>
          <a:xfrm rot="21600000">
            <a:off x="567232" y="3880662"/>
            <a:ext cx="216408" cy="223723"/>
          </a:xfrm>
          <a:prstGeom prst="rect">
            <a:avLst/>
          </a:prstGeom>
        </p:spPr>
      </p:pic>
      <p:pic>
        <p:nvPicPr>
          <p:cNvPr id="1246" name="picture 1246"/>
          <p:cNvPicPr>
            <a:picLocks noChangeAspect="1"/>
          </p:cNvPicPr>
          <p:nvPr/>
        </p:nvPicPr>
        <p:blipFill>
          <a:blip r:embed="rId1"/>
          <a:stretch>
            <a:fillRect/>
          </a:stretch>
        </p:blipFill>
        <p:spPr>
          <a:xfrm rot="21600000">
            <a:off x="1024432" y="3296970"/>
            <a:ext cx="216408" cy="223723"/>
          </a:xfrm>
          <a:prstGeom prst="rect">
            <a:avLst/>
          </a:prstGeom>
        </p:spPr>
      </p:pic>
      <p:pic>
        <p:nvPicPr>
          <p:cNvPr id="1248" name="picture 1248"/>
          <p:cNvPicPr>
            <a:picLocks noChangeAspect="1"/>
          </p:cNvPicPr>
          <p:nvPr/>
        </p:nvPicPr>
        <p:blipFill>
          <a:blip r:embed="rId3"/>
          <a:stretch>
            <a:fillRect/>
          </a:stretch>
        </p:blipFill>
        <p:spPr>
          <a:xfrm rot="21600000">
            <a:off x="1024458" y="2711277"/>
            <a:ext cx="216624" cy="223946"/>
          </a:xfrm>
          <a:prstGeom prst="rect">
            <a:avLst/>
          </a:prstGeom>
        </p:spPr>
      </p:pic>
      <p:pic>
        <p:nvPicPr>
          <p:cNvPr id="1250" name="picture 1250"/>
          <p:cNvPicPr>
            <a:picLocks noChangeAspect="1"/>
          </p:cNvPicPr>
          <p:nvPr/>
        </p:nvPicPr>
        <p:blipFill>
          <a:blip r:embed="rId1"/>
          <a:stretch>
            <a:fillRect/>
          </a:stretch>
        </p:blipFill>
        <p:spPr>
          <a:xfrm rot="21600000">
            <a:off x="567232" y="2127808"/>
            <a:ext cx="216408" cy="223723"/>
          </a:xfrm>
          <a:prstGeom prst="rect">
            <a:avLst/>
          </a:prstGeom>
        </p:spPr>
      </p:pic>
      <p:sp>
        <p:nvSpPr>
          <p:cNvPr id="1252" name="textbox 1252"/>
          <p:cNvSpPr/>
          <p:nvPr/>
        </p:nvSpPr>
        <p:spPr>
          <a:xfrm>
            <a:off x="263709" y="127150"/>
            <a:ext cx="1789429" cy="52260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4000"/>
              </a:lnSpc>
            </a:pPr>
            <a:r>
              <a:rPr sz="3900" b="1" kern="0" spc="-30" dirty="0">
                <a:solidFill>
                  <a:srgbClr val="F26849">
                    <a:alpha val="100000"/>
                  </a:srgbClr>
                </a:solidFill>
                <a:latin typeface="微软雅黑" panose="020B0503020204020204" charset="-122"/>
                <a:ea typeface="微软雅黑" panose="020B0503020204020204" charset="-122"/>
                <a:cs typeface="微软雅黑" panose="020B0503020204020204" charset="-122"/>
              </a:rPr>
              <a:t>Review</a:t>
            </a:r>
            <a:endParaRPr sz="3900" dirty="0">
              <a:latin typeface="微软雅黑" panose="020B0503020204020204" charset="-122"/>
              <a:ea typeface="微软雅黑" panose="020B0503020204020204" charset="-122"/>
              <a:cs typeface="微软雅黑" panose="020B0503020204020204" charset="-122"/>
            </a:endParaRPr>
          </a:p>
        </p:txBody>
      </p:sp>
      <p:pic>
        <p:nvPicPr>
          <p:cNvPr id="1254" name="picture 1254"/>
          <p:cNvPicPr>
            <a:picLocks noChangeAspect="1"/>
          </p:cNvPicPr>
          <p:nvPr/>
        </p:nvPicPr>
        <p:blipFill>
          <a:blip r:embed="rId4"/>
          <a:stretch>
            <a:fillRect/>
          </a:stretch>
        </p:blipFill>
        <p:spPr>
          <a:xfrm rot="21600000">
            <a:off x="11338559" y="18288"/>
            <a:ext cx="720852" cy="719328"/>
          </a:xfrm>
          <a:prstGeom prst="rect">
            <a:avLst/>
          </a:prstGeom>
        </p:spPr>
      </p:pic>
      <p:pic>
        <p:nvPicPr>
          <p:cNvPr id="1256" name="picture 1256"/>
          <p:cNvPicPr>
            <a:picLocks noChangeAspect="1"/>
          </p:cNvPicPr>
          <p:nvPr/>
        </p:nvPicPr>
        <p:blipFill>
          <a:blip r:embed="rId5"/>
          <a:stretch>
            <a:fillRect/>
          </a:stretch>
        </p:blipFill>
        <p:spPr>
          <a:xfrm rot="21600000">
            <a:off x="155447" y="751332"/>
            <a:ext cx="11881104" cy="19811"/>
          </a:xfrm>
          <a:prstGeom prst="rect">
            <a:avLst/>
          </a:prstGeom>
        </p:spPr>
      </p:pic>
      <p:pic>
        <p:nvPicPr>
          <p:cNvPr id="1258" name="picture 1258"/>
          <p:cNvPicPr>
            <a:picLocks noChangeAspect="1"/>
          </p:cNvPicPr>
          <p:nvPr/>
        </p:nvPicPr>
        <p:blipFill>
          <a:blip r:embed="rId6"/>
          <a:stretch>
            <a:fillRect/>
          </a:stretch>
        </p:blipFill>
        <p:spPr>
          <a:xfrm rot="21600000">
            <a:off x="161544" y="6461759"/>
            <a:ext cx="11879580" cy="18288"/>
          </a:xfrm>
          <a:prstGeom prst="rect">
            <a:avLst/>
          </a:prstGeom>
        </p:spPr>
      </p:pic>
      <p:sp>
        <p:nvSpPr>
          <p:cNvPr id="1260" name="textbox 1260"/>
          <p:cNvSpPr/>
          <p:nvPr/>
        </p:nvSpPr>
        <p:spPr>
          <a:xfrm>
            <a:off x="11587445" y="6559321"/>
            <a:ext cx="24574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61</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2" name="textbox 1262"/>
          <p:cNvSpPr/>
          <p:nvPr/>
        </p:nvSpPr>
        <p:spPr>
          <a:xfrm>
            <a:off x="219709" y="1271270"/>
            <a:ext cx="11536680" cy="4968240"/>
          </a:xfrm>
          <a:prstGeom prst="roundRect">
            <a:avLst>
              <a:gd name="adj" fmla="val 7452"/>
            </a:avLst>
          </a:prstGeom>
          <a:noFill/>
          <a:ln w="25400" cap="flat">
            <a:solidFill>
              <a:srgbClr val="A5A5A5"/>
            </a:solidFill>
            <a:prstDash val="solid"/>
            <a:miter lim="0"/>
          </a:ln>
        </p:spPr>
        <p:txBody>
          <a:bodyPr vert="horz" wrap="square" lIns="0" tIns="0" rIns="0" bIns="0"/>
          <a:lstStyle/>
          <a:p>
            <a:pPr algn="l" rtl="0" eaLnBrk="0">
              <a:lnSpc>
                <a:spcPct val="124000"/>
              </a:lnSpc>
            </a:pPr>
            <a:endParaRPr sz="300" dirty="0">
              <a:latin typeface="Arial" panose="020B0604020202020204"/>
              <a:ea typeface="Arial" panose="020B0604020202020204"/>
              <a:cs typeface="Arial" panose="020B0604020202020204"/>
            </a:endParaRPr>
          </a:p>
          <a:p>
            <a:pPr marL="219075" algn="l" rtl="0" eaLnBrk="0">
              <a:lnSpc>
                <a:spcPct val="89000"/>
              </a:lnSpc>
              <a:spcBef>
                <a:spcPts val="5"/>
              </a:spcBef>
            </a:pPr>
            <a:r>
              <a:rPr sz="32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关键设计</a:t>
            </a:r>
            <a:endParaRPr sz="3200" dirty="0">
              <a:latin typeface="微软雅黑" panose="020B0503020204020204" charset="-122"/>
              <a:ea typeface="微软雅黑" panose="020B0503020204020204" charset="-122"/>
              <a:cs typeface="微软雅黑" panose="020B0503020204020204" charset="-122"/>
            </a:endParaRPr>
          </a:p>
          <a:p>
            <a:pPr marL="238760" algn="l" rtl="0" eaLnBrk="0">
              <a:lnSpc>
                <a:spcPct val="89000"/>
              </a:lnSpc>
              <a:spcBef>
                <a:spcPts val="1830"/>
              </a:spcBef>
              <a:tabLst>
                <a:tab pos="4546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地址分离机制</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marL="695960" algn="l" rtl="0" eaLnBrk="0">
              <a:lnSpc>
                <a:spcPct val="100000"/>
              </a:lnSpc>
              <a:spcBef>
                <a:spcPts val="725"/>
              </a:spcBef>
              <a:tabLst>
                <a:tab pos="9118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AA（Application Address</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服务使用的地址，与拓扑无关</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695960" algn="l" rtl="0" eaLnBrk="0">
              <a:lnSpc>
                <a:spcPct val="89000"/>
              </a:lnSpc>
              <a:spcBef>
                <a:spcPts val="1730"/>
              </a:spcBef>
              <a:tabLst>
                <a:tab pos="9118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LA（Locator Address</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服务器实际位置，网络路由使用。</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marL="695960" algn="l" rtl="0" eaLnBrk="0">
              <a:lnSpc>
                <a:spcPct val="100000"/>
              </a:lnSpc>
              <a:spcBef>
                <a:spcPts val="725"/>
              </a:spcBef>
              <a:tabLst>
                <a:tab pos="9118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通过目录系统（Dire</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ctory</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System）维护AA→</a:t>
            </a:r>
            <a:r>
              <a:rPr sz="2400" kern="0" spc="-4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LA映射。</a:t>
            </a:r>
            <a:endParaRPr sz="2400" dirty="0">
              <a:latin typeface="微软雅黑" panose="020B0503020204020204" charset="-122"/>
              <a:ea typeface="微软雅黑" panose="020B0503020204020204" charset="-122"/>
              <a:cs typeface="微软雅黑" panose="020B0503020204020204" charset="-122"/>
            </a:endParaRPr>
          </a:p>
          <a:p>
            <a:pPr marL="238760" algn="l" rtl="0" eaLnBrk="0">
              <a:lnSpc>
                <a:spcPct val="89000"/>
              </a:lnSpc>
              <a:spcBef>
                <a:spcPts val="1720"/>
              </a:spcBef>
              <a:tabLst>
                <a:tab pos="4546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向后兼容</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0000"/>
              </a:lnSpc>
            </a:pPr>
            <a:endParaRPr sz="1000" dirty="0">
              <a:latin typeface="Arial" panose="020B0604020202020204"/>
              <a:ea typeface="Arial" panose="020B0604020202020204"/>
              <a:cs typeface="Arial" panose="020B0604020202020204"/>
            </a:endParaRPr>
          </a:p>
          <a:p>
            <a:pPr marL="695960" algn="l" rtl="0" eaLnBrk="0">
              <a:lnSpc>
                <a:spcPct val="89000"/>
              </a:lnSpc>
              <a:spcBef>
                <a:spcPts val="725"/>
              </a:spcBef>
              <a:tabLst>
                <a:tab pos="9118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无需修改交换机硬件或</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应用。</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695960" algn="l" rtl="0" eaLnBrk="0">
              <a:lnSpc>
                <a:spcPct val="89000"/>
              </a:lnSpc>
              <a:spcBef>
                <a:spcPts val="5"/>
              </a:spcBef>
              <a:tabLst>
                <a:tab pos="91186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支持IP广播、ARP、</a:t>
            </a:r>
            <a:r>
              <a:rPr sz="2400" kern="0" spc="-4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DHCP等传统网络功能。</a:t>
            </a:r>
            <a:endParaRPr sz="2400" dirty="0">
              <a:latin typeface="微软雅黑" panose="020B0503020204020204" charset="-122"/>
              <a:ea typeface="微软雅黑" panose="020B0503020204020204" charset="-122"/>
              <a:cs typeface="微软雅黑" panose="020B0503020204020204" charset="-122"/>
            </a:endParaRPr>
          </a:p>
        </p:txBody>
      </p:sp>
      <p:pic>
        <p:nvPicPr>
          <p:cNvPr id="1264" name="picture 1264"/>
          <p:cNvPicPr>
            <a:picLocks noChangeAspect="1"/>
          </p:cNvPicPr>
          <p:nvPr/>
        </p:nvPicPr>
        <p:blipFill>
          <a:blip r:embed="rId1"/>
          <a:stretch>
            <a:fillRect/>
          </a:stretch>
        </p:blipFill>
        <p:spPr>
          <a:xfrm rot="21600000">
            <a:off x="1024458" y="5633394"/>
            <a:ext cx="216624" cy="223946"/>
          </a:xfrm>
          <a:prstGeom prst="rect">
            <a:avLst/>
          </a:prstGeom>
        </p:spPr>
      </p:pic>
      <p:pic>
        <p:nvPicPr>
          <p:cNvPr id="1266" name="picture 1266"/>
          <p:cNvPicPr>
            <a:picLocks noChangeAspect="1"/>
          </p:cNvPicPr>
          <p:nvPr/>
        </p:nvPicPr>
        <p:blipFill>
          <a:blip r:embed="rId2"/>
          <a:stretch>
            <a:fillRect/>
          </a:stretch>
        </p:blipFill>
        <p:spPr>
          <a:xfrm rot="21600000">
            <a:off x="1024432" y="5049951"/>
            <a:ext cx="216408" cy="223723"/>
          </a:xfrm>
          <a:prstGeom prst="rect">
            <a:avLst/>
          </a:prstGeom>
        </p:spPr>
      </p:pic>
      <p:pic>
        <p:nvPicPr>
          <p:cNvPr id="1268" name="picture 1268"/>
          <p:cNvPicPr>
            <a:picLocks noChangeAspect="1"/>
          </p:cNvPicPr>
          <p:nvPr/>
        </p:nvPicPr>
        <p:blipFill>
          <a:blip r:embed="rId3"/>
          <a:stretch>
            <a:fillRect/>
          </a:stretch>
        </p:blipFill>
        <p:spPr>
          <a:xfrm rot="21600000">
            <a:off x="567232" y="4464736"/>
            <a:ext cx="216408" cy="223723"/>
          </a:xfrm>
          <a:prstGeom prst="rect">
            <a:avLst/>
          </a:prstGeom>
        </p:spPr>
      </p:pic>
      <p:pic>
        <p:nvPicPr>
          <p:cNvPr id="1270" name="picture 1270"/>
          <p:cNvPicPr>
            <a:picLocks noChangeAspect="1"/>
          </p:cNvPicPr>
          <p:nvPr/>
        </p:nvPicPr>
        <p:blipFill>
          <a:blip r:embed="rId2"/>
          <a:stretch>
            <a:fillRect/>
          </a:stretch>
        </p:blipFill>
        <p:spPr>
          <a:xfrm rot="21600000">
            <a:off x="1024432" y="3880662"/>
            <a:ext cx="216408" cy="223723"/>
          </a:xfrm>
          <a:prstGeom prst="rect">
            <a:avLst/>
          </a:prstGeom>
        </p:spPr>
      </p:pic>
      <p:pic>
        <p:nvPicPr>
          <p:cNvPr id="1272" name="picture 1272"/>
          <p:cNvPicPr>
            <a:picLocks noChangeAspect="1"/>
          </p:cNvPicPr>
          <p:nvPr/>
        </p:nvPicPr>
        <p:blipFill>
          <a:blip r:embed="rId2"/>
          <a:stretch>
            <a:fillRect/>
          </a:stretch>
        </p:blipFill>
        <p:spPr>
          <a:xfrm rot="21600000">
            <a:off x="1024432" y="3296970"/>
            <a:ext cx="216408" cy="223723"/>
          </a:xfrm>
          <a:prstGeom prst="rect">
            <a:avLst/>
          </a:prstGeom>
        </p:spPr>
      </p:pic>
      <p:pic>
        <p:nvPicPr>
          <p:cNvPr id="1274" name="picture 1274"/>
          <p:cNvPicPr>
            <a:picLocks noChangeAspect="1"/>
          </p:cNvPicPr>
          <p:nvPr/>
        </p:nvPicPr>
        <p:blipFill>
          <a:blip r:embed="rId4"/>
          <a:stretch>
            <a:fillRect/>
          </a:stretch>
        </p:blipFill>
        <p:spPr>
          <a:xfrm rot="21600000">
            <a:off x="1024458" y="2711277"/>
            <a:ext cx="216624" cy="223946"/>
          </a:xfrm>
          <a:prstGeom prst="rect">
            <a:avLst/>
          </a:prstGeom>
        </p:spPr>
      </p:pic>
      <p:pic>
        <p:nvPicPr>
          <p:cNvPr id="1276" name="picture 1276"/>
          <p:cNvPicPr>
            <a:picLocks noChangeAspect="1"/>
          </p:cNvPicPr>
          <p:nvPr/>
        </p:nvPicPr>
        <p:blipFill>
          <a:blip r:embed="rId2"/>
          <a:stretch>
            <a:fillRect/>
          </a:stretch>
        </p:blipFill>
        <p:spPr>
          <a:xfrm rot="21600000">
            <a:off x="567232" y="2127808"/>
            <a:ext cx="216408" cy="223723"/>
          </a:xfrm>
          <a:prstGeom prst="rect">
            <a:avLst/>
          </a:prstGeom>
        </p:spPr>
      </p:pic>
      <p:sp>
        <p:nvSpPr>
          <p:cNvPr id="1278" name="textbox 1278"/>
          <p:cNvSpPr/>
          <p:nvPr/>
        </p:nvSpPr>
        <p:spPr>
          <a:xfrm>
            <a:off x="263709" y="127150"/>
            <a:ext cx="1789429" cy="52260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4000"/>
              </a:lnSpc>
            </a:pPr>
            <a:r>
              <a:rPr sz="3900" b="1" kern="0" spc="-30" dirty="0">
                <a:solidFill>
                  <a:srgbClr val="F26849">
                    <a:alpha val="100000"/>
                  </a:srgbClr>
                </a:solidFill>
                <a:latin typeface="微软雅黑" panose="020B0503020204020204" charset="-122"/>
                <a:ea typeface="微软雅黑" panose="020B0503020204020204" charset="-122"/>
                <a:cs typeface="微软雅黑" panose="020B0503020204020204" charset="-122"/>
              </a:rPr>
              <a:t>Review</a:t>
            </a:r>
            <a:endParaRPr sz="3900" dirty="0">
              <a:latin typeface="微软雅黑" panose="020B0503020204020204" charset="-122"/>
              <a:ea typeface="微软雅黑" panose="020B0503020204020204" charset="-122"/>
              <a:cs typeface="微软雅黑" panose="020B0503020204020204" charset="-122"/>
            </a:endParaRPr>
          </a:p>
        </p:txBody>
      </p:sp>
      <p:pic>
        <p:nvPicPr>
          <p:cNvPr id="1280" name="picture 1280"/>
          <p:cNvPicPr>
            <a:picLocks noChangeAspect="1"/>
          </p:cNvPicPr>
          <p:nvPr/>
        </p:nvPicPr>
        <p:blipFill>
          <a:blip r:embed="rId5"/>
          <a:stretch>
            <a:fillRect/>
          </a:stretch>
        </p:blipFill>
        <p:spPr>
          <a:xfrm rot="21600000">
            <a:off x="11338559" y="18288"/>
            <a:ext cx="720852" cy="719328"/>
          </a:xfrm>
          <a:prstGeom prst="rect">
            <a:avLst/>
          </a:prstGeom>
        </p:spPr>
      </p:pic>
      <p:pic>
        <p:nvPicPr>
          <p:cNvPr id="1282" name="picture 1282"/>
          <p:cNvPicPr>
            <a:picLocks noChangeAspect="1"/>
          </p:cNvPicPr>
          <p:nvPr/>
        </p:nvPicPr>
        <p:blipFill>
          <a:blip r:embed="rId6"/>
          <a:stretch>
            <a:fillRect/>
          </a:stretch>
        </p:blipFill>
        <p:spPr>
          <a:xfrm rot="21600000">
            <a:off x="155447" y="751332"/>
            <a:ext cx="11881104" cy="19811"/>
          </a:xfrm>
          <a:prstGeom prst="rect">
            <a:avLst/>
          </a:prstGeom>
        </p:spPr>
      </p:pic>
      <p:pic>
        <p:nvPicPr>
          <p:cNvPr id="1284" name="picture 1284"/>
          <p:cNvPicPr>
            <a:picLocks noChangeAspect="1"/>
          </p:cNvPicPr>
          <p:nvPr/>
        </p:nvPicPr>
        <p:blipFill>
          <a:blip r:embed="rId7"/>
          <a:stretch>
            <a:fillRect/>
          </a:stretch>
        </p:blipFill>
        <p:spPr>
          <a:xfrm rot="21600000">
            <a:off x="161544" y="6461759"/>
            <a:ext cx="11879580" cy="18288"/>
          </a:xfrm>
          <a:prstGeom prst="rect">
            <a:avLst/>
          </a:prstGeom>
        </p:spPr>
      </p:pic>
      <p:sp>
        <p:nvSpPr>
          <p:cNvPr id="1286" name="textbox 1286"/>
          <p:cNvSpPr/>
          <p:nvPr/>
        </p:nvSpPr>
        <p:spPr>
          <a:xfrm>
            <a:off x="11587445" y="6559321"/>
            <a:ext cx="24574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62</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 name="textbox 1288"/>
          <p:cNvSpPr/>
          <p:nvPr/>
        </p:nvSpPr>
        <p:spPr>
          <a:xfrm>
            <a:off x="219709" y="2004314"/>
            <a:ext cx="11536680" cy="2698750"/>
          </a:xfrm>
          <a:prstGeom prst="roundRect">
            <a:avLst>
              <a:gd name="adj" fmla="val 7850"/>
            </a:avLst>
          </a:prstGeom>
          <a:noFill/>
          <a:ln w="25400" cap="flat">
            <a:solidFill>
              <a:srgbClr val="A5A5A5"/>
            </a:solidFill>
            <a:prstDash val="solid"/>
            <a:miter lim="0"/>
          </a:ln>
        </p:spPr>
        <p:txBody>
          <a:bodyPr vert="horz" wrap="square" lIns="0" tIns="0" rIns="0" bIns="0"/>
          <a:lstStyle/>
          <a:p>
            <a:pPr algn="l" rtl="0" eaLnBrk="0">
              <a:lnSpc>
                <a:spcPct val="182000"/>
              </a:lnSpc>
            </a:pPr>
            <a:endParaRPr sz="1000" dirty="0">
              <a:latin typeface="Arial" panose="020B0604020202020204"/>
              <a:ea typeface="Arial" panose="020B0604020202020204"/>
              <a:cs typeface="Arial" panose="020B0604020202020204"/>
            </a:endParaRPr>
          </a:p>
          <a:p>
            <a:pPr marL="668020" indent="-445770" algn="l" rtl="0" eaLnBrk="0">
              <a:lnSpc>
                <a:spcPct val="128000"/>
              </a:lnSpc>
              <a:spcBef>
                <a:spcPts val="5"/>
              </a:spcBef>
              <a:tabLst>
                <a:tab pos="4381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VL2通过简单的设计、可部署的技术，解决了传统DCN的带宽瓶颈</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、资源碎</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片化和性能隔离缺失等问</a:t>
            </a: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题。</a:t>
            </a:r>
            <a:endParaRPr sz="2400" dirty="0">
              <a:latin typeface="微软雅黑" panose="020B0503020204020204" charset="-122"/>
              <a:ea typeface="微软雅黑" panose="020B0503020204020204" charset="-122"/>
              <a:cs typeface="微软雅黑" panose="020B0503020204020204" charset="-122"/>
            </a:endParaRPr>
          </a:p>
          <a:p>
            <a:pPr marL="222250" algn="l" rtl="0" eaLnBrk="0">
              <a:lnSpc>
                <a:spcPct val="89000"/>
              </a:lnSpc>
              <a:spcBef>
                <a:spcPts val="1785"/>
              </a:spcBef>
              <a:tabLst>
                <a:tab pos="4381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实现了理论上的高带宽与实际部署的可行性之间的良好</a:t>
            </a:r>
            <a:r>
              <a:rPr sz="2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平衡。</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222250" algn="l" rtl="0" eaLnBrk="0">
              <a:lnSpc>
                <a:spcPct val="89000"/>
              </a:lnSpc>
              <a:tabLst>
                <a:tab pos="4381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是首个将VLB应用于数据中心网络、并验证其有效性的研究。</a:t>
            </a:r>
            <a:endParaRPr sz="2400" dirty="0">
              <a:latin typeface="微软雅黑" panose="020B0503020204020204" charset="-122"/>
              <a:ea typeface="微软雅黑" panose="020B0503020204020204" charset="-122"/>
              <a:cs typeface="微软雅黑" panose="020B0503020204020204" charset="-122"/>
            </a:endParaRPr>
          </a:p>
        </p:txBody>
      </p:sp>
      <p:pic>
        <p:nvPicPr>
          <p:cNvPr id="1290" name="picture 1290"/>
          <p:cNvPicPr>
            <a:picLocks noChangeAspect="1"/>
          </p:cNvPicPr>
          <p:nvPr/>
        </p:nvPicPr>
        <p:blipFill>
          <a:blip r:embed="rId1"/>
          <a:stretch>
            <a:fillRect/>
          </a:stretch>
        </p:blipFill>
        <p:spPr>
          <a:xfrm rot="21600000">
            <a:off x="504139" y="4117899"/>
            <a:ext cx="216408" cy="223723"/>
          </a:xfrm>
          <a:prstGeom prst="rect">
            <a:avLst/>
          </a:prstGeom>
        </p:spPr>
      </p:pic>
      <p:pic>
        <p:nvPicPr>
          <p:cNvPr id="1292" name="picture 1292"/>
          <p:cNvPicPr>
            <a:picLocks noChangeAspect="1"/>
          </p:cNvPicPr>
          <p:nvPr/>
        </p:nvPicPr>
        <p:blipFill>
          <a:blip r:embed="rId2"/>
          <a:stretch>
            <a:fillRect/>
          </a:stretch>
        </p:blipFill>
        <p:spPr>
          <a:xfrm rot="21600000">
            <a:off x="504164" y="3532078"/>
            <a:ext cx="216624" cy="223946"/>
          </a:xfrm>
          <a:prstGeom prst="rect">
            <a:avLst/>
          </a:prstGeom>
        </p:spPr>
      </p:pic>
      <p:pic>
        <p:nvPicPr>
          <p:cNvPr id="1294" name="picture 1294"/>
          <p:cNvPicPr>
            <a:picLocks noChangeAspect="1"/>
          </p:cNvPicPr>
          <p:nvPr/>
        </p:nvPicPr>
        <p:blipFill>
          <a:blip r:embed="rId1"/>
          <a:stretch>
            <a:fillRect/>
          </a:stretch>
        </p:blipFill>
        <p:spPr>
          <a:xfrm rot="21600000">
            <a:off x="504139" y="2364917"/>
            <a:ext cx="216408" cy="223723"/>
          </a:xfrm>
          <a:prstGeom prst="rect">
            <a:avLst/>
          </a:prstGeom>
        </p:spPr>
      </p:pic>
      <p:sp>
        <p:nvSpPr>
          <p:cNvPr id="1296" name="textbox 1296"/>
          <p:cNvSpPr/>
          <p:nvPr/>
        </p:nvSpPr>
        <p:spPr>
          <a:xfrm>
            <a:off x="263709" y="127150"/>
            <a:ext cx="1789429" cy="52260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4000"/>
              </a:lnSpc>
            </a:pPr>
            <a:r>
              <a:rPr sz="3900" b="1" kern="0" spc="-30" dirty="0">
                <a:solidFill>
                  <a:srgbClr val="F26849">
                    <a:alpha val="100000"/>
                  </a:srgbClr>
                </a:solidFill>
                <a:latin typeface="微软雅黑" panose="020B0503020204020204" charset="-122"/>
                <a:ea typeface="微软雅黑" panose="020B0503020204020204" charset="-122"/>
                <a:cs typeface="微软雅黑" panose="020B0503020204020204" charset="-122"/>
              </a:rPr>
              <a:t>Review</a:t>
            </a:r>
            <a:endParaRPr sz="3900" dirty="0">
              <a:latin typeface="微软雅黑" panose="020B0503020204020204" charset="-122"/>
              <a:ea typeface="微软雅黑" panose="020B0503020204020204" charset="-122"/>
              <a:cs typeface="微软雅黑" panose="020B0503020204020204" charset="-122"/>
            </a:endParaRPr>
          </a:p>
        </p:txBody>
      </p:sp>
      <p:pic>
        <p:nvPicPr>
          <p:cNvPr id="1298" name="picture 1298"/>
          <p:cNvPicPr>
            <a:picLocks noChangeAspect="1"/>
          </p:cNvPicPr>
          <p:nvPr/>
        </p:nvPicPr>
        <p:blipFill>
          <a:blip r:embed="rId3"/>
          <a:stretch>
            <a:fillRect/>
          </a:stretch>
        </p:blipFill>
        <p:spPr>
          <a:xfrm rot="21600000">
            <a:off x="11338559" y="18288"/>
            <a:ext cx="720852" cy="719328"/>
          </a:xfrm>
          <a:prstGeom prst="rect">
            <a:avLst/>
          </a:prstGeom>
        </p:spPr>
      </p:pic>
      <p:pic>
        <p:nvPicPr>
          <p:cNvPr id="1300" name="picture 1300"/>
          <p:cNvPicPr>
            <a:picLocks noChangeAspect="1"/>
          </p:cNvPicPr>
          <p:nvPr/>
        </p:nvPicPr>
        <p:blipFill>
          <a:blip r:embed="rId4"/>
          <a:stretch>
            <a:fillRect/>
          </a:stretch>
        </p:blipFill>
        <p:spPr>
          <a:xfrm rot="21600000">
            <a:off x="155447" y="751332"/>
            <a:ext cx="11881104" cy="19811"/>
          </a:xfrm>
          <a:prstGeom prst="rect">
            <a:avLst/>
          </a:prstGeom>
        </p:spPr>
      </p:pic>
      <p:pic>
        <p:nvPicPr>
          <p:cNvPr id="1302" name="picture 1302"/>
          <p:cNvPicPr>
            <a:picLocks noChangeAspect="1"/>
          </p:cNvPicPr>
          <p:nvPr/>
        </p:nvPicPr>
        <p:blipFill>
          <a:blip r:embed="rId5"/>
          <a:stretch>
            <a:fillRect/>
          </a:stretch>
        </p:blipFill>
        <p:spPr>
          <a:xfrm rot="21600000">
            <a:off x="161544" y="6461759"/>
            <a:ext cx="11879580" cy="18288"/>
          </a:xfrm>
          <a:prstGeom prst="rect">
            <a:avLst/>
          </a:prstGeom>
        </p:spPr>
      </p:pic>
      <p:sp>
        <p:nvSpPr>
          <p:cNvPr id="1304" name="textbox 1304"/>
          <p:cNvSpPr/>
          <p:nvPr/>
        </p:nvSpPr>
        <p:spPr>
          <a:xfrm>
            <a:off x="11587445" y="6559321"/>
            <a:ext cx="24574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63</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 name="textbox 1306"/>
          <p:cNvSpPr/>
          <p:nvPr/>
        </p:nvSpPr>
        <p:spPr>
          <a:xfrm>
            <a:off x="219709" y="2004314"/>
            <a:ext cx="11536680" cy="2698750"/>
          </a:xfrm>
          <a:prstGeom prst="roundRect">
            <a:avLst>
              <a:gd name="adj" fmla="val 7850"/>
            </a:avLst>
          </a:prstGeom>
          <a:noFill/>
          <a:ln w="25400" cap="flat">
            <a:solidFill>
              <a:srgbClr val="A5A5A5"/>
            </a:solidFill>
            <a:prstDash val="solid"/>
            <a:miter lim="0"/>
          </a:ln>
        </p:spPr>
        <p:txBody>
          <a:bodyPr vert="horz" wrap="square" lIns="0" tIns="0" rIns="0" bIns="0"/>
          <a:lstStyle/>
          <a:p>
            <a:pPr algn="l" rtl="0" eaLnBrk="0">
              <a:lnSpc>
                <a:spcPct val="179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00025" algn="l" rtl="0" eaLnBrk="0">
              <a:lnSpc>
                <a:spcPct val="89000"/>
              </a:lnSpc>
            </a:pPr>
            <a:r>
              <a:rPr sz="2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我们上节课学习的Fat-tree和这节课介</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绍的VL2有相似之处：</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marL="222250" algn="l" rtl="0" eaLnBrk="0">
              <a:lnSpc>
                <a:spcPct val="89000"/>
              </a:lnSpc>
              <a:spcBef>
                <a:spcPts val="725"/>
              </a:spcBef>
              <a:tabLst>
                <a:tab pos="4381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目标：都采用廉价的商用交换机构建可</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扩展的数据中心网络</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657225" indent="-434975" algn="l" rtl="0" eaLnBrk="0">
              <a:lnSpc>
                <a:spcPct val="129000"/>
              </a:lnSpc>
              <a:spcBef>
                <a:spcPts val="5"/>
              </a:spcBef>
              <a:tabLst>
                <a:tab pos="4381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拓扑：都基于叶-聚合-核心的Clos结构，利用路径冗余来提高可用</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带宽与容</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错性</a:t>
            </a:r>
            <a:endParaRPr sz="2400" dirty="0">
              <a:latin typeface="微软雅黑" panose="020B0503020204020204" charset="-122"/>
              <a:ea typeface="微软雅黑" panose="020B0503020204020204" charset="-122"/>
              <a:cs typeface="微软雅黑" panose="020B0503020204020204" charset="-122"/>
            </a:endParaRPr>
          </a:p>
        </p:txBody>
      </p:sp>
      <p:pic>
        <p:nvPicPr>
          <p:cNvPr id="1308" name="picture 1308"/>
          <p:cNvPicPr>
            <a:picLocks noChangeAspect="1"/>
          </p:cNvPicPr>
          <p:nvPr/>
        </p:nvPicPr>
        <p:blipFill>
          <a:blip r:embed="rId1"/>
          <a:stretch>
            <a:fillRect/>
          </a:stretch>
        </p:blipFill>
        <p:spPr>
          <a:xfrm rot="21600000">
            <a:off x="504164" y="3532078"/>
            <a:ext cx="216624" cy="223946"/>
          </a:xfrm>
          <a:prstGeom prst="rect">
            <a:avLst/>
          </a:prstGeom>
        </p:spPr>
      </p:pic>
      <p:pic>
        <p:nvPicPr>
          <p:cNvPr id="1310" name="picture 1310"/>
          <p:cNvPicPr>
            <a:picLocks noChangeAspect="1"/>
          </p:cNvPicPr>
          <p:nvPr/>
        </p:nvPicPr>
        <p:blipFill>
          <a:blip r:embed="rId2"/>
          <a:stretch>
            <a:fillRect/>
          </a:stretch>
        </p:blipFill>
        <p:spPr>
          <a:xfrm rot="21600000">
            <a:off x="504139" y="2948609"/>
            <a:ext cx="216408" cy="223723"/>
          </a:xfrm>
          <a:prstGeom prst="rect">
            <a:avLst/>
          </a:prstGeom>
        </p:spPr>
      </p:pic>
      <p:sp>
        <p:nvSpPr>
          <p:cNvPr id="1312" name="textbox 1312"/>
          <p:cNvSpPr/>
          <p:nvPr/>
        </p:nvSpPr>
        <p:spPr>
          <a:xfrm>
            <a:off x="263709" y="127150"/>
            <a:ext cx="1789429" cy="52260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4000"/>
              </a:lnSpc>
            </a:pPr>
            <a:r>
              <a:rPr sz="3900" b="1" kern="0" spc="-30" dirty="0">
                <a:solidFill>
                  <a:srgbClr val="F26849">
                    <a:alpha val="100000"/>
                  </a:srgbClr>
                </a:solidFill>
                <a:latin typeface="微软雅黑" panose="020B0503020204020204" charset="-122"/>
                <a:ea typeface="微软雅黑" panose="020B0503020204020204" charset="-122"/>
                <a:cs typeface="微软雅黑" panose="020B0503020204020204" charset="-122"/>
              </a:rPr>
              <a:t>Review</a:t>
            </a:r>
            <a:endParaRPr sz="3900" dirty="0">
              <a:latin typeface="微软雅黑" panose="020B0503020204020204" charset="-122"/>
              <a:ea typeface="微软雅黑" panose="020B0503020204020204" charset="-122"/>
              <a:cs typeface="微软雅黑" panose="020B0503020204020204" charset="-122"/>
            </a:endParaRPr>
          </a:p>
        </p:txBody>
      </p:sp>
      <p:pic>
        <p:nvPicPr>
          <p:cNvPr id="1314" name="picture 1314"/>
          <p:cNvPicPr>
            <a:picLocks noChangeAspect="1"/>
          </p:cNvPicPr>
          <p:nvPr/>
        </p:nvPicPr>
        <p:blipFill>
          <a:blip r:embed="rId3"/>
          <a:stretch>
            <a:fillRect/>
          </a:stretch>
        </p:blipFill>
        <p:spPr>
          <a:xfrm rot="21600000">
            <a:off x="11338559" y="18288"/>
            <a:ext cx="720852" cy="719328"/>
          </a:xfrm>
          <a:prstGeom prst="rect">
            <a:avLst/>
          </a:prstGeom>
        </p:spPr>
      </p:pic>
      <p:pic>
        <p:nvPicPr>
          <p:cNvPr id="1316" name="picture 1316"/>
          <p:cNvPicPr>
            <a:picLocks noChangeAspect="1"/>
          </p:cNvPicPr>
          <p:nvPr/>
        </p:nvPicPr>
        <p:blipFill>
          <a:blip r:embed="rId4"/>
          <a:stretch>
            <a:fillRect/>
          </a:stretch>
        </p:blipFill>
        <p:spPr>
          <a:xfrm rot="21600000">
            <a:off x="155447" y="751332"/>
            <a:ext cx="11881104" cy="19811"/>
          </a:xfrm>
          <a:prstGeom prst="rect">
            <a:avLst/>
          </a:prstGeom>
        </p:spPr>
      </p:pic>
      <p:pic>
        <p:nvPicPr>
          <p:cNvPr id="1318" name="picture 1318"/>
          <p:cNvPicPr>
            <a:picLocks noChangeAspect="1"/>
          </p:cNvPicPr>
          <p:nvPr/>
        </p:nvPicPr>
        <p:blipFill>
          <a:blip r:embed="rId5"/>
          <a:stretch>
            <a:fillRect/>
          </a:stretch>
        </p:blipFill>
        <p:spPr>
          <a:xfrm rot="21600000">
            <a:off x="161544" y="6461759"/>
            <a:ext cx="11879580" cy="18288"/>
          </a:xfrm>
          <a:prstGeom prst="rect">
            <a:avLst/>
          </a:prstGeom>
        </p:spPr>
      </p:pic>
      <p:sp>
        <p:nvSpPr>
          <p:cNvPr id="1320" name="textbox 1320"/>
          <p:cNvSpPr/>
          <p:nvPr/>
        </p:nvSpPr>
        <p:spPr>
          <a:xfrm>
            <a:off x="11587445" y="6559321"/>
            <a:ext cx="24574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64</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2" name="textbox 1322"/>
          <p:cNvSpPr/>
          <p:nvPr/>
        </p:nvSpPr>
        <p:spPr>
          <a:xfrm>
            <a:off x="375158" y="971041"/>
            <a:ext cx="11534775" cy="5338445"/>
          </a:xfrm>
          <a:prstGeom prst="roundRect">
            <a:avLst>
              <a:gd name="adj" fmla="val 7420"/>
            </a:avLst>
          </a:prstGeom>
          <a:noFill/>
          <a:ln w="25400" cap="flat">
            <a:solidFill>
              <a:srgbClr val="A5A5A5"/>
            </a:solidFill>
            <a:prstDash val="solid"/>
            <a:miter lim="0"/>
          </a:ln>
        </p:spPr>
        <p:txBody>
          <a:bodyPr vert="horz" wrap="square" lIns="0" tIns="0" rIns="0" bIns="0"/>
          <a:lstStyle/>
          <a:p>
            <a:pPr algn="l" rtl="0" eaLnBrk="0">
              <a:lnSpc>
                <a:spcPct val="56000"/>
              </a:lnSpc>
            </a:pPr>
            <a:endParaRPr sz="100" dirty="0">
              <a:latin typeface="Arial" panose="020B0604020202020204"/>
              <a:ea typeface="Arial" panose="020B0604020202020204"/>
              <a:cs typeface="Arial" panose="020B0604020202020204"/>
            </a:endParaRPr>
          </a:p>
          <a:p>
            <a:pPr marL="219710" algn="l" rtl="0" eaLnBrk="0">
              <a:lnSpc>
                <a:spcPct val="156000"/>
              </a:lnSpc>
            </a:pP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但二者存在关键不同。从定位上讲，</a:t>
            </a:r>
            <a:r>
              <a:rPr sz="2400" kern="0" spc="-4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Fat</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-tree主要关注</a:t>
            </a:r>
            <a:r>
              <a:rPr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拓扑/物理结构</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，以及基于</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该拓扑的</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简单路由算法</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；而VL2是完整的</a:t>
            </a:r>
            <a:r>
              <a:rPr sz="2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云服务</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数据中心网</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络设计，更加全面。</a:t>
            </a:r>
            <a:endParaRPr sz="2400" dirty="0">
              <a:latin typeface="微软雅黑" panose="020B0503020204020204" charset="-122"/>
              <a:ea typeface="微软雅黑" panose="020B0503020204020204" charset="-122"/>
              <a:cs typeface="微软雅黑" panose="020B0503020204020204" charset="-122"/>
            </a:endParaRPr>
          </a:p>
          <a:p>
            <a:pPr marL="226060" indent="-7620" algn="l" rtl="0" eaLnBrk="0">
              <a:lnSpc>
                <a:spcPct val="157000"/>
              </a:lnSpc>
              <a:spcBef>
                <a:spcPts val="175"/>
              </a:spcBef>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VL2可以运行在F</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at-tree或其他Clos架构上，并在此之上做了较多的设计来满足</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云和虚拟化场景</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的需求，例如：</a:t>
            </a:r>
            <a:endParaRPr sz="2400" dirty="0">
              <a:latin typeface="微软雅黑" panose="020B0503020204020204" charset="-122"/>
              <a:ea typeface="微软雅黑" panose="020B0503020204020204" charset="-122"/>
              <a:cs typeface="微软雅黑" panose="020B0503020204020204" charset="-122"/>
            </a:endParaRPr>
          </a:p>
        </p:txBody>
      </p:sp>
      <p:graphicFrame>
        <p:nvGraphicFramePr>
          <p:cNvPr id="1324" name="table 1324"/>
          <p:cNvGraphicFramePr>
            <a:graphicFrameLocks noGrp="1"/>
          </p:cNvGraphicFramePr>
          <p:nvPr/>
        </p:nvGraphicFramePr>
        <p:xfrm>
          <a:off x="2025650" y="3510407"/>
          <a:ext cx="8140065" cy="2633979"/>
        </p:xfrm>
        <a:graphic>
          <a:graphicData uri="http://schemas.openxmlformats.org/drawingml/2006/table">
            <a:tbl>
              <a:tblPr/>
              <a:tblGrid>
                <a:gridCol w="2715260"/>
                <a:gridCol w="2709545"/>
                <a:gridCol w="2715260"/>
              </a:tblGrid>
              <a:tr h="43306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16000"/>
                        </a:lnSpc>
                      </a:pPr>
                      <a:endParaRPr sz="600" dirty="0">
                        <a:latin typeface="Arial" panose="020B0604020202020204"/>
                        <a:ea typeface="Arial" panose="020B0604020202020204"/>
                        <a:cs typeface="Arial" panose="020B0604020202020204"/>
                      </a:endParaRPr>
                    </a:p>
                    <a:p>
                      <a:pPr marL="111760" algn="l" rtl="0" eaLnBrk="0">
                        <a:lnSpc>
                          <a:spcPct val="87000"/>
                        </a:lnSpc>
                        <a:spcBef>
                          <a:spcPts val="5"/>
                        </a:spcBef>
                      </a:pPr>
                      <a:r>
                        <a:rPr sz="2100" b="1" kern="0" spc="0" dirty="0">
                          <a:solidFill>
                            <a:srgbClr val="FFFFFF">
                              <a:alpha val="100000"/>
                            </a:srgbClr>
                          </a:solidFill>
                          <a:latin typeface="Calibri" panose="020F0502020204030204"/>
                          <a:ea typeface="Calibri" panose="020F0502020204030204"/>
                          <a:cs typeface="Calibri" panose="020F0502020204030204"/>
                        </a:rPr>
                        <a:t>Fat</a:t>
                      </a:r>
                      <a:r>
                        <a:rPr sz="2100" b="1" kern="0" spc="10" dirty="0">
                          <a:solidFill>
                            <a:srgbClr val="FFFFFF">
                              <a:alpha val="100000"/>
                            </a:srgbClr>
                          </a:solidFill>
                          <a:latin typeface="Calibri" panose="020F0502020204030204"/>
                          <a:ea typeface="Calibri" panose="020F0502020204030204"/>
                          <a:cs typeface="Calibri" panose="020F0502020204030204"/>
                        </a:rPr>
                        <a:t>-</a:t>
                      </a:r>
                      <a:r>
                        <a:rPr sz="2100" b="1" kern="0" spc="0" dirty="0">
                          <a:solidFill>
                            <a:srgbClr val="FFFFFF">
                              <a:alpha val="100000"/>
                            </a:srgbClr>
                          </a:solidFill>
                          <a:latin typeface="Calibri" panose="020F0502020204030204"/>
                          <a:ea typeface="Calibri" panose="020F0502020204030204"/>
                          <a:cs typeface="Calibri" panose="020F0502020204030204"/>
                        </a:rPr>
                        <a:t>tree</a:t>
                      </a:r>
                      <a:endParaRPr sz="2100" dirty="0">
                        <a:latin typeface="Calibri" panose="020F0502020204030204"/>
                        <a:ea typeface="Calibri" panose="020F0502020204030204"/>
                        <a:cs typeface="Calibri" panose="020F050202020403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10000"/>
                        </a:lnSpc>
                      </a:pPr>
                      <a:endParaRPr sz="800" dirty="0">
                        <a:latin typeface="Arial" panose="020B0604020202020204"/>
                        <a:ea typeface="Arial" panose="020B0604020202020204"/>
                        <a:cs typeface="Arial" panose="020B0604020202020204"/>
                      </a:endParaRPr>
                    </a:p>
                    <a:p>
                      <a:pPr marL="95250" algn="l" rtl="0" eaLnBrk="0">
                        <a:lnSpc>
                          <a:spcPct val="69000"/>
                        </a:lnSpc>
                        <a:spcBef>
                          <a:spcPts val="5"/>
                        </a:spcBef>
                      </a:pPr>
                      <a:r>
                        <a:rPr sz="2100" b="1" kern="0" spc="0" dirty="0">
                          <a:solidFill>
                            <a:srgbClr val="FFFFFF">
                              <a:alpha val="100000"/>
                            </a:srgbClr>
                          </a:solidFill>
                          <a:latin typeface="Calibri" panose="020F0502020204030204"/>
                          <a:ea typeface="Calibri" panose="020F0502020204030204"/>
                          <a:cs typeface="Calibri" panose="020F0502020204030204"/>
                        </a:rPr>
                        <a:t>VL</a:t>
                      </a:r>
                      <a:r>
                        <a:rPr sz="2100" b="1" kern="0" spc="100" dirty="0">
                          <a:solidFill>
                            <a:srgbClr val="FFFFFF">
                              <a:alpha val="100000"/>
                            </a:srgbClr>
                          </a:solidFill>
                          <a:latin typeface="Calibri" panose="020F0502020204030204"/>
                          <a:ea typeface="Calibri" panose="020F0502020204030204"/>
                          <a:cs typeface="Calibri" panose="020F0502020204030204"/>
                        </a:rPr>
                        <a:t>2</a:t>
                      </a:r>
                      <a:endParaRPr sz="2100" dirty="0">
                        <a:latin typeface="Calibri" panose="020F0502020204030204"/>
                        <a:ea typeface="Calibri" panose="020F0502020204030204"/>
                        <a:cs typeface="Calibri" panose="020F050202020403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r>
              <a:tr h="762000">
                <a:tc>
                  <a:txBody>
                    <a:bodyPr/>
                    <a:lstStyle/>
                    <a:p>
                      <a:pPr algn="l" rtl="0" eaLnBrk="0">
                        <a:lnSpc>
                          <a:spcPct val="105000"/>
                        </a:lnSpc>
                      </a:pPr>
                      <a:endParaRPr sz="500" dirty="0">
                        <a:latin typeface="Arial" panose="020B0604020202020204"/>
                        <a:ea typeface="Arial" panose="020B0604020202020204"/>
                        <a:cs typeface="Arial" panose="020B0604020202020204"/>
                      </a:endParaRPr>
                    </a:p>
                    <a:p>
                      <a:pPr marL="114300" algn="l" rtl="0" eaLnBrk="0">
                        <a:lnSpc>
                          <a:spcPct val="91000"/>
                        </a:lnSpc>
                        <a:spcBef>
                          <a:spcPts val="5"/>
                        </a:spcBef>
                      </a:pPr>
                      <a:r>
                        <a:rPr sz="2100" kern="0" spc="60" dirty="0">
                          <a:solidFill>
                            <a:srgbClr val="000000">
                              <a:alpha val="100000"/>
                            </a:srgbClr>
                          </a:solidFill>
                          <a:latin typeface="等线" panose="02010600030101010101" charset="-122"/>
                          <a:ea typeface="等线" panose="02010600030101010101" charset="-122"/>
                          <a:cs typeface="等线" panose="02010600030101010101" charset="-122"/>
                        </a:rPr>
                        <a:t>编制方式</a:t>
                      </a:r>
                      <a:endParaRPr sz="21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4000"/>
                        </a:lnSpc>
                      </a:pPr>
                      <a:endParaRPr sz="500" dirty="0">
                        <a:latin typeface="Arial" panose="020B0604020202020204"/>
                        <a:ea typeface="Arial" panose="020B0604020202020204"/>
                        <a:cs typeface="Arial" panose="020B0604020202020204"/>
                      </a:endParaRPr>
                    </a:p>
                    <a:p>
                      <a:pPr marL="106045" indent="1270" algn="l" rtl="0" eaLnBrk="0">
                        <a:lnSpc>
                          <a:spcPct val="98000"/>
                        </a:lnSpc>
                        <a:spcBef>
                          <a:spcPts val="5"/>
                        </a:spcBef>
                      </a:pPr>
                      <a:r>
                        <a:rPr sz="2100" kern="0" spc="80" dirty="0">
                          <a:solidFill>
                            <a:srgbClr val="000000">
                              <a:alpha val="100000"/>
                            </a:srgbClr>
                          </a:solidFill>
                          <a:latin typeface="等线" panose="02010600030101010101" charset="-122"/>
                          <a:ea typeface="等线" panose="02010600030101010101" charset="-122"/>
                          <a:cs typeface="等线" panose="02010600030101010101" charset="-122"/>
                        </a:rPr>
                        <a:t>直接使用位置相关的</a:t>
                      </a:r>
                      <a:r>
                        <a:rPr sz="2100" kern="0" spc="0" dirty="0">
                          <a:solidFill>
                            <a:srgbClr val="000000">
                              <a:alpha val="100000"/>
                            </a:srgbClr>
                          </a:solidFill>
                          <a:latin typeface="等线" panose="02010600030101010101" charset="-122"/>
                          <a:ea typeface="等线" panose="02010600030101010101" charset="-122"/>
                          <a:cs typeface="等线" panose="02010600030101010101" charset="-122"/>
                        </a:rPr>
                        <a:t>  </a:t>
                      </a:r>
                      <a:r>
                        <a:rPr sz="2100" kern="0" spc="30" dirty="0">
                          <a:solidFill>
                            <a:srgbClr val="000000">
                              <a:alpha val="100000"/>
                            </a:srgbClr>
                          </a:solidFill>
                          <a:latin typeface="等线" panose="02010600030101010101" charset="-122"/>
                          <a:ea typeface="等线" panose="02010600030101010101" charset="-122"/>
                          <a:cs typeface="等线" panose="02010600030101010101" charset="-122"/>
                        </a:rPr>
                        <a:t>寻址</a:t>
                      </a:r>
                      <a:endParaRPr sz="21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4000"/>
                        </a:lnSpc>
                      </a:pPr>
                      <a:endParaRPr sz="500" dirty="0">
                        <a:latin typeface="Arial" panose="020B0604020202020204"/>
                        <a:ea typeface="Arial" panose="020B0604020202020204"/>
                        <a:cs typeface="Arial" panose="020B0604020202020204"/>
                      </a:endParaRPr>
                    </a:p>
                    <a:p>
                      <a:pPr marL="97155" indent="12065" algn="l" rtl="0" eaLnBrk="0">
                        <a:lnSpc>
                          <a:spcPct val="98000"/>
                        </a:lnSpc>
                        <a:spcBef>
                          <a:spcPts val="5"/>
                        </a:spcBef>
                      </a:pPr>
                      <a:r>
                        <a:rPr sz="2100" kern="0" spc="80" dirty="0">
                          <a:solidFill>
                            <a:srgbClr val="000000">
                              <a:alpha val="100000"/>
                            </a:srgbClr>
                          </a:solidFill>
                          <a:latin typeface="等线" panose="02010600030101010101" charset="-122"/>
                          <a:ea typeface="等线" panose="02010600030101010101" charset="-122"/>
                          <a:cs typeface="等线" panose="02010600030101010101" charset="-122"/>
                        </a:rPr>
                        <a:t>强调位置无关，便于</a:t>
                      </a:r>
                      <a:r>
                        <a:rPr sz="2100" kern="0" spc="-10" dirty="0">
                          <a:solidFill>
                            <a:srgbClr val="000000">
                              <a:alpha val="100000"/>
                            </a:srgbClr>
                          </a:solidFill>
                          <a:latin typeface="等线" panose="02010600030101010101" charset="-122"/>
                          <a:ea typeface="等线" panose="02010600030101010101" charset="-122"/>
                          <a:cs typeface="等线" panose="02010600030101010101" charset="-122"/>
                        </a:rPr>
                        <a:t>  </a:t>
                      </a:r>
                      <a:r>
                        <a:rPr sz="2100" kern="0" spc="0" dirty="0">
                          <a:solidFill>
                            <a:srgbClr val="000000">
                              <a:alpha val="100000"/>
                            </a:srgbClr>
                          </a:solidFill>
                          <a:latin typeface="Calibri" panose="020F0502020204030204"/>
                          <a:ea typeface="Calibri" panose="020F0502020204030204"/>
                          <a:cs typeface="Calibri" panose="020F0502020204030204"/>
                        </a:rPr>
                        <a:t>VM</a:t>
                      </a:r>
                      <a:r>
                        <a:rPr sz="2100" kern="0" spc="120" dirty="0">
                          <a:solidFill>
                            <a:srgbClr val="000000">
                              <a:alpha val="100000"/>
                            </a:srgbClr>
                          </a:solidFill>
                          <a:latin typeface="等线" panose="02010600030101010101" charset="-122"/>
                          <a:ea typeface="等线" panose="02010600030101010101" charset="-122"/>
                          <a:cs typeface="等线" panose="02010600030101010101" charset="-122"/>
                        </a:rPr>
                        <a:t>热迁移</a:t>
                      </a:r>
                      <a:endParaRPr sz="21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1438910">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111760" algn="l" rtl="0" eaLnBrk="0">
                        <a:lnSpc>
                          <a:spcPct val="91000"/>
                        </a:lnSpc>
                      </a:pPr>
                      <a:r>
                        <a:rPr sz="2100" kern="0" spc="60" dirty="0">
                          <a:solidFill>
                            <a:srgbClr val="000000">
                              <a:alpha val="100000"/>
                            </a:srgbClr>
                          </a:solidFill>
                          <a:latin typeface="等线" panose="02010600030101010101" charset="-122"/>
                          <a:ea typeface="等线" panose="02010600030101010101" charset="-122"/>
                          <a:cs typeface="等线" panose="02010600030101010101" charset="-122"/>
                        </a:rPr>
                        <a:t>流量分散</a:t>
                      </a:r>
                      <a:endParaRPr sz="21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106680" algn="l" rtl="0" eaLnBrk="0">
                        <a:lnSpc>
                          <a:spcPct val="91000"/>
                        </a:lnSpc>
                      </a:pPr>
                      <a:r>
                        <a:rPr sz="2100" kern="0" spc="80" dirty="0">
                          <a:solidFill>
                            <a:srgbClr val="000000">
                              <a:alpha val="100000"/>
                            </a:srgbClr>
                          </a:solidFill>
                          <a:latin typeface="等线" panose="02010600030101010101" charset="-122"/>
                          <a:ea typeface="等线" panose="02010600030101010101" charset="-122"/>
                          <a:cs typeface="等线" panose="02010600030101010101" charset="-122"/>
                        </a:rPr>
                        <a:t>通常使用静态路由</a:t>
                      </a:r>
                      <a:endParaRPr sz="21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9000"/>
                        </a:lnSpc>
                      </a:pPr>
                      <a:endParaRPr sz="500" dirty="0">
                        <a:latin typeface="Arial" panose="020B0604020202020204"/>
                        <a:ea typeface="Arial" panose="020B0604020202020204"/>
                        <a:cs typeface="Arial" panose="020B0604020202020204"/>
                      </a:endParaRPr>
                    </a:p>
                    <a:p>
                      <a:pPr marL="100965" indent="-1905" algn="l" rtl="0" eaLnBrk="0">
                        <a:lnSpc>
                          <a:spcPct val="103000"/>
                        </a:lnSpc>
                        <a:spcBef>
                          <a:spcPts val="0"/>
                        </a:spcBef>
                      </a:pPr>
                      <a:r>
                        <a:rPr sz="2100" kern="0" spc="80" dirty="0">
                          <a:solidFill>
                            <a:srgbClr val="000000">
                              <a:alpha val="100000"/>
                            </a:srgbClr>
                          </a:solidFill>
                          <a:latin typeface="等线" panose="02010600030101010101" charset="-122"/>
                          <a:ea typeface="等线" panose="02010600030101010101" charset="-122"/>
                          <a:cs typeface="等线" panose="02010600030101010101" charset="-122"/>
                        </a:rPr>
                        <a:t>使用随机化方案，实</a:t>
                      </a:r>
                      <a:r>
                        <a:rPr sz="2100" kern="0" spc="30" dirty="0">
                          <a:solidFill>
                            <a:srgbClr val="000000">
                              <a:alpha val="100000"/>
                            </a:srgbClr>
                          </a:solidFill>
                          <a:latin typeface="等线" panose="02010600030101010101" charset="-122"/>
                          <a:ea typeface="等线" panose="02010600030101010101" charset="-122"/>
                          <a:cs typeface="等线" panose="02010600030101010101" charset="-122"/>
                        </a:rPr>
                        <a:t>  </a:t>
                      </a:r>
                      <a:r>
                        <a:rPr sz="2100" kern="0" spc="80" dirty="0">
                          <a:solidFill>
                            <a:srgbClr val="000000">
                              <a:alpha val="100000"/>
                            </a:srgbClr>
                          </a:solidFill>
                          <a:latin typeface="等线" panose="02010600030101010101" charset="-122"/>
                          <a:ea typeface="等线" panose="02010600030101010101" charset="-122"/>
                          <a:cs typeface="等线" panose="02010600030101010101" charset="-122"/>
                        </a:rPr>
                        <a:t>现负载均衡、消除热</a:t>
                      </a:r>
                      <a:r>
                        <a:rPr sz="2100" kern="0" spc="20" dirty="0">
                          <a:solidFill>
                            <a:srgbClr val="000000">
                              <a:alpha val="100000"/>
                            </a:srgbClr>
                          </a:solidFill>
                          <a:latin typeface="等线" panose="02010600030101010101" charset="-122"/>
                          <a:ea typeface="等线" panose="02010600030101010101" charset="-122"/>
                          <a:cs typeface="等线" panose="02010600030101010101" charset="-122"/>
                        </a:rPr>
                        <a:t>  </a:t>
                      </a:r>
                      <a:r>
                        <a:rPr sz="2100" kern="0" spc="80" dirty="0">
                          <a:solidFill>
                            <a:srgbClr val="000000">
                              <a:alpha val="100000"/>
                            </a:srgbClr>
                          </a:solidFill>
                          <a:latin typeface="等线" panose="02010600030101010101" charset="-122"/>
                          <a:ea typeface="等线" panose="02010600030101010101" charset="-122"/>
                          <a:cs typeface="等线" panose="02010600030101010101" charset="-122"/>
                        </a:rPr>
                        <a:t>点、减少服务间干扰</a:t>
                      </a:r>
                      <a:r>
                        <a:rPr sz="2100" kern="0" spc="20" dirty="0">
                          <a:solidFill>
                            <a:srgbClr val="000000">
                              <a:alpha val="100000"/>
                            </a:srgbClr>
                          </a:solidFill>
                          <a:latin typeface="等线" panose="02010600030101010101" charset="-122"/>
                          <a:ea typeface="等线" panose="02010600030101010101" charset="-122"/>
                          <a:cs typeface="等线" panose="02010600030101010101" charset="-122"/>
                        </a:rPr>
                        <a:t>  </a:t>
                      </a:r>
                      <a:r>
                        <a:rPr sz="2100" kern="0" spc="50" dirty="0">
                          <a:solidFill>
                            <a:srgbClr val="000000">
                              <a:alpha val="100000"/>
                            </a:srgbClr>
                          </a:solidFill>
                          <a:latin typeface="等线" panose="02010600030101010101" charset="-122"/>
                          <a:ea typeface="等线" panose="02010600030101010101" charset="-122"/>
                          <a:cs typeface="等线" panose="02010600030101010101" charset="-122"/>
                        </a:rPr>
                        <a:t>程度</a:t>
                      </a:r>
                      <a:endParaRPr sz="2100" dirty="0">
                        <a:latin typeface="等线" panose="02010600030101010101" charset="-122"/>
                        <a:ea typeface="等线" panose="02010600030101010101" charset="-122"/>
                        <a:cs typeface="等线" panose="0201060003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bl>
          </a:graphicData>
        </a:graphic>
      </p:graphicFrame>
      <p:sp>
        <p:nvSpPr>
          <p:cNvPr id="1326" name="textbox 1326"/>
          <p:cNvSpPr/>
          <p:nvPr/>
        </p:nvSpPr>
        <p:spPr>
          <a:xfrm>
            <a:off x="263709" y="127150"/>
            <a:ext cx="1789429" cy="52260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4000"/>
              </a:lnSpc>
            </a:pPr>
            <a:r>
              <a:rPr sz="3900" b="1" kern="0" spc="-30" dirty="0">
                <a:solidFill>
                  <a:srgbClr val="F26849">
                    <a:alpha val="100000"/>
                  </a:srgbClr>
                </a:solidFill>
                <a:latin typeface="微软雅黑" panose="020B0503020204020204" charset="-122"/>
                <a:ea typeface="微软雅黑" panose="020B0503020204020204" charset="-122"/>
                <a:cs typeface="微软雅黑" panose="020B0503020204020204" charset="-122"/>
              </a:rPr>
              <a:t>Review</a:t>
            </a:r>
            <a:endParaRPr sz="3900" dirty="0">
              <a:latin typeface="微软雅黑" panose="020B0503020204020204" charset="-122"/>
              <a:ea typeface="微软雅黑" panose="020B0503020204020204" charset="-122"/>
              <a:cs typeface="微软雅黑" panose="020B0503020204020204" charset="-122"/>
            </a:endParaRPr>
          </a:p>
        </p:txBody>
      </p:sp>
      <p:pic>
        <p:nvPicPr>
          <p:cNvPr id="1328" name="picture 1328"/>
          <p:cNvPicPr>
            <a:picLocks noChangeAspect="1"/>
          </p:cNvPicPr>
          <p:nvPr/>
        </p:nvPicPr>
        <p:blipFill>
          <a:blip r:embed="rId1"/>
          <a:stretch>
            <a:fillRect/>
          </a:stretch>
        </p:blipFill>
        <p:spPr>
          <a:xfrm rot="21600000">
            <a:off x="11338559" y="18288"/>
            <a:ext cx="720852" cy="719328"/>
          </a:xfrm>
          <a:prstGeom prst="rect">
            <a:avLst/>
          </a:prstGeom>
        </p:spPr>
      </p:pic>
      <p:pic>
        <p:nvPicPr>
          <p:cNvPr id="1330" name="picture 1330"/>
          <p:cNvPicPr>
            <a:picLocks noChangeAspect="1"/>
          </p:cNvPicPr>
          <p:nvPr/>
        </p:nvPicPr>
        <p:blipFill>
          <a:blip r:embed="rId2"/>
          <a:stretch>
            <a:fillRect/>
          </a:stretch>
        </p:blipFill>
        <p:spPr>
          <a:xfrm rot="21600000">
            <a:off x="155447" y="751332"/>
            <a:ext cx="11881104" cy="19811"/>
          </a:xfrm>
          <a:prstGeom prst="rect">
            <a:avLst/>
          </a:prstGeom>
        </p:spPr>
      </p:pic>
      <p:pic>
        <p:nvPicPr>
          <p:cNvPr id="1332" name="picture 1332"/>
          <p:cNvPicPr>
            <a:picLocks noChangeAspect="1"/>
          </p:cNvPicPr>
          <p:nvPr/>
        </p:nvPicPr>
        <p:blipFill>
          <a:blip r:embed="rId3"/>
          <a:stretch>
            <a:fillRect/>
          </a:stretch>
        </p:blipFill>
        <p:spPr>
          <a:xfrm rot="21600000">
            <a:off x="161544" y="6461759"/>
            <a:ext cx="11879580" cy="18288"/>
          </a:xfrm>
          <a:prstGeom prst="rect">
            <a:avLst/>
          </a:prstGeom>
        </p:spPr>
      </p:pic>
      <p:sp>
        <p:nvSpPr>
          <p:cNvPr id="1334" name="textbox 1334"/>
          <p:cNvSpPr/>
          <p:nvPr/>
        </p:nvSpPr>
        <p:spPr>
          <a:xfrm>
            <a:off x="11587445" y="6559321"/>
            <a:ext cx="24574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65</a:t>
            </a:r>
            <a:endParaRPr sz="1800" dirty="0">
              <a:latin typeface="Calibri" panose="020F0502020204030204"/>
              <a:ea typeface="Calibri" panose="020F0502020204030204"/>
              <a:cs typeface="Calibri" panose="020F0502020204030204"/>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6" name="textbox 1336"/>
          <p:cNvSpPr/>
          <p:nvPr/>
        </p:nvSpPr>
        <p:spPr>
          <a:xfrm>
            <a:off x="329438" y="972566"/>
            <a:ext cx="11534775" cy="3753484"/>
          </a:xfrm>
          <a:prstGeom prst="roundRect">
            <a:avLst>
              <a:gd name="adj" fmla="val 7606"/>
            </a:avLst>
          </a:prstGeom>
          <a:noFill/>
          <a:ln w="25400" cap="flat">
            <a:solidFill>
              <a:srgbClr val="A5A5A5"/>
            </a:solidFill>
            <a:prstDash val="solid"/>
            <a:miter lim="0"/>
          </a:ln>
        </p:spPr>
        <p:txBody>
          <a:bodyPr vert="horz" wrap="square" lIns="0" tIns="0" rIns="0" bIns="0"/>
          <a:lstStyle/>
          <a:p>
            <a:pPr algn="l" rtl="0" eaLnBrk="0">
              <a:lnSpc>
                <a:spcPct val="159000"/>
              </a:lnSpc>
            </a:pPr>
            <a:endParaRPr sz="1000" dirty="0">
              <a:latin typeface="Arial" panose="020B0604020202020204"/>
              <a:ea typeface="Arial" panose="020B0604020202020204"/>
              <a:cs typeface="Arial" panose="020B0604020202020204"/>
            </a:endParaRPr>
          </a:p>
          <a:p>
            <a:pPr marL="324485" algn="l" rtl="0" eaLnBrk="0">
              <a:lnSpc>
                <a:spcPct val="89000"/>
              </a:lnSpc>
            </a:pP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由此可见，</a:t>
            </a:r>
            <a:r>
              <a:rPr sz="24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VL2</a:t>
            </a:r>
            <a:r>
              <a:rPr sz="2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会更加适用于</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以下场景：</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marL="319405" algn="l" rtl="0" eaLnBrk="0">
              <a:lnSpc>
                <a:spcPct val="89000"/>
              </a:lnSpc>
              <a:spcBef>
                <a:spcPts val="725"/>
              </a:spcBef>
              <a:tabLst>
                <a:tab pos="53594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云环境，支持大量VM</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，支持VM的灵活迁移</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marL="319405" algn="l" rtl="0" eaLnBrk="0">
              <a:lnSpc>
                <a:spcPct val="89000"/>
              </a:lnSpc>
              <a:spcBef>
                <a:spcPts val="725"/>
              </a:spcBef>
              <a:tabLst>
                <a:tab pos="53594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未知或突发的流量模型，避免复杂</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流量工程</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319405" algn="l" rtl="0" eaLnBrk="0">
              <a:lnSpc>
                <a:spcPct val="89000"/>
              </a:lnSpc>
              <a:spcBef>
                <a:spcPts val="5"/>
              </a:spcBef>
              <a:tabLst>
                <a:tab pos="53594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东西向流量主导的应用：避</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免热点</a:t>
            </a:r>
            <a:endParaRPr sz="2400" dirty="0">
              <a:latin typeface="微软雅黑" panose="020B0503020204020204" charset="-122"/>
              <a:ea typeface="微软雅黑" panose="020B0503020204020204" charset="-122"/>
              <a:cs typeface="微软雅黑" panose="020B0503020204020204" charset="-122"/>
            </a:endParaRPr>
          </a:p>
        </p:txBody>
      </p:sp>
      <p:pic>
        <p:nvPicPr>
          <p:cNvPr id="1338" name="picture 1338"/>
          <p:cNvPicPr>
            <a:picLocks noChangeAspect="1"/>
          </p:cNvPicPr>
          <p:nvPr/>
        </p:nvPicPr>
        <p:blipFill>
          <a:blip r:embed="rId1"/>
          <a:stretch>
            <a:fillRect/>
          </a:stretch>
        </p:blipFill>
        <p:spPr>
          <a:xfrm rot="21600000">
            <a:off x="732764" y="3075767"/>
            <a:ext cx="216624" cy="223946"/>
          </a:xfrm>
          <a:prstGeom prst="rect">
            <a:avLst/>
          </a:prstGeom>
        </p:spPr>
      </p:pic>
      <p:pic>
        <p:nvPicPr>
          <p:cNvPr id="1340" name="picture 1340"/>
          <p:cNvPicPr>
            <a:picLocks noChangeAspect="1"/>
          </p:cNvPicPr>
          <p:nvPr/>
        </p:nvPicPr>
        <p:blipFill>
          <a:blip r:embed="rId2"/>
          <a:stretch>
            <a:fillRect/>
          </a:stretch>
        </p:blipFill>
        <p:spPr>
          <a:xfrm rot="21600000">
            <a:off x="732739" y="2490774"/>
            <a:ext cx="216408" cy="223723"/>
          </a:xfrm>
          <a:prstGeom prst="rect">
            <a:avLst/>
          </a:prstGeom>
        </p:spPr>
      </p:pic>
      <p:pic>
        <p:nvPicPr>
          <p:cNvPr id="1342" name="picture 1342"/>
          <p:cNvPicPr>
            <a:picLocks noChangeAspect="1"/>
          </p:cNvPicPr>
          <p:nvPr/>
        </p:nvPicPr>
        <p:blipFill>
          <a:blip r:embed="rId2"/>
          <a:stretch>
            <a:fillRect/>
          </a:stretch>
        </p:blipFill>
        <p:spPr>
          <a:xfrm rot="21600000">
            <a:off x="732739" y="1907082"/>
            <a:ext cx="216408" cy="223723"/>
          </a:xfrm>
          <a:prstGeom prst="rect">
            <a:avLst/>
          </a:prstGeom>
        </p:spPr>
      </p:pic>
      <p:sp>
        <p:nvSpPr>
          <p:cNvPr id="1344" name="textbox 1344"/>
          <p:cNvSpPr/>
          <p:nvPr/>
        </p:nvSpPr>
        <p:spPr>
          <a:xfrm>
            <a:off x="263709" y="127150"/>
            <a:ext cx="1789429" cy="52260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4000"/>
              </a:lnSpc>
            </a:pPr>
            <a:r>
              <a:rPr sz="3900" b="1" kern="0" spc="-30" dirty="0">
                <a:solidFill>
                  <a:srgbClr val="F26849">
                    <a:alpha val="100000"/>
                  </a:srgbClr>
                </a:solidFill>
                <a:latin typeface="微软雅黑" panose="020B0503020204020204" charset="-122"/>
                <a:ea typeface="微软雅黑" panose="020B0503020204020204" charset="-122"/>
                <a:cs typeface="微软雅黑" panose="020B0503020204020204" charset="-122"/>
              </a:rPr>
              <a:t>Review</a:t>
            </a:r>
            <a:endParaRPr sz="3900" dirty="0">
              <a:latin typeface="微软雅黑" panose="020B0503020204020204" charset="-122"/>
              <a:ea typeface="微软雅黑" panose="020B0503020204020204" charset="-122"/>
              <a:cs typeface="微软雅黑" panose="020B0503020204020204" charset="-122"/>
            </a:endParaRPr>
          </a:p>
        </p:txBody>
      </p:sp>
      <p:pic>
        <p:nvPicPr>
          <p:cNvPr id="1346" name="picture 1346"/>
          <p:cNvPicPr>
            <a:picLocks noChangeAspect="1"/>
          </p:cNvPicPr>
          <p:nvPr/>
        </p:nvPicPr>
        <p:blipFill>
          <a:blip r:embed="rId3"/>
          <a:stretch>
            <a:fillRect/>
          </a:stretch>
        </p:blipFill>
        <p:spPr>
          <a:xfrm rot="21600000">
            <a:off x="11338559" y="18288"/>
            <a:ext cx="720852" cy="719328"/>
          </a:xfrm>
          <a:prstGeom prst="rect">
            <a:avLst/>
          </a:prstGeom>
        </p:spPr>
      </p:pic>
      <p:pic>
        <p:nvPicPr>
          <p:cNvPr id="1348" name="picture 1348"/>
          <p:cNvPicPr>
            <a:picLocks noChangeAspect="1"/>
          </p:cNvPicPr>
          <p:nvPr/>
        </p:nvPicPr>
        <p:blipFill>
          <a:blip r:embed="rId4"/>
          <a:stretch>
            <a:fillRect/>
          </a:stretch>
        </p:blipFill>
        <p:spPr>
          <a:xfrm rot="21600000">
            <a:off x="155447" y="751332"/>
            <a:ext cx="11881104" cy="19811"/>
          </a:xfrm>
          <a:prstGeom prst="rect">
            <a:avLst/>
          </a:prstGeom>
        </p:spPr>
      </p:pic>
      <p:pic>
        <p:nvPicPr>
          <p:cNvPr id="1350" name="picture 1350"/>
          <p:cNvPicPr>
            <a:picLocks noChangeAspect="1"/>
          </p:cNvPicPr>
          <p:nvPr/>
        </p:nvPicPr>
        <p:blipFill>
          <a:blip r:embed="rId5"/>
          <a:stretch>
            <a:fillRect/>
          </a:stretch>
        </p:blipFill>
        <p:spPr>
          <a:xfrm rot="21600000">
            <a:off x="161544" y="6461759"/>
            <a:ext cx="11879580" cy="18288"/>
          </a:xfrm>
          <a:prstGeom prst="rect">
            <a:avLst/>
          </a:prstGeom>
        </p:spPr>
      </p:pic>
      <p:sp>
        <p:nvSpPr>
          <p:cNvPr id="1352" name="textbox 1352"/>
          <p:cNvSpPr/>
          <p:nvPr/>
        </p:nvSpPr>
        <p:spPr>
          <a:xfrm>
            <a:off x="11587445" y="6559321"/>
            <a:ext cx="245745" cy="2546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pPr>
            <a:r>
              <a:rPr sz="1800" kern="0" spc="-30" dirty="0">
                <a:solidFill>
                  <a:srgbClr val="000000">
                    <a:alpha val="100000"/>
                  </a:srgbClr>
                </a:solidFill>
                <a:latin typeface="Calibri" panose="020F0502020204030204"/>
                <a:ea typeface="Calibri" panose="020F0502020204030204"/>
                <a:cs typeface="Calibri" panose="020F0502020204030204"/>
              </a:rPr>
              <a:t>66</a:t>
            </a:r>
            <a:endParaRPr sz="1800" dirty="0">
              <a:latin typeface="Calibri" panose="020F0502020204030204"/>
              <a:ea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16276</Words>
  <Application>WPS 演示</Application>
  <PresentationFormat/>
  <Paragraphs>1166</Paragraphs>
  <Slides>66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66</vt:i4>
      </vt:variant>
    </vt:vector>
  </HeadingPairs>
  <TitlesOfParts>
    <vt:vector size="76" baseType="lpstr">
      <vt:lpstr>Arial</vt:lpstr>
      <vt:lpstr>宋体</vt:lpstr>
      <vt:lpstr>Wingdings</vt:lpstr>
      <vt:lpstr>Arial</vt:lpstr>
      <vt:lpstr>微软雅黑</vt:lpstr>
      <vt:lpstr>Calibri</vt:lpstr>
      <vt:lpstr>等线</vt:lpstr>
      <vt:lpstr>Arial Unicode MS</vt:lpstr>
      <vt:lpstr>Cambria Math</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innerpeace</cp:lastModifiedBy>
  <cp:revision>1</cp:revision>
  <dcterms:created xsi:type="dcterms:W3CDTF">2025-11-25T08:52:42Z</dcterms:created>
  <dcterms:modified xsi:type="dcterms:W3CDTF">2025-11-25T08:52:43Z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wqlLaW5nc29mdCBQREYgdG8gV1BTIDExMA</vt:lpwstr>
  </property>
  <property fmtid="{D5CDD505-2E9C-101B-9397-08002B2CF9AE}" pid="3" name="Created">
    <vt:filetime>2025-10-11T20:19:37Z</vt:filetime>
  </property>
  <property fmtid="{D5CDD505-2E9C-101B-9397-08002B2CF9AE}" pid="4" name="ICV">
    <vt:lpwstr>5056E5C37E3D4A69B6ED4DA661DFFC49_12</vt:lpwstr>
  </property>
  <property fmtid="{D5CDD505-2E9C-101B-9397-08002B2CF9AE}" pid="5" name="KSOProductBuildVer">
    <vt:lpwstr>2052-12.1.0.23542</vt:lpwstr>
  </property>
</Properties>
</file>