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96" r:id="rId3"/>
    <p:sldId id="453" r:id="rId5"/>
    <p:sldId id="454" r:id="rId6"/>
    <p:sldId id="455" r:id="rId7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65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65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65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65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65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65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65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65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83" userDrawn="1">
          <p15:clr>
            <a:srgbClr val="A4A3A4"/>
          </p15:clr>
        </p15:guide>
        <p15:guide id="2" pos="642" userDrawn="1">
          <p15:clr>
            <a:srgbClr val="A4A3A4"/>
          </p15:clr>
        </p15:guide>
        <p15:guide id="3" pos="9596" userDrawn="1">
          <p15:clr>
            <a:srgbClr val="A4A3A4"/>
          </p15:clr>
        </p15:guide>
        <p15:guide id="4" orient="horz" pos="4876" userDrawn="1">
          <p15:clr>
            <a:srgbClr val="A4A3A4"/>
          </p15:clr>
        </p15:guide>
        <p15:guide id="5" orient="horz" pos="1311" userDrawn="1">
          <p15:clr>
            <a:srgbClr val="A4A3A4"/>
          </p15:clr>
        </p15:guide>
        <p15:guide id="6" orient="horz" pos="290" userDrawn="1">
          <p15:clr>
            <a:srgbClr val="A4A3A4"/>
          </p15:clr>
        </p15:guide>
        <p15:guide id="7" orient="horz" pos="5480" userDrawn="1">
          <p15:clr>
            <a:srgbClr val="A4A3A4"/>
          </p15:clr>
        </p15:guide>
        <p15:guide id="8" pos="5081" userDrawn="1">
          <p15:clr>
            <a:srgbClr val="A4A3A4"/>
          </p15:clr>
        </p15:guide>
        <p15:guide id="9" orient="horz" pos="2698" userDrawn="1">
          <p15:clr>
            <a:srgbClr val="A4A3A4"/>
          </p15:clr>
        </p15:guide>
        <p15:guide id="11" orient="horz" pos="3908" userDrawn="1">
          <p15:clr>
            <a:srgbClr val="A4A3A4"/>
          </p15:clr>
        </p15:guide>
        <p15:guide id="12" orient="horz" pos="2879" userDrawn="1">
          <p15:clr>
            <a:srgbClr val="A4A3A4"/>
          </p15:clr>
        </p15:guide>
        <p15:guide id="13" orient="horz" pos="3657" userDrawn="1">
          <p15:clr>
            <a:srgbClr val="A4A3A4"/>
          </p15:clr>
        </p15:guide>
        <p15:guide id="14" orient="horz" pos="1027" userDrawn="1">
          <p15:clr>
            <a:srgbClr val="A4A3A4"/>
          </p15:clr>
        </p15:guide>
        <p15:guide id="15" orient="horz" pos="4111" userDrawn="1">
          <p15:clr>
            <a:srgbClr val="A4A3A4"/>
          </p15:clr>
        </p15:guide>
        <p15:guide id="16" orient="horz" pos="0" userDrawn="1">
          <p15:clr>
            <a:srgbClr val="A4A3A4"/>
          </p15:clr>
        </p15:guide>
        <p15:guide id="17" orient="horz" pos="2970" userDrawn="1">
          <p15:clr>
            <a:srgbClr val="A4A3A4"/>
          </p15:clr>
        </p15:guide>
        <p15:guide id="18" pos="483" userDrawn="1">
          <p15:clr>
            <a:srgbClr val="A4A3A4"/>
          </p15:clr>
        </p15:guide>
        <p15:guide id="19" pos="7197" userDrawn="1">
          <p15:clr>
            <a:srgbClr val="A4A3A4"/>
          </p15:clr>
        </p15:guide>
        <p15:guide id="20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BAA"/>
    <a:srgbClr val="1E9C87"/>
    <a:srgbClr val="333333"/>
    <a:srgbClr val="42C687"/>
    <a:srgbClr val="4D4D4D"/>
    <a:srgbClr val="7F7F7F"/>
    <a:srgbClr val="525252"/>
    <a:srgbClr val="274145"/>
    <a:srgbClr val="203B3C"/>
    <a:srgbClr val="1F38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76" autoAdjust="0"/>
    <p:restoredTop sz="95028" autoAdjust="0"/>
  </p:normalViewPr>
  <p:slideViewPr>
    <p:cSldViewPr snapToGrid="0" showGuides="1">
      <p:cViewPr>
        <p:scale>
          <a:sx n="125" d="100"/>
          <a:sy n="125" d="100"/>
        </p:scale>
        <p:origin x="412" y="948"/>
      </p:cViewPr>
      <p:guideLst>
        <p:guide orient="horz" pos="3783"/>
        <p:guide pos="642"/>
        <p:guide pos="9596"/>
        <p:guide orient="horz" pos="4876"/>
        <p:guide orient="horz" pos="1311"/>
        <p:guide orient="horz" pos="290"/>
        <p:guide orient="horz" pos="5480"/>
        <p:guide pos="5081"/>
        <p:guide orient="horz" pos="2698"/>
        <p:guide orient="horz" pos="3908"/>
        <p:guide orient="horz" pos="2879"/>
        <p:guide orient="horz" pos="3657"/>
        <p:guide orient="horz" pos="1027"/>
        <p:guide orient="horz" pos="4111"/>
        <p:guide orient="horz"/>
        <p:guide orient="horz" pos="2970"/>
        <p:guide pos="483"/>
        <p:guide pos="719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43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A699EB-6B6F-4303-84E5-698CBBF28A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1D5E53-1996-4A18-8378-BCF5C8046DA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D5E53-1996-4A18-8378-BCF5C8046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96E64-783D-463C-BA44-F5AF67B4648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76CA-DACA-4216-AE75-62203F8377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96E64-783D-463C-BA44-F5AF67B4648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76CA-DACA-4216-AE75-62203F8377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96E64-783D-463C-BA44-F5AF67B4648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76CA-DACA-4216-AE75-62203F8377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96E64-783D-463C-BA44-F5AF67B4648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76CA-DACA-4216-AE75-62203F8377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96E64-783D-463C-BA44-F5AF67B4648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76CA-DACA-4216-AE75-62203F8377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96E64-783D-463C-BA44-F5AF67B4648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76CA-DACA-4216-AE75-62203F8377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96E64-783D-463C-BA44-F5AF67B4648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76CA-DACA-4216-AE75-62203F8377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96E64-783D-463C-BA44-F5AF67B4648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76CA-DACA-4216-AE75-62203F8377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96E64-783D-463C-BA44-F5AF67B4648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76CA-DACA-4216-AE75-62203F8377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96E64-783D-463C-BA44-F5AF67B4648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76CA-DACA-4216-AE75-62203F8377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96E64-783D-463C-BA44-F5AF67B4648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76CA-DACA-4216-AE75-62203F8377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矩形 8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228861" y="589281"/>
            <a:ext cx="5280739" cy="4394125"/>
            <a:chOff x="364868" y="808975"/>
            <a:chExt cx="3960554" cy="3295594"/>
          </a:xfrm>
          <a:solidFill>
            <a:schemeClr val="bg1">
              <a:lumMod val="75000"/>
            </a:schemeClr>
          </a:solidFill>
        </p:grpSpPr>
        <p:cxnSp>
          <p:nvCxnSpPr>
            <p:cNvPr id="5" name="直接连接符 4"/>
            <p:cNvCxnSpPr/>
            <p:nvPr/>
          </p:nvCxnSpPr>
          <p:spPr>
            <a:xfrm flipH="1" flipV="1">
              <a:off x="2927555" y="907026"/>
              <a:ext cx="1397866" cy="1538224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 flipH="1" flipV="1">
              <a:off x="729574" y="813831"/>
              <a:ext cx="3595848" cy="1631421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H="1">
              <a:off x="2510393" y="2445250"/>
              <a:ext cx="1815029" cy="679417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 flipH="1" flipV="1">
              <a:off x="2519421" y="3124668"/>
              <a:ext cx="377194" cy="979901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1510021" y="2607558"/>
              <a:ext cx="999218" cy="510104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 flipH="1">
              <a:off x="2510394" y="1284270"/>
              <a:ext cx="1044464" cy="1833392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 flipV="1">
              <a:off x="1513700" y="907026"/>
              <a:ext cx="1410543" cy="1700534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V="1">
              <a:off x="1513700" y="1757293"/>
              <a:ext cx="1775189" cy="850268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 flipV="1">
              <a:off x="2374660" y="1568721"/>
              <a:ext cx="1176886" cy="805371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V="1">
              <a:off x="1518314" y="2374094"/>
              <a:ext cx="2033232" cy="241238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1510022" y="2607560"/>
              <a:ext cx="1383876" cy="1491801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1513518" y="2609903"/>
              <a:ext cx="182" cy="802348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>
              <a:off x="689566" y="2615332"/>
              <a:ext cx="824133" cy="714336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 flipV="1">
              <a:off x="1513701" y="3407568"/>
              <a:ext cx="1377823" cy="691793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689565" y="3331727"/>
              <a:ext cx="827447" cy="78465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1195244" y="1376069"/>
              <a:ext cx="1176104" cy="193760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 flipV="1">
              <a:off x="726262" y="808975"/>
              <a:ext cx="468982" cy="567094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H="1">
              <a:off x="852799" y="1378128"/>
              <a:ext cx="342445" cy="1169342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V="1">
              <a:off x="852800" y="1572383"/>
              <a:ext cx="1518548" cy="975087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 flipV="1">
              <a:off x="3558170" y="1296582"/>
              <a:ext cx="760176" cy="1148667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845312" y="1623657"/>
              <a:ext cx="53072" cy="923813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 flipV="1">
              <a:off x="729514" y="813833"/>
              <a:ext cx="167614" cy="809824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364868" y="1568721"/>
              <a:ext cx="479291" cy="990619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flipV="1">
              <a:off x="368907" y="813831"/>
              <a:ext cx="351479" cy="754890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椭圆 28"/>
          <p:cNvSpPr/>
          <p:nvPr userDrawn="1"/>
        </p:nvSpPr>
        <p:spPr>
          <a:xfrm>
            <a:off x="4034613" y="1793094"/>
            <a:ext cx="144000" cy="144000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90"/>
          </a:p>
        </p:txBody>
      </p:sp>
      <p:sp>
        <p:nvSpPr>
          <p:cNvPr id="30" name="椭圆 29"/>
          <p:cNvSpPr/>
          <p:nvPr userDrawn="1"/>
        </p:nvSpPr>
        <p:spPr>
          <a:xfrm>
            <a:off x="3035533" y="3598451"/>
            <a:ext cx="144000" cy="144000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90"/>
          </a:p>
        </p:txBody>
      </p:sp>
      <p:sp>
        <p:nvSpPr>
          <p:cNvPr id="31" name="椭圆 30"/>
          <p:cNvSpPr/>
          <p:nvPr userDrawn="1"/>
        </p:nvSpPr>
        <p:spPr>
          <a:xfrm>
            <a:off x="1676950" y="3985571"/>
            <a:ext cx="144000" cy="144000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90"/>
          </a:p>
        </p:txBody>
      </p:sp>
      <p:sp>
        <p:nvSpPr>
          <p:cNvPr id="32" name="椭圆 31"/>
          <p:cNvSpPr/>
          <p:nvPr userDrawn="1"/>
        </p:nvSpPr>
        <p:spPr>
          <a:xfrm>
            <a:off x="2855172" y="1520364"/>
            <a:ext cx="144000" cy="144000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90"/>
          </a:p>
        </p:txBody>
      </p:sp>
      <p:sp>
        <p:nvSpPr>
          <p:cNvPr id="33" name="椭圆 32"/>
          <p:cNvSpPr/>
          <p:nvPr userDrawn="1"/>
        </p:nvSpPr>
        <p:spPr>
          <a:xfrm>
            <a:off x="798700" y="2818238"/>
            <a:ext cx="144000" cy="144000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90"/>
          </a:p>
        </p:txBody>
      </p:sp>
      <p:sp>
        <p:nvSpPr>
          <p:cNvPr id="34" name="椭圆 33"/>
          <p:cNvSpPr/>
          <p:nvPr userDrawn="1"/>
        </p:nvSpPr>
        <p:spPr>
          <a:xfrm>
            <a:off x="4413109" y="1157132"/>
            <a:ext cx="144000" cy="144000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90"/>
          </a:p>
        </p:txBody>
      </p:sp>
      <p:sp>
        <p:nvSpPr>
          <p:cNvPr id="35" name="椭圆 34"/>
          <p:cNvSpPr/>
          <p:nvPr userDrawn="1"/>
        </p:nvSpPr>
        <p:spPr>
          <a:xfrm>
            <a:off x="4413109" y="2600234"/>
            <a:ext cx="144000" cy="144000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90"/>
          </a:p>
        </p:txBody>
      </p:sp>
      <p:sp>
        <p:nvSpPr>
          <p:cNvPr id="36" name="椭圆 35"/>
          <p:cNvSpPr/>
          <p:nvPr userDrawn="1"/>
        </p:nvSpPr>
        <p:spPr>
          <a:xfrm>
            <a:off x="3519801" y="4907906"/>
            <a:ext cx="144000" cy="144000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90"/>
          </a:p>
        </p:txBody>
      </p:sp>
      <p:sp>
        <p:nvSpPr>
          <p:cNvPr id="37" name="椭圆 36"/>
          <p:cNvSpPr/>
          <p:nvPr userDrawn="1"/>
        </p:nvSpPr>
        <p:spPr>
          <a:xfrm>
            <a:off x="1685561" y="2937774"/>
            <a:ext cx="144000" cy="144000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90"/>
          </a:p>
        </p:txBody>
      </p:sp>
      <p:sp>
        <p:nvSpPr>
          <p:cNvPr id="38" name="椭圆 37"/>
          <p:cNvSpPr/>
          <p:nvPr userDrawn="1"/>
        </p:nvSpPr>
        <p:spPr>
          <a:xfrm>
            <a:off x="1266413" y="1264165"/>
            <a:ext cx="144000" cy="144000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90"/>
          </a:p>
        </p:txBody>
      </p:sp>
      <p:grpSp>
        <p:nvGrpSpPr>
          <p:cNvPr id="39" name="组合 38"/>
          <p:cNvGrpSpPr/>
          <p:nvPr userDrawn="1"/>
        </p:nvGrpSpPr>
        <p:grpSpPr>
          <a:xfrm rot="21284997">
            <a:off x="6528133" y="862699"/>
            <a:ext cx="5418293" cy="4188447"/>
            <a:chOff x="4461155" y="913244"/>
            <a:chExt cx="4063720" cy="3141335"/>
          </a:xfrm>
          <a:solidFill>
            <a:schemeClr val="bg1">
              <a:lumMod val="75000"/>
            </a:schemeClr>
          </a:solidFill>
        </p:grpSpPr>
        <p:cxnSp>
          <p:nvCxnSpPr>
            <p:cNvPr id="40" name="直接连接符 39"/>
            <p:cNvCxnSpPr/>
            <p:nvPr/>
          </p:nvCxnSpPr>
          <p:spPr>
            <a:xfrm rot="315003" flipV="1">
              <a:off x="4490296" y="1424324"/>
              <a:ext cx="600449" cy="664467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rot="315003" flipV="1">
              <a:off x="4493372" y="1357235"/>
              <a:ext cx="1241478" cy="761090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rot="315003" flipV="1">
              <a:off x="5123462" y="1389739"/>
              <a:ext cx="641137" cy="93040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4461155" y="2059927"/>
              <a:ext cx="725227" cy="514527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rot="315003" flipV="1">
              <a:off x="5240240" y="1399764"/>
              <a:ext cx="466169" cy="1198532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rot="315003" flipV="1">
              <a:off x="5224504" y="1742943"/>
              <a:ext cx="818000" cy="870764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V="1">
              <a:off x="5186380" y="1971406"/>
              <a:ext cx="1662094" cy="603049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rot="315003">
              <a:off x="6832872" y="2012629"/>
              <a:ext cx="995331" cy="364285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>
              <a:off x="5186379" y="2587094"/>
              <a:ext cx="1809734" cy="847974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rot="315003" flipH="1">
              <a:off x="6078912" y="1936124"/>
              <a:ext cx="682993" cy="1923487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rot="315003" flipH="1">
              <a:off x="6355600" y="2353605"/>
              <a:ext cx="1419941" cy="829230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rot="315003" flipH="1">
              <a:off x="6108764" y="2342289"/>
              <a:ext cx="1690811" cy="316349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>
              <a:off x="6993810" y="2411424"/>
              <a:ext cx="816691" cy="1032529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rot="315003">
              <a:off x="6060889" y="2617640"/>
              <a:ext cx="970398" cy="774657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rot="315003" flipH="1">
              <a:off x="6011937" y="3390029"/>
              <a:ext cx="962408" cy="469662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H="1">
              <a:off x="6993809" y="2494713"/>
              <a:ext cx="1431432" cy="947966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flipH="1" flipV="1">
              <a:off x="6993971" y="3436747"/>
              <a:ext cx="1126647" cy="197041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V="1">
              <a:off x="8120619" y="2493034"/>
              <a:ext cx="304622" cy="1139250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H="1" flipV="1">
              <a:off x="8427879" y="2490934"/>
              <a:ext cx="96996" cy="1557191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H="1" flipV="1">
              <a:off x="8117981" y="3632284"/>
              <a:ext cx="406894" cy="415841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H="1" flipV="1">
              <a:off x="6491288" y="4047373"/>
              <a:ext cx="2033587" cy="752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flipH="1">
              <a:off x="6488650" y="3445227"/>
              <a:ext cx="505160" cy="609352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rot="315003" flipV="1">
              <a:off x="6101898" y="1626704"/>
              <a:ext cx="1701639" cy="230222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 flipV="1">
              <a:off x="7808196" y="1713391"/>
              <a:ext cx="1" cy="701788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flipV="1">
              <a:off x="7808196" y="987298"/>
              <a:ext cx="615995" cy="717742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rot="315003" flipV="1">
              <a:off x="6898138" y="913244"/>
              <a:ext cx="1478761" cy="1124456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rot="315003" flipV="1">
              <a:off x="5073633" y="1451418"/>
              <a:ext cx="7620" cy="1010625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 rot="315003">
              <a:off x="5750441" y="1440163"/>
              <a:ext cx="364845" cy="330899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rot="315003">
              <a:off x="6070728" y="1814421"/>
              <a:ext cx="785918" cy="121371"/>
            </a:xfrm>
            <a:prstGeom prst="line">
              <a:avLst/>
            </a:prstGeom>
            <a:grpFill/>
            <a:ln w="12700">
              <a:solidFill>
                <a:srgbClr val="4D4D4D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椭圆 69"/>
          <p:cNvSpPr/>
          <p:nvPr userDrawn="1"/>
        </p:nvSpPr>
        <p:spPr>
          <a:xfrm rot="21284997">
            <a:off x="7220800" y="1688560"/>
            <a:ext cx="144000" cy="144000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90"/>
          </a:p>
        </p:txBody>
      </p:sp>
      <p:sp>
        <p:nvSpPr>
          <p:cNvPr id="71" name="椭圆 70"/>
          <p:cNvSpPr/>
          <p:nvPr userDrawn="1"/>
        </p:nvSpPr>
        <p:spPr>
          <a:xfrm rot="21284997">
            <a:off x="9582388" y="2154272"/>
            <a:ext cx="144000" cy="144000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90"/>
          </a:p>
        </p:txBody>
      </p:sp>
      <p:sp>
        <p:nvSpPr>
          <p:cNvPr id="72" name="椭圆 71"/>
          <p:cNvSpPr/>
          <p:nvPr userDrawn="1"/>
        </p:nvSpPr>
        <p:spPr>
          <a:xfrm rot="21284997">
            <a:off x="8675227" y="4711143"/>
            <a:ext cx="144000" cy="144000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90"/>
          </a:p>
        </p:txBody>
      </p:sp>
      <p:sp>
        <p:nvSpPr>
          <p:cNvPr id="73" name="椭圆 72"/>
          <p:cNvSpPr/>
          <p:nvPr userDrawn="1"/>
        </p:nvSpPr>
        <p:spPr>
          <a:xfrm rot="21284997">
            <a:off x="11470288" y="4214769"/>
            <a:ext cx="144000" cy="144000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90"/>
          </a:p>
        </p:txBody>
      </p:sp>
      <p:sp>
        <p:nvSpPr>
          <p:cNvPr id="74" name="椭圆 73"/>
          <p:cNvSpPr/>
          <p:nvPr userDrawn="1"/>
        </p:nvSpPr>
        <p:spPr>
          <a:xfrm rot="21284997">
            <a:off x="10813593" y="1699690"/>
            <a:ext cx="144000" cy="144000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90"/>
          </a:p>
        </p:txBody>
      </p:sp>
      <p:sp>
        <p:nvSpPr>
          <p:cNvPr id="75" name="椭圆 74"/>
          <p:cNvSpPr/>
          <p:nvPr userDrawn="1"/>
        </p:nvSpPr>
        <p:spPr>
          <a:xfrm rot="21284997">
            <a:off x="8074277" y="1573608"/>
            <a:ext cx="144000" cy="144000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90"/>
          </a:p>
        </p:txBody>
      </p:sp>
      <p:sp>
        <p:nvSpPr>
          <p:cNvPr id="76" name="椭圆 75"/>
          <p:cNvSpPr/>
          <p:nvPr userDrawn="1"/>
        </p:nvSpPr>
        <p:spPr>
          <a:xfrm rot="21284997">
            <a:off x="7450423" y="3158227"/>
            <a:ext cx="144000" cy="144000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90"/>
          </a:p>
        </p:txBody>
      </p:sp>
      <p:sp>
        <p:nvSpPr>
          <p:cNvPr id="77" name="椭圆 76"/>
          <p:cNvSpPr/>
          <p:nvPr userDrawn="1"/>
        </p:nvSpPr>
        <p:spPr>
          <a:xfrm rot="21284997">
            <a:off x="8663041" y="3065119"/>
            <a:ext cx="144000" cy="144000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90"/>
          </a:p>
        </p:txBody>
      </p:sp>
      <p:sp>
        <p:nvSpPr>
          <p:cNvPr id="78" name="椭圆 77"/>
          <p:cNvSpPr/>
          <p:nvPr userDrawn="1"/>
        </p:nvSpPr>
        <p:spPr>
          <a:xfrm rot="21284997">
            <a:off x="9956770" y="4086714"/>
            <a:ext cx="144000" cy="144000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90"/>
          </a:p>
        </p:txBody>
      </p:sp>
      <p:sp>
        <p:nvSpPr>
          <p:cNvPr id="79" name="椭圆 78"/>
          <p:cNvSpPr/>
          <p:nvPr userDrawn="1"/>
        </p:nvSpPr>
        <p:spPr>
          <a:xfrm rot="21284997">
            <a:off x="11733272" y="2676356"/>
            <a:ext cx="144000" cy="144000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90"/>
          </a:p>
        </p:txBody>
      </p:sp>
      <p:sp>
        <p:nvSpPr>
          <p:cNvPr id="80" name="椭圆 79"/>
          <p:cNvSpPr/>
          <p:nvPr userDrawn="1"/>
        </p:nvSpPr>
        <p:spPr>
          <a:xfrm rot="21284997">
            <a:off x="10892125" y="2636057"/>
            <a:ext cx="144000" cy="144000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90"/>
          </a:p>
        </p:txBody>
      </p:sp>
      <p:sp>
        <p:nvSpPr>
          <p:cNvPr id="81" name="椭圆 80"/>
          <p:cNvSpPr/>
          <p:nvPr userDrawn="1"/>
        </p:nvSpPr>
        <p:spPr>
          <a:xfrm rot="21284997">
            <a:off x="11543896" y="659819"/>
            <a:ext cx="144000" cy="144000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9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6" presetClass="emph" presetSubtype="0" repeatCount="200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750" tmFilter="0, 0; .2, .5; .8, .5; 1, 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375" autoRev="1" fill="hold"/>
                                        <p:tgtEl>
                                          <p:spTgt spid="7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26" presetClass="emph" presetSubtype="0" repeatCount="200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75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375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26" presetClass="emph" presetSubtype="0" repeatCount="200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750" tmFilter="0, 0; .2, .5; .8, .5; 1, 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375" autoRev="1" fill="hold"/>
                                        <p:tgtEl>
                                          <p:spTgt spid="3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26" presetClass="emph" presetSubtype="0" repeatCount="200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750" tmFilter="0, 0; .2, .5; .8, .5; 1, 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6" dur="375" autoRev="1" fill="hold"/>
                                        <p:tgtEl>
                                          <p:spTgt spid="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7" presetID="26" presetClass="emph" presetSubtype="0" repeatCount="200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750" tmFilter="0, 0; .2, .5; .8, .5; 1, 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375" autoRev="1" fill="hold"/>
                                        <p:tgtEl>
                                          <p:spTgt spid="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0" presetID="26" presetClass="emph" presetSubtype="0" repeatCount="200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750" tmFilter="0, 0; .2, .5; .8, .5; 1, 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2" dur="375" autoRev="1" fill="hold"/>
                                        <p:tgtEl>
                                          <p:spTgt spid="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3" presetID="26" presetClass="emph" presetSubtype="0" repeatCount="200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75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5" dur="375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6" presetID="26" presetClass="emph" presetSubtype="0" repeatCount="200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750" tmFilter="0, 0; .2, .5; .8, .5; 1, 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8" dur="375" autoRev="1" fill="hold"/>
                                        <p:tgtEl>
                                          <p:spTgt spid="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26" presetClass="emph" presetSubtype="0" repeatCount="200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750" tmFilter="0, 0; .2, .5; .8, .5; 1, 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1" dur="375" autoRev="1" fill="hold"/>
                                        <p:tgtEl>
                                          <p:spTgt spid="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2" presetID="26" presetClass="emph" presetSubtype="0" repeatCount="200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75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4" dur="375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5" presetID="26" presetClass="emph" presetSubtype="0" repeatCount="200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750" tmFilter="0, 0; .2, .5; .8, .5; 1, 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7" dur="375" autoRev="1" fill="hold"/>
                                        <p:tgtEl>
                                          <p:spTgt spid="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8" presetID="26" presetClass="emph" presetSubtype="0" repeatCount="200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750" tmFilter="0, 0; .2, .5; .8, .5; 1, 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0" dur="375" autoRev="1" fill="hold"/>
                                        <p:tgtEl>
                                          <p:spTgt spid="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1" presetID="26" presetClass="emph" presetSubtype="0" repeatCount="200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75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3" dur="375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4" presetID="26" presetClass="emph" presetSubtype="0" repeatCount="200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750" tmFilter="0, 0; .2, .5; .8, .5; 1, 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6" dur="375" autoRev="1" fill="hold"/>
                                        <p:tgtEl>
                                          <p:spTgt spid="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7" presetID="26" presetClass="emph" presetSubtype="0" repeatCount="200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750" tmFilter="0, 0; .2, .5; .8, .5; 1, 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9" dur="375" autoRev="1" fill="hold"/>
                                        <p:tgtEl>
                                          <p:spTgt spid="7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0" presetID="26" presetClass="emph" presetSubtype="0" repeatCount="200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75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2" dur="375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3" presetID="26" presetClass="emph" presetSubtype="0" repeatCount="200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75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5" dur="375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6" presetID="26" presetClass="emph" presetSubtype="0" repeatCount="200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750" tmFilter="0, 0; .2, .5; .8, .5; 1, 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8" dur="375" autoRev="1" fill="hold"/>
                                        <p:tgtEl>
                                          <p:spTgt spid="8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9" presetID="26" presetClass="emph" presetSubtype="0" repeatCount="200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750" tmFilter="0, 0; .2, .5; .8, .5; 1, 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1" dur="375" autoRev="1" fill="hold"/>
                                        <p:tgtEl>
                                          <p:spTgt spid="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2" presetID="26" presetClass="emph" presetSubtype="0" repeatCount="200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75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4" dur="375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5" presetID="26" presetClass="emph" presetSubtype="0" repeatCount="200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750" tmFilter="0, 0; .2, .5; .8, .5; 1, 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" dur="375" autoRev="1" fill="hold"/>
                                        <p:tgtEl>
                                          <p:spTgt spid="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" presetID="26" presetClass="emph" presetSubtype="0" repeatCount="200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75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" dur="375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70" grpId="0" animBg="1"/>
      <p:bldP spid="70" grpId="1" animBg="1"/>
      <p:bldP spid="71" grpId="0" animBg="1"/>
      <p:bldP spid="71" grpId="1" animBg="1"/>
      <p:bldP spid="72" grpId="0" animBg="1"/>
      <p:bldP spid="72" grpId="1" animBg="1"/>
      <p:bldP spid="73" grpId="0" animBg="1"/>
      <p:bldP spid="73" grpId="1" animBg="1"/>
      <p:bldP spid="74" grpId="0" animBg="1"/>
      <p:bldP spid="74" grpId="1" animBg="1"/>
      <p:bldP spid="75" grpId="0" animBg="1"/>
      <p:bldP spid="75" grpId="1" animBg="1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  <p:bldP spid="79" grpId="0" animBg="1"/>
      <p:bldP spid="79" grpId="1" animBg="1"/>
      <p:bldP spid="80" grpId="0" animBg="1"/>
      <p:bldP spid="80" grpId="1" animBg="1"/>
      <p:bldP spid="81" grpId="0" animBg="1"/>
      <p:bldP spid="81" grpId="1" animBg="1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摘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6508234"/>
            <a:ext cx="12192000" cy="3497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11199131" y="6499314"/>
            <a:ext cx="4363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fld id="{170C0C04-E408-48A9-82A4-3716296300DE}" type="slidenum">
              <a:rPr lang="zh-CN" altLang="en-US" sz="1600" smtClean="0">
                <a:solidFill>
                  <a:srgbClr val="005BAA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sz="1800" kern="0" dirty="0">
              <a:solidFill>
                <a:srgbClr val="005BAA"/>
              </a:solidFill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 userDrawn="1"/>
        </p:nvGraphicFramePr>
        <p:xfrm>
          <a:off x="0" y="1264858"/>
          <a:ext cx="1691680" cy="3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论文摘要</a:t>
                      </a:r>
                      <a:endParaRPr lang="zh-CN" altLang="en-US" sz="1600" kern="1200" dirty="0">
                        <a:solidFill>
                          <a:schemeClr val="bg1">
                            <a:lumMod val="8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论文背景</a:t>
                      </a:r>
                      <a:endParaRPr lang="zh-CN" altLang="en-US" sz="1600" dirty="0">
                        <a:solidFill>
                          <a:schemeClr val="bg1">
                            <a:lumMod val="8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研究综述</a:t>
                      </a:r>
                      <a:endParaRPr lang="zh-CN" altLang="en-US" sz="1600" dirty="0">
                        <a:solidFill>
                          <a:schemeClr val="bg1">
                            <a:lumMod val="8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成果应用</a:t>
                      </a:r>
                      <a:endParaRPr lang="zh-CN" altLang="en-US" sz="1600" dirty="0">
                        <a:solidFill>
                          <a:schemeClr val="bg1">
                            <a:lumMod val="8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论文总结</a:t>
                      </a:r>
                      <a:endParaRPr lang="zh-CN" altLang="en-US" sz="1600" dirty="0">
                        <a:solidFill>
                          <a:schemeClr val="bg1">
                            <a:lumMod val="8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等腰三角形 8"/>
          <p:cNvSpPr/>
          <p:nvPr userDrawn="1"/>
        </p:nvSpPr>
        <p:spPr>
          <a:xfrm rot="5400000">
            <a:off x="11703390" y="6623925"/>
            <a:ext cx="160020" cy="137948"/>
          </a:xfrm>
          <a:prstGeom prst="triangle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等腰三角形 20"/>
          <p:cNvSpPr/>
          <p:nvPr userDrawn="1"/>
        </p:nvSpPr>
        <p:spPr>
          <a:xfrm rot="16200000">
            <a:off x="10971190" y="6623926"/>
            <a:ext cx="160020" cy="137948"/>
          </a:xfrm>
          <a:prstGeom prst="triangle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0" y="1268760"/>
            <a:ext cx="1691680" cy="788186"/>
            <a:chOff x="0" y="1272662"/>
            <a:chExt cx="1691680" cy="788186"/>
          </a:xfrm>
        </p:grpSpPr>
        <p:sp>
          <p:nvSpPr>
            <p:cNvPr id="25" name="矩形 24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rgbClr val="005B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kern="1200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论文摘要</a:t>
              </a:r>
              <a:endParaRPr lang="zh-CN" altLang="en-US" sz="1600" kern="12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6" name="等腰三角形 25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7" name="直接连接符 26"/>
          <p:cNvCxnSpPr/>
          <p:nvPr userDrawn="1"/>
        </p:nvCxnSpPr>
        <p:spPr>
          <a:xfrm>
            <a:off x="2788985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89" y="5626452"/>
            <a:ext cx="710302" cy="7103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6508234"/>
            <a:ext cx="12192000" cy="3497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11199131" y="6499314"/>
            <a:ext cx="4363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fld id="{170C0C04-E408-48A9-82A4-3716296300DE}" type="slidenum">
              <a:rPr lang="zh-CN" altLang="en-US" sz="1600" smtClean="0">
                <a:solidFill>
                  <a:srgbClr val="005BAA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sz="1800" kern="0" dirty="0">
              <a:solidFill>
                <a:srgbClr val="005BAA"/>
              </a:solidFill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 userDrawn="1"/>
        </p:nvGraphicFramePr>
        <p:xfrm>
          <a:off x="0" y="1264858"/>
          <a:ext cx="1691680" cy="3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论文摘要</a:t>
                      </a:r>
                      <a:endParaRPr lang="zh-CN" altLang="en-US" sz="1600" kern="1200" dirty="0">
                        <a:solidFill>
                          <a:schemeClr val="bg1">
                            <a:lumMod val="8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论文背景</a:t>
                      </a:r>
                      <a:endParaRPr lang="zh-CN" altLang="en-US" sz="1600" dirty="0">
                        <a:solidFill>
                          <a:schemeClr val="bg1">
                            <a:lumMod val="8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研究综述</a:t>
                      </a:r>
                      <a:endParaRPr lang="zh-CN" altLang="en-US" sz="1600" dirty="0">
                        <a:solidFill>
                          <a:schemeClr val="bg1">
                            <a:lumMod val="8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成果应用</a:t>
                      </a:r>
                      <a:endParaRPr lang="zh-CN" altLang="en-US" sz="1600" dirty="0">
                        <a:solidFill>
                          <a:schemeClr val="bg1">
                            <a:lumMod val="8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论文总结</a:t>
                      </a:r>
                      <a:endParaRPr lang="zh-CN" altLang="en-US" sz="1600" dirty="0">
                        <a:solidFill>
                          <a:schemeClr val="bg1">
                            <a:lumMod val="8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等腰三角形 8"/>
          <p:cNvSpPr/>
          <p:nvPr userDrawn="1"/>
        </p:nvSpPr>
        <p:spPr>
          <a:xfrm rot="5400000">
            <a:off x="11703390" y="6623925"/>
            <a:ext cx="160020" cy="137948"/>
          </a:xfrm>
          <a:prstGeom prst="triangle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等腰三角形 20"/>
          <p:cNvSpPr/>
          <p:nvPr userDrawn="1"/>
        </p:nvSpPr>
        <p:spPr>
          <a:xfrm rot="16200000">
            <a:off x="10971190" y="6623926"/>
            <a:ext cx="160020" cy="137948"/>
          </a:xfrm>
          <a:prstGeom prst="triangle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2788985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2061790"/>
            <a:ext cx="1691680" cy="788186"/>
            <a:chOff x="0" y="1272662"/>
            <a:chExt cx="1691680" cy="788186"/>
          </a:xfrm>
        </p:grpSpPr>
        <p:sp>
          <p:nvSpPr>
            <p:cNvPr id="14" name="矩形 13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rgbClr val="005B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kern="1200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论文背景</a:t>
              </a:r>
              <a:endParaRPr lang="zh-CN" altLang="en-US" sz="1600" kern="12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等腰三角形 15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89" y="5626452"/>
            <a:ext cx="710302" cy="7103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综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6508234"/>
            <a:ext cx="12192000" cy="3497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11199131" y="6499314"/>
            <a:ext cx="4363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fld id="{170C0C04-E408-48A9-82A4-3716296300DE}" type="slidenum">
              <a:rPr lang="zh-CN" altLang="en-US" sz="1600" smtClean="0">
                <a:solidFill>
                  <a:srgbClr val="005BAA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sz="1800" kern="0" dirty="0">
              <a:solidFill>
                <a:srgbClr val="005BAA"/>
              </a:solidFill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 userDrawn="1"/>
        </p:nvGraphicFramePr>
        <p:xfrm>
          <a:off x="0" y="1264858"/>
          <a:ext cx="1691680" cy="3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论文摘要</a:t>
                      </a:r>
                      <a:endParaRPr lang="zh-CN" altLang="en-US" sz="1600" kern="1200" dirty="0">
                        <a:solidFill>
                          <a:schemeClr val="bg1">
                            <a:lumMod val="8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论文背景</a:t>
                      </a:r>
                      <a:endParaRPr lang="zh-CN" altLang="en-US" sz="1600" dirty="0">
                        <a:solidFill>
                          <a:schemeClr val="bg1">
                            <a:lumMod val="8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研究综述</a:t>
                      </a:r>
                      <a:endParaRPr lang="zh-CN" altLang="en-US" sz="1600" dirty="0">
                        <a:solidFill>
                          <a:schemeClr val="bg1">
                            <a:lumMod val="8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成果应用</a:t>
                      </a:r>
                      <a:endParaRPr lang="zh-CN" altLang="en-US" sz="1600" dirty="0">
                        <a:solidFill>
                          <a:schemeClr val="bg1">
                            <a:lumMod val="8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论文总结</a:t>
                      </a:r>
                      <a:endParaRPr lang="zh-CN" altLang="en-US" sz="1600" dirty="0">
                        <a:solidFill>
                          <a:schemeClr val="bg1">
                            <a:lumMod val="8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等腰三角形 8"/>
          <p:cNvSpPr/>
          <p:nvPr userDrawn="1"/>
        </p:nvSpPr>
        <p:spPr>
          <a:xfrm rot="5400000">
            <a:off x="11703390" y="6623925"/>
            <a:ext cx="160020" cy="137948"/>
          </a:xfrm>
          <a:prstGeom prst="triangle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5BAA"/>
              </a:solidFill>
            </a:endParaRPr>
          </a:p>
        </p:txBody>
      </p:sp>
      <p:sp>
        <p:nvSpPr>
          <p:cNvPr id="21" name="等腰三角形 20"/>
          <p:cNvSpPr/>
          <p:nvPr userDrawn="1"/>
        </p:nvSpPr>
        <p:spPr>
          <a:xfrm rot="16200000">
            <a:off x="10971190" y="6623926"/>
            <a:ext cx="160020" cy="137948"/>
          </a:xfrm>
          <a:prstGeom prst="triangle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5BAA"/>
              </a:solidFill>
            </a:endParaRPr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2788985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2852340"/>
            <a:ext cx="1691680" cy="788186"/>
            <a:chOff x="0" y="1272662"/>
            <a:chExt cx="1691680" cy="788186"/>
          </a:xfrm>
        </p:grpSpPr>
        <p:sp>
          <p:nvSpPr>
            <p:cNvPr id="14" name="矩形 13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rgbClr val="005B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kern="1200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研究综述</a:t>
              </a:r>
              <a:endParaRPr lang="zh-CN" altLang="en-US" sz="1600" kern="12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等腰三角形 15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89" y="5626452"/>
            <a:ext cx="710302" cy="7103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成果应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6508234"/>
            <a:ext cx="12192000" cy="3497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11199131" y="6499314"/>
            <a:ext cx="4363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fld id="{170C0C04-E408-48A9-82A4-3716296300DE}" type="slidenum">
              <a:rPr lang="zh-CN" altLang="en-US" sz="1600" smtClean="0">
                <a:solidFill>
                  <a:srgbClr val="005BAA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sz="1800" kern="0" dirty="0">
              <a:solidFill>
                <a:srgbClr val="005BAA"/>
              </a:solidFill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 userDrawn="1"/>
        </p:nvGraphicFramePr>
        <p:xfrm>
          <a:off x="0" y="1264858"/>
          <a:ext cx="1691680" cy="3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论文摘要</a:t>
                      </a:r>
                      <a:endParaRPr lang="zh-CN" altLang="en-US" sz="1600" kern="1200" dirty="0">
                        <a:solidFill>
                          <a:schemeClr val="bg1">
                            <a:lumMod val="8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论文背景</a:t>
                      </a:r>
                      <a:endParaRPr lang="zh-CN" altLang="en-US" sz="1600" dirty="0">
                        <a:solidFill>
                          <a:schemeClr val="bg1">
                            <a:lumMod val="8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研究综述</a:t>
                      </a:r>
                      <a:endParaRPr lang="zh-CN" altLang="en-US" sz="1600" dirty="0">
                        <a:solidFill>
                          <a:schemeClr val="bg1">
                            <a:lumMod val="8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成果应用</a:t>
                      </a:r>
                      <a:endParaRPr lang="zh-CN" altLang="en-US" sz="1600" dirty="0">
                        <a:solidFill>
                          <a:schemeClr val="bg1">
                            <a:lumMod val="8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论文总结</a:t>
                      </a:r>
                      <a:endParaRPr lang="zh-CN" altLang="en-US" sz="1600" dirty="0">
                        <a:solidFill>
                          <a:schemeClr val="bg1">
                            <a:lumMod val="8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等腰三角形 8"/>
          <p:cNvSpPr/>
          <p:nvPr userDrawn="1"/>
        </p:nvSpPr>
        <p:spPr>
          <a:xfrm rot="5400000">
            <a:off x="11703390" y="6623925"/>
            <a:ext cx="160020" cy="137948"/>
          </a:xfrm>
          <a:prstGeom prst="triangle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等腰三角形 20"/>
          <p:cNvSpPr/>
          <p:nvPr userDrawn="1"/>
        </p:nvSpPr>
        <p:spPr>
          <a:xfrm rot="16200000">
            <a:off x="10971190" y="6623926"/>
            <a:ext cx="160020" cy="137948"/>
          </a:xfrm>
          <a:prstGeom prst="triangle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2788985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 userDrawn="1"/>
        </p:nvGrpSpPr>
        <p:grpSpPr>
          <a:xfrm>
            <a:off x="0" y="3641810"/>
            <a:ext cx="1691680" cy="788186"/>
            <a:chOff x="0" y="1272662"/>
            <a:chExt cx="1691680" cy="788186"/>
          </a:xfrm>
        </p:grpSpPr>
        <p:sp>
          <p:nvSpPr>
            <p:cNvPr id="18" name="矩形 17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rgbClr val="005B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kern="1200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成果应用</a:t>
              </a:r>
              <a:endParaRPr lang="zh-CN" altLang="en-US" sz="1600" kern="12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9" name="等腰三角形 18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89" y="5626452"/>
            <a:ext cx="710302" cy="7103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6508234"/>
            <a:ext cx="12192000" cy="3497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11199131" y="6499314"/>
            <a:ext cx="4363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fld id="{170C0C04-E408-48A9-82A4-3716296300DE}" type="slidenum">
              <a:rPr lang="zh-CN" altLang="en-US" sz="1600" smtClean="0">
                <a:solidFill>
                  <a:srgbClr val="005BAA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sz="1800" kern="0" dirty="0">
              <a:solidFill>
                <a:srgbClr val="005BAA"/>
              </a:solidFill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 userDrawn="1"/>
        </p:nvGraphicFramePr>
        <p:xfrm>
          <a:off x="0" y="1264858"/>
          <a:ext cx="1691680" cy="3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论文摘要</a:t>
                      </a:r>
                      <a:endParaRPr lang="zh-CN" altLang="en-US" sz="1600" kern="1200" dirty="0">
                        <a:solidFill>
                          <a:schemeClr val="bg1">
                            <a:lumMod val="8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论文背景</a:t>
                      </a:r>
                      <a:endParaRPr lang="zh-CN" altLang="en-US" sz="1600" dirty="0">
                        <a:solidFill>
                          <a:schemeClr val="bg1">
                            <a:lumMod val="8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研究综述</a:t>
                      </a:r>
                      <a:endParaRPr lang="zh-CN" altLang="en-US" sz="1600" dirty="0">
                        <a:solidFill>
                          <a:schemeClr val="bg1">
                            <a:lumMod val="8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成果应用</a:t>
                      </a:r>
                      <a:endParaRPr lang="zh-CN" altLang="en-US" sz="1600" dirty="0">
                        <a:solidFill>
                          <a:schemeClr val="bg1">
                            <a:lumMod val="8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论文总结</a:t>
                      </a:r>
                      <a:endParaRPr lang="zh-CN" altLang="en-US" sz="1600" dirty="0">
                        <a:solidFill>
                          <a:schemeClr val="bg1">
                            <a:lumMod val="8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等腰三角形 8"/>
          <p:cNvSpPr/>
          <p:nvPr userDrawn="1"/>
        </p:nvSpPr>
        <p:spPr>
          <a:xfrm rot="5400000">
            <a:off x="11703390" y="6623925"/>
            <a:ext cx="160020" cy="137948"/>
          </a:xfrm>
          <a:prstGeom prst="triangle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等腰三角形 20"/>
          <p:cNvSpPr/>
          <p:nvPr userDrawn="1"/>
        </p:nvSpPr>
        <p:spPr>
          <a:xfrm rot="16200000">
            <a:off x="10971190" y="6623926"/>
            <a:ext cx="160020" cy="137948"/>
          </a:xfrm>
          <a:prstGeom prst="triangle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2788985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431930"/>
            <a:ext cx="1691680" cy="788186"/>
            <a:chOff x="0" y="1272662"/>
            <a:chExt cx="1691680" cy="788186"/>
          </a:xfrm>
        </p:grpSpPr>
        <p:sp>
          <p:nvSpPr>
            <p:cNvPr id="14" name="矩形 13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rgbClr val="005B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kern="1200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论文总结</a:t>
              </a:r>
              <a:endParaRPr lang="zh-CN" altLang="en-US" sz="1600" kern="12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等腰三角形 15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89" y="5626452"/>
            <a:ext cx="710302" cy="7103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A96E64-783D-463C-BA44-F5AF67B4648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C676CA-DACA-4216-AE75-62203F83776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3.xml"/><Relationship Id="rId17" Type="http://schemas.openxmlformats.org/officeDocument/2006/relationships/slideLayout" Target="../slideLayouts/slideLayout16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8" Type="http://schemas.openxmlformats.org/officeDocument/2006/relationships/notesSlide" Target="../notesSlides/notesSlide4.xml"/><Relationship Id="rId27" Type="http://schemas.openxmlformats.org/officeDocument/2006/relationships/slideLayout" Target="../slideLayouts/slideLayout16.xml"/><Relationship Id="rId26" Type="http://schemas.openxmlformats.org/officeDocument/2006/relationships/tags" Target="../tags/tag42.xml"/><Relationship Id="rId25" Type="http://schemas.openxmlformats.org/officeDocument/2006/relationships/tags" Target="../tags/tag41.xml"/><Relationship Id="rId24" Type="http://schemas.openxmlformats.org/officeDocument/2006/relationships/tags" Target="../tags/tag40.xml"/><Relationship Id="rId23" Type="http://schemas.openxmlformats.org/officeDocument/2006/relationships/tags" Target="../tags/tag39.xml"/><Relationship Id="rId22" Type="http://schemas.openxmlformats.org/officeDocument/2006/relationships/tags" Target="../tags/tag38.xml"/><Relationship Id="rId21" Type="http://schemas.openxmlformats.org/officeDocument/2006/relationships/tags" Target="../tags/tag37.xml"/><Relationship Id="rId20" Type="http://schemas.openxmlformats.org/officeDocument/2006/relationships/tags" Target="../tags/tag36.xml"/><Relationship Id="rId2" Type="http://schemas.openxmlformats.org/officeDocument/2006/relationships/tags" Target="../tags/tag18.xml"/><Relationship Id="rId19" Type="http://schemas.openxmlformats.org/officeDocument/2006/relationships/tags" Target="../tags/tag35.xml"/><Relationship Id="rId18" Type="http://schemas.openxmlformats.org/officeDocument/2006/relationships/tags" Target="../tags/tag34.xml"/><Relationship Id="rId17" Type="http://schemas.openxmlformats.org/officeDocument/2006/relationships/tags" Target="../tags/tag33.xml"/><Relationship Id="rId16" Type="http://schemas.openxmlformats.org/officeDocument/2006/relationships/tags" Target="../tags/tag32.xml"/><Relationship Id="rId15" Type="http://schemas.openxmlformats.org/officeDocument/2006/relationships/tags" Target="../tags/tag3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203950"/>
            <a:ext cx="12192000" cy="65405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5437187"/>
            <a:ext cx="766763" cy="766763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105910" y="3309185"/>
            <a:ext cx="4064000" cy="304599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292350" y="3627120"/>
            <a:ext cx="7746365" cy="513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2800" b="1" dirty="0">
                <a:solidFill>
                  <a:srgbClr val="005BAA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Arial" panose="020B0604020202020204" pitchFamily="34" charset="0"/>
                <a:sym typeface="字魂58号-创中黑" panose="00000500000000000000" pitchFamily="2" charset="-122"/>
              </a:rPr>
              <a:t>Timnit Gebru</a:t>
            </a:r>
            <a:r>
              <a:rPr lang="zh-CN" altLang="en-US" sz="2800" b="1" dirty="0">
                <a:solidFill>
                  <a:srgbClr val="005BAA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Arial" panose="020B0604020202020204" pitchFamily="34" charset="0"/>
                <a:sym typeface="字魂58号-创中黑" panose="00000500000000000000" pitchFamily="2" charset="-122"/>
              </a:rPr>
              <a:t>事件：</a:t>
            </a:r>
            <a:r>
              <a:rPr lang="en-US" altLang="zh-CN" sz="2800" b="1" dirty="0">
                <a:solidFill>
                  <a:srgbClr val="005BAA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Arial" panose="020B0604020202020204" pitchFamily="34" charset="0"/>
                <a:sym typeface="字魂58号-创中黑" panose="00000500000000000000" pitchFamily="2" charset="-122"/>
              </a:rPr>
              <a:t>AI</a:t>
            </a:r>
            <a:r>
              <a:rPr lang="zh-CN" altLang="en-US" sz="2800" b="1" dirty="0">
                <a:solidFill>
                  <a:srgbClr val="005BAA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Arial" panose="020B0604020202020204" pitchFamily="34" charset="0"/>
                <a:sym typeface="字魂58号-创中黑" panose="00000500000000000000" pitchFamily="2" charset="-122"/>
              </a:rPr>
              <a:t>伦理冲突与系统研究启示</a:t>
            </a:r>
            <a:endParaRPr lang="zh-CN" altLang="en-US" sz="2800" b="1" dirty="0">
              <a:solidFill>
                <a:srgbClr val="005BAA"/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cs typeface="Arial" panose="020B0604020202020204" pitchFamily="34" charset="0"/>
              <a:sym typeface="字魂58号-创中黑" panose="00000500000000000000" pitchFamily="2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V="1">
            <a:off x="2495868" y="4338003"/>
            <a:ext cx="7200000" cy="0"/>
          </a:xfrm>
          <a:prstGeom prst="line">
            <a:avLst/>
          </a:prstGeom>
          <a:ln w="19050">
            <a:solidFill>
              <a:srgbClr val="005B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169583" y="161383"/>
            <a:ext cx="60356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buNone/>
            </a:pP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Calibri" panose="020F0502020204030204" pitchFamily="34" charset="0"/>
              </a:rPr>
              <a:t>University Of Science And Technology Of China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sym typeface="Calibri" panose="020F0502020204030204" pitchFamily="34" charset="0"/>
            </a:endParaRPr>
          </a:p>
        </p:txBody>
      </p:sp>
      <p:sp>
        <p:nvSpPr>
          <p:cNvPr id="17" name="TextBox 25"/>
          <p:cNvSpPr txBox="1"/>
          <p:nvPr/>
        </p:nvSpPr>
        <p:spPr>
          <a:xfrm>
            <a:off x="4258310" y="4740275"/>
            <a:ext cx="36753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答辩人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：李宇哲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 SA25011049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9588" y="1923339"/>
            <a:ext cx="1372310" cy="13723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bldLvl="0" animBg="1"/>
      <p:bldP spid="11" grpId="0"/>
      <p:bldP spid="15" grpId="0"/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2728653" y="1476900"/>
            <a:ext cx="8460430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2020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年，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Google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解雇了公司内部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AI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伦理研究团队负责人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 Timnit Gebru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。起因是一篇探讨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AI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模型规模化风险的论文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 ——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《</a:t>
            </a: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On the Dangers of Stochastic Parrots: Can Language Models Be Too Big?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》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  <a:p>
            <a:pPr algn="l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论文指出，大规模语言模型在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能耗、偏见、资源集中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等方面存在隐含风险。由于观点触及公司研究边界，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Gebru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与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Google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高层产生严重分歧，并最终因为各种原因被开除。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sp>
        <p:nvSpPr>
          <p:cNvPr id="17" name="矩形 47"/>
          <p:cNvSpPr>
            <a:spLocks noChangeArrowheads="1"/>
          </p:cNvSpPr>
          <p:nvPr/>
        </p:nvSpPr>
        <p:spPr bwMode="auto">
          <a:xfrm>
            <a:off x="6885973" y="3247889"/>
            <a:ext cx="4161442" cy="103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大型科技公司主导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 AI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系统研究。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内部伦理团队话语权有限。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企业审查制度影响研究独立性。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sp>
        <p:nvSpPr>
          <p:cNvPr id="18" name="矩形 3"/>
          <p:cNvSpPr>
            <a:spLocks noChangeArrowheads="1"/>
          </p:cNvSpPr>
          <p:nvPr/>
        </p:nvSpPr>
        <p:spPr bwMode="auto">
          <a:xfrm>
            <a:off x="6902496" y="2696232"/>
            <a:ext cx="1164407" cy="377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73" tIns="34287" rIns="68573" bIns="34287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Arial" panose="020B0604020202020204" pitchFamily="34" charset="0"/>
                <a:sym typeface="字魂58号-创中黑" panose="00000500000000000000" pitchFamily="2" charset="-122"/>
              </a:rPr>
              <a:t>行业现状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cs typeface="Arial" panose="020B0604020202020204" pitchFamily="34" charset="0"/>
              <a:sym typeface="字魂58号-创中黑" panose="00000500000000000000" pitchFamily="2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961619" y="3157183"/>
            <a:ext cx="599800" cy="4050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6" tIns="34287" rIns="68576" bIns="34287"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576469" y="3157183"/>
            <a:ext cx="1215000" cy="405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6" tIns="34287" rIns="68576" bIns="34287"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sp>
        <p:nvSpPr>
          <p:cNvPr id="21" name="矩形 47"/>
          <p:cNvSpPr>
            <a:spLocks noChangeArrowheads="1"/>
          </p:cNvSpPr>
          <p:nvPr/>
        </p:nvSpPr>
        <p:spPr bwMode="auto">
          <a:xfrm>
            <a:off x="6885940" y="4853940"/>
            <a:ext cx="4161155" cy="117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全球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 AI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伦理讨论多集中在欧美。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发展中国家的研究声音较弱。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算力与资源分布不均导致伦理参与不平衡。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sp>
        <p:nvSpPr>
          <p:cNvPr id="22" name="矩形 3"/>
          <p:cNvSpPr>
            <a:spLocks noChangeArrowheads="1"/>
          </p:cNvSpPr>
          <p:nvPr/>
        </p:nvSpPr>
        <p:spPr bwMode="auto">
          <a:xfrm>
            <a:off x="6902496" y="4283072"/>
            <a:ext cx="1164407" cy="377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73" tIns="34287" rIns="68573" bIns="34287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Arial" panose="020B0604020202020204" pitchFamily="34" charset="0"/>
                <a:sym typeface="字魂58号-创中黑" panose="00000500000000000000" pitchFamily="2" charset="-122"/>
              </a:rPr>
              <a:t>区域现状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cs typeface="Arial" panose="020B0604020202020204" pitchFamily="34" charset="0"/>
              <a:sym typeface="字魂58号-创中黑" panose="00000500000000000000" pitchFamily="2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947014" y="4714813"/>
            <a:ext cx="599800" cy="4050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6" tIns="34287" rIns="68576" bIns="34287"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561864" y="4714813"/>
            <a:ext cx="1215000" cy="405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6" tIns="34287" rIns="68576" bIns="34287"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872105" y="2687320"/>
            <a:ext cx="3542665" cy="3318510"/>
          </a:xfrm>
          <a:prstGeom prst="rect">
            <a:avLst/>
          </a:prstGeom>
          <a:blipFill>
            <a:blip r:embed="rId1"/>
            <a:srcRect/>
            <a:stretch>
              <a:fillRect/>
            </a:stretch>
          </a:blipFill>
          <a:ln>
            <a:solidFill>
              <a:srgbClr val="005B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sp>
        <p:nvSpPr>
          <p:cNvPr id="13" name="矩形 3"/>
          <p:cNvSpPr>
            <a:spLocks noChangeArrowheads="1"/>
          </p:cNvSpPr>
          <p:nvPr/>
        </p:nvSpPr>
        <p:spPr bwMode="auto">
          <a:xfrm>
            <a:off x="5958652" y="406444"/>
            <a:ext cx="1713230" cy="551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Arial" panose="020B0604020202020204" pitchFamily="34" charset="0"/>
                <a:sym typeface="字魂58号-创中黑" panose="00000500000000000000" pitchFamily="2" charset="-122"/>
              </a:rPr>
              <a:t>背景简介</a:t>
            </a:r>
            <a:endParaRPr lang="zh-CN" altLang="en-US" sz="3000" b="1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cs typeface="Arial" panose="020B0604020202020204" pitchFamily="34" charset="0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334856" y="461236"/>
            <a:ext cx="263341" cy="395013"/>
            <a:chOff x="5284519" y="1508166"/>
            <a:chExt cx="213756" cy="427512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oval" w="med" len="med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oval" w="med" len="med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000"/>
                            </p:stCondLst>
                            <p:childTnLst>
                              <p:par>
                                <p:cTn id="5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 animBg="1"/>
      <p:bldP spid="20" grpId="0" animBg="1"/>
      <p:bldP spid="21" grpId="0"/>
      <p:bldP spid="22" grpId="0"/>
      <p:bldP spid="23" grpId="0" bldLvl="0" animBg="1"/>
      <p:bldP spid="24" grpId="0" bldLvl="0" animBg="1"/>
      <p:bldP spid="25" grpId="0" bldLvl="0" animBg="1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471"/>
          <p:cNvSpPr>
            <a:spLocks noEditPoints="1"/>
          </p:cNvSpPr>
          <p:nvPr>
            <p:custDataLst>
              <p:tags r:id="rId1"/>
            </p:custDataLst>
          </p:nvPr>
        </p:nvSpPr>
        <p:spPr bwMode="auto">
          <a:xfrm>
            <a:off x="7419947" y="3612762"/>
            <a:ext cx="967236" cy="738967"/>
          </a:xfrm>
          <a:custGeom>
            <a:avLst/>
            <a:gdLst>
              <a:gd name="T0" fmla="*/ 103 w 106"/>
              <a:gd name="T1" fmla="*/ 44 h 81"/>
              <a:gd name="T2" fmla="*/ 85 w 106"/>
              <a:gd name="T3" fmla="*/ 26 h 81"/>
              <a:gd name="T4" fmla="*/ 66 w 106"/>
              <a:gd name="T5" fmla="*/ 7 h 81"/>
              <a:gd name="T6" fmla="*/ 47 w 106"/>
              <a:gd name="T7" fmla="*/ 26 h 81"/>
              <a:gd name="T8" fmla="*/ 29 w 106"/>
              <a:gd name="T9" fmla="*/ 44 h 81"/>
              <a:gd name="T10" fmla="*/ 4 w 106"/>
              <a:gd name="T11" fmla="*/ 44 h 81"/>
              <a:gd name="T12" fmla="*/ 4 w 106"/>
              <a:gd name="T13" fmla="*/ 81 h 81"/>
              <a:gd name="T14" fmla="*/ 66 w 106"/>
              <a:gd name="T15" fmla="*/ 81 h 81"/>
              <a:gd name="T16" fmla="*/ 66 w 106"/>
              <a:gd name="T17" fmla="*/ 53 h 81"/>
              <a:gd name="T18" fmla="*/ 84 w 106"/>
              <a:gd name="T19" fmla="*/ 53 h 81"/>
              <a:gd name="T20" fmla="*/ 84 w 106"/>
              <a:gd name="T21" fmla="*/ 81 h 81"/>
              <a:gd name="T22" fmla="*/ 103 w 106"/>
              <a:gd name="T23" fmla="*/ 81 h 81"/>
              <a:gd name="T24" fmla="*/ 103 w 106"/>
              <a:gd name="T25" fmla="*/ 44 h 81"/>
              <a:gd name="T26" fmla="*/ 25 w 106"/>
              <a:gd name="T27" fmla="*/ 66 h 81"/>
              <a:gd name="T28" fmla="*/ 11 w 106"/>
              <a:gd name="T29" fmla="*/ 66 h 81"/>
              <a:gd name="T30" fmla="*/ 11 w 106"/>
              <a:gd name="T31" fmla="*/ 52 h 81"/>
              <a:gd name="T32" fmla="*/ 25 w 106"/>
              <a:gd name="T33" fmla="*/ 52 h 81"/>
              <a:gd name="T34" fmla="*/ 25 w 106"/>
              <a:gd name="T35" fmla="*/ 66 h 81"/>
              <a:gd name="T36" fmla="*/ 47 w 106"/>
              <a:gd name="T37" fmla="*/ 66 h 81"/>
              <a:gd name="T38" fmla="*/ 33 w 106"/>
              <a:gd name="T39" fmla="*/ 66 h 81"/>
              <a:gd name="T40" fmla="*/ 33 w 106"/>
              <a:gd name="T41" fmla="*/ 52 h 81"/>
              <a:gd name="T42" fmla="*/ 47 w 106"/>
              <a:gd name="T43" fmla="*/ 52 h 81"/>
              <a:gd name="T44" fmla="*/ 47 w 106"/>
              <a:gd name="T45" fmla="*/ 66 h 81"/>
              <a:gd name="T46" fmla="*/ 63 w 106"/>
              <a:gd name="T47" fmla="*/ 38 h 81"/>
              <a:gd name="T48" fmla="*/ 56 w 106"/>
              <a:gd name="T49" fmla="*/ 31 h 81"/>
              <a:gd name="T50" fmla="*/ 63 w 106"/>
              <a:gd name="T51" fmla="*/ 25 h 81"/>
              <a:gd name="T52" fmla="*/ 70 w 106"/>
              <a:gd name="T53" fmla="*/ 31 h 81"/>
              <a:gd name="T54" fmla="*/ 63 w 106"/>
              <a:gd name="T55" fmla="*/ 38 h 81"/>
              <a:gd name="T56" fmla="*/ 106 w 106"/>
              <a:gd name="T57" fmla="*/ 40 h 81"/>
              <a:gd name="T58" fmla="*/ 104 w 106"/>
              <a:gd name="T59" fmla="*/ 42 h 81"/>
              <a:gd name="T60" fmla="*/ 66 w 106"/>
              <a:gd name="T61" fmla="*/ 3 h 81"/>
              <a:gd name="T62" fmla="*/ 28 w 106"/>
              <a:gd name="T63" fmla="*/ 41 h 81"/>
              <a:gd name="T64" fmla="*/ 28 w 106"/>
              <a:gd name="T65" fmla="*/ 42 h 81"/>
              <a:gd name="T66" fmla="*/ 0 w 106"/>
              <a:gd name="T67" fmla="*/ 42 h 81"/>
              <a:gd name="T68" fmla="*/ 21 w 106"/>
              <a:gd name="T69" fmla="*/ 20 h 81"/>
              <a:gd name="T70" fmla="*/ 47 w 106"/>
              <a:gd name="T71" fmla="*/ 20 h 81"/>
              <a:gd name="T72" fmla="*/ 66 w 106"/>
              <a:gd name="T73" fmla="*/ 0 h 81"/>
              <a:gd name="T74" fmla="*/ 87 w 106"/>
              <a:gd name="T75" fmla="*/ 21 h 81"/>
              <a:gd name="T76" fmla="*/ 87 w 106"/>
              <a:gd name="T77" fmla="*/ 9 h 81"/>
              <a:gd name="T78" fmla="*/ 95 w 106"/>
              <a:gd name="T79" fmla="*/ 9 h 81"/>
              <a:gd name="T80" fmla="*/ 95 w 106"/>
              <a:gd name="T81" fmla="*/ 30 h 81"/>
              <a:gd name="T82" fmla="*/ 106 w 106"/>
              <a:gd name="T83" fmla="*/ 4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06" h="81">
                <a:moveTo>
                  <a:pt x="103" y="44"/>
                </a:moveTo>
                <a:cubicBezTo>
                  <a:pt x="85" y="26"/>
                  <a:pt x="85" y="26"/>
                  <a:pt x="85" y="26"/>
                </a:cubicBezTo>
                <a:cubicBezTo>
                  <a:pt x="66" y="7"/>
                  <a:pt x="66" y="7"/>
                  <a:pt x="66" y="7"/>
                </a:cubicBezTo>
                <a:cubicBezTo>
                  <a:pt x="47" y="26"/>
                  <a:pt x="47" y="26"/>
                  <a:pt x="47" y="26"/>
                </a:cubicBezTo>
                <a:cubicBezTo>
                  <a:pt x="29" y="44"/>
                  <a:pt x="29" y="44"/>
                  <a:pt x="29" y="44"/>
                </a:cubicBezTo>
                <a:cubicBezTo>
                  <a:pt x="4" y="44"/>
                  <a:pt x="4" y="44"/>
                  <a:pt x="4" y="44"/>
                </a:cubicBezTo>
                <a:cubicBezTo>
                  <a:pt x="4" y="81"/>
                  <a:pt x="4" y="81"/>
                  <a:pt x="4" y="81"/>
                </a:cubicBezTo>
                <a:cubicBezTo>
                  <a:pt x="66" y="81"/>
                  <a:pt x="66" y="81"/>
                  <a:pt x="66" y="81"/>
                </a:cubicBezTo>
                <a:cubicBezTo>
                  <a:pt x="66" y="53"/>
                  <a:pt x="66" y="53"/>
                  <a:pt x="66" y="53"/>
                </a:cubicBezTo>
                <a:cubicBezTo>
                  <a:pt x="84" y="53"/>
                  <a:pt x="84" y="53"/>
                  <a:pt x="84" y="53"/>
                </a:cubicBezTo>
                <a:cubicBezTo>
                  <a:pt x="84" y="81"/>
                  <a:pt x="84" y="81"/>
                  <a:pt x="84" y="81"/>
                </a:cubicBezTo>
                <a:cubicBezTo>
                  <a:pt x="103" y="81"/>
                  <a:pt x="103" y="81"/>
                  <a:pt x="103" y="81"/>
                </a:cubicBezTo>
                <a:cubicBezTo>
                  <a:pt x="103" y="44"/>
                  <a:pt x="103" y="44"/>
                  <a:pt x="103" y="44"/>
                </a:cubicBezTo>
                <a:close/>
                <a:moveTo>
                  <a:pt x="25" y="66"/>
                </a:moveTo>
                <a:cubicBezTo>
                  <a:pt x="11" y="66"/>
                  <a:pt x="11" y="66"/>
                  <a:pt x="11" y="66"/>
                </a:cubicBezTo>
                <a:cubicBezTo>
                  <a:pt x="11" y="52"/>
                  <a:pt x="11" y="52"/>
                  <a:pt x="11" y="52"/>
                </a:cubicBezTo>
                <a:cubicBezTo>
                  <a:pt x="25" y="52"/>
                  <a:pt x="25" y="52"/>
                  <a:pt x="25" y="52"/>
                </a:cubicBezTo>
                <a:lnTo>
                  <a:pt x="25" y="66"/>
                </a:lnTo>
                <a:close/>
                <a:moveTo>
                  <a:pt x="47" y="66"/>
                </a:moveTo>
                <a:cubicBezTo>
                  <a:pt x="33" y="66"/>
                  <a:pt x="33" y="66"/>
                  <a:pt x="33" y="66"/>
                </a:cubicBezTo>
                <a:cubicBezTo>
                  <a:pt x="33" y="52"/>
                  <a:pt x="33" y="52"/>
                  <a:pt x="33" y="52"/>
                </a:cubicBezTo>
                <a:cubicBezTo>
                  <a:pt x="47" y="52"/>
                  <a:pt x="47" y="52"/>
                  <a:pt x="47" y="52"/>
                </a:cubicBezTo>
                <a:lnTo>
                  <a:pt x="47" y="66"/>
                </a:lnTo>
                <a:close/>
                <a:moveTo>
                  <a:pt x="63" y="38"/>
                </a:moveTo>
                <a:cubicBezTo>
                  <a:pt x="59" y="38"/>
                  <a:pt x="56" y="35"/>
                  <a:pt x="56" y="31"/>
                </a:cubicBezTo>
                <a:cubicBezTo>
                  <a:pt x="56" y="28"/>
                  <a:pt x="59" y="25"/>
                  <a:pt x="63" y="25"/>
                </a:cubicBezTo>
                <a:cubicBezTo>
                  <a:pt x="67" y="25"/>
                  <a:pt x="70" y="28"/>
                  <a:pt x="70" y="31"/>
                </a:cubicBezTo>
                <a:cubicBezTo>
                  <a:pt x="70" y="35"/>
                  <a:pt x="67" y="38"/>
                  <a:pt x="63" y="38"/>
                </a:cubicBezTo>
                <a:close/>
                <a:moveTo>
                  <a:pt x="106" y="40"/>
                </a:moveTo>
                <a:cubicBezTo>
                  <a:pt x="104" y="42"/>
                  <a:pt x="104" y="42"/>
                  <a:pt x="104" y="42"/>
                </a:cubicBezTo>
                <a:cubicBezTo>
                  <a:pt x="66" y="3"/>
                  <a:pt x="66" y="3"/>
                  <a:pt x="66" y="3"/>
                </a:cubicBezTo>
                <a:cubicBezTo>
                  <a:pt x="28" y="41"/>
                  <a:pt x="28" y="41"/>
                  <a:pt x="28" y="41"/>
                </a:cubicBezTo>
                <a:cubicBezTo>
                  <a:pt x="28" y="42"/>
                  <a:pt x="28" y="42"/>
                  <a:pt x="28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21" y="20"/>
                  <a:pt x="21" y="20"/>
                  <a:pt x="21" y="20"/>
                </a:cubicBezTo>
                <a:cubicBezTo>
                  <a:pt x="47" y="20"/>
                  <a:pt x="47" y="20"/>
                  <a:pt x="47" y="20"/>
                </a:cubicBezTo>
                <a:cubicBezTo>
                  <a:pt x="66" y="0"/>
                  <a:pt x="66" y="0"/>
                  <a:pt x="66" y="0"/>
                </a:cubicBezTo>
                <a:cubicBezTo>
                  <a:pt x="87" y="21"/>
                  <a:pt x="87" y="21"/>
                  <a:pt x="87" y="21"/>
                </a:cubicBezTo>
                <a:cubicBezTo>
                  <a:pt x="87" y="9"/>
                  <a:pt x="87" y="9"/>
                  <a:pt x="87" y="9"/>
                </a:cubicBezTo>
                <a:cubicBezTo>
                  <a:pt x="95" y="9"/>
                  <a:pt x="95" y="9"/>
                  <a:pt x="95" y="9"/>
                </a:cubicBezTo>
                <a:cubicBezTo>
                  <a:pt x="95" y="30"/>
                  <a:pt x="95" y="30"/>
                  <a:pt x="95" y="30"/>
                </a:cubicBezTo>
                <a:lnTo>
                  <a:pt x="106" y="40"/>
                </a:lnTo>
                <a:close/>
              </a:path>
            </a:pathLst>
          </a:custGeom>
          <a:solidFill>
            <a:srgbClr val="005BAA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sp>
        <p:nvSpPr>
          <p:cNvPr id="20" name="Freeform 476"/>
          <p:cNvSpPr>
            <a:spLocks noEditPoints="1"/>
          </p:cNvSpPr>
          <p:nvPr>
            <p:custDataLst>
              <p:tags r:id="rId2"/>
            </p:custDataLst>
          </p:nvPr>
        </p:nvSpPr>
        <p:spPr bwMode="auto">
          <a:xfrm>
            <a:off x="2683485" y="1308506"/>
            <a:ext cx="1041341" cy="754547"/>
          </a:xfrm>
          <a:custGeom>
            <a:avLst/>
            <a:gdLst>
              <a:gd name="T0" fmla="*/ 125 w 125"/>
              <a:gd name="T1" fmla="*/ 71 h 73"/>
              <a:gd name="T2" fmla="*/ 124 w 125"/>
              <a:gd name="T3" fmla="*/ 73 h 73"/>
              <a:gd name="T4" fmla="*/ 2 w 125"/>
              <a:gd name="T5" fmla="*/ 73 h 73"/>
              <a:gd name="T6" fmla="*/ 0 w 125"/>
              <a:gd name="T7" fmla="*/ 71 h 73"/>
              <a:gd name="T8" fmla="*/ 0 w 125"/>
              <a:gd name="T9" fmla="*/ 68 h 73"/>
              <a:gd name="T10" fmla="*/ 2 w 125"/>
              <a:gd name="T11" fmla="*/ 66 h 73"/>
              <a:gd name="T12" fmla="*/ 124 w 125"/>
              <a:gd name="T13" fmla="*/ 66 h 73"/>
              <a:gd name="T14" fmla="*/ 125 w 125"/>
              <a:gd name="T15" fmla="*/ 68 h 73"/>
              <a:gd name="T16" fmla="*/ 125 w 125"/>
              <a:gd name="T17" fmla="*/ 71 h 73"/>
              <a:gd name="T18" fmla="*/ 118 w 125"/>
              <a:gd name="T19" fmla="*/ 5 h 73"/>
              <a:gd name="T20" fmla="*/ 118 w 125"/>
              <a:gd name="T21" fmla="*/ 58 h 73"/>
              <a:gd name="T22" fmla="*/ 113 w 125"/>
              <a:gd name="T23" fmla="*/ 63 h 73"/>
              <a:gd name="T24" fmla="*/ 12 w 125"/>
              <a:gd name="T25" fmla="*/ 63 h 73"/>
              <a:gd name="T26" fmla="*/ 7 w 125"/>
              <a:gd name="T27" fmla="*/ 58 h 73"/>
              <a:gd name="T28" fmla="*/ 7 w 125"/>
              <a:gd name="T29" fmla="*/ 5 h 73"/>
              <a:gd name="T30" fmla="*/ 12 w 125"/>
              <a:gd name="T31" fmla="*/ 0 h 73"/>
              <a:gd name="T32" fmla="*/ 113 w 125"/>
              <a:gd name="T33" fmla="*/ 0 h 73"/>
              <a:gd name="T34" fmla="*/ 118 w 125"/>
              <a:gd name="T35" fmla="*/ 5 h 73"/>
              <a:gd name="T36" fmla="*/ 113 w 125"/>
              <a:gd name="T37" fmla="*/ 6 h 73"/>
              <a:gd name="T38" fmla="*/ 12 w 125"/>
              <a:gd name="T39" fmla="*/ 6 h 73"/>
              <a:gd name="T40" fmla="*/ 12 w 125"/>
              <a:gd name="T41" fmla="*/ 59 h 73"/>
              <a:gd name="T42" fmla="*/ 113 w 125"/>
              <a:gd name="T43" fmla="*/ 59 h 73"/>
              <a:gd name="T44" fmla="*/ 113 w 125"/>
              <a:gd name="T45" fmla="*/ 6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25" h="73">
                <a:moveTo>
                  <a:pt x="125" y="71"/>
                </a:moveTo>
                <a:cubicBezTo>
                  <a:pt x="125" y="72"/>
                  <a:pt x="124" y="73"/>
                  <a:pt x="124" y="73"/>
                </a:cubicBezTo>
                <a:cubicBezTo>
                  <a:pt x="2" y="73"/>
                  <a:pt x="2" y="73"/>
                  <a:pt x="2" y="73"/>
                </a:cubicBezTo>
                <a:cubicBezTo>
                  <a:pt x="1" y="73"/>
                  <a:pt x="0" y="72"/>
                  <a:pt x="0" y="71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67"/>
                  <a:pt x="1" y="66"/>
                  <a:pt x="2" y="66"/>
                </a:cubicBezTo>
                <a:cubicBezTo>
                  <a:pt x="124" y="66"/>
                  <a:pt x="124" y="66"/>
                  <a:pt x="124" y="66"/>
                </a:cubicBezTo>
                <a:cubicBezTo>
                  <a:pt x="124" y="66"/>
                  <a:pt x="125" y="67"/>
                  <a:pt x="125" y="68"/>
                </a:cubicBezTo>
                <a:lnTo>
                  <a:pt x="125" y="71"/>
                </a:lnTo>
                <a:close/>
                <a:moveTo>
                  <a:pt x="118" y="5"/>
                </a:moveTo>
                <a:cubicBezTo>
                  <a:pt x="118" y="58"/>
                  <a:pt x="118" y="58"/>
                  <a:pt x="118" y="58"/>
                </a:cubicBezTo>
                <a:cubicBezTo>
                  <a:pt x="118" y="61"/>
                  <a:pt x="116" y="63"/>
                  <a:pt x="113" y="63"/>
                </a:cubicBezTo>
                <a:cubicBezTo>
                  <a:pt x="12" y="63"/>
                  <a:pt x="12" y="63"/>
                  <a:pt x="12" y="63"/>
                </a:cubicBezTo>
                <a:cubicBezTo>
                  <a:pt x="9" y="63"/>
                  <a:pt x="7" y="61"/>
                  <a:pt x="7" y="58"/>
                </a:cubicBezTo>
                <a:cubicBezTo>
                  <a:pt x="7" y="5"/>
                  <a:pt x="7" y="5"/>
                  <a:pt x="7" y="5"/>
                </a:cubicBezTo>
                <a:cubicBezTo>
                  <a:pt x="7" y="2"/>
                  <a:pt x="9" y="0"/>
                  <a:pt x="12" y="0"/>
                </a:cubicBezTo>
                <a:cubicBezTo>
                  <a:pt x="113" y="0"/>
                  <a:pt x="113" y="0"/>
                  <a:pt x="113" y="0"/>
                </a:cubicBezTo>
                <a:cubicBezTo>
                  <a:pt x="116" y="0"/>
                  <a:pt x="118" y="2"/>
                  <a:pt x="118" y="5"/>
                </a:cubicBezTo>
                <a:close/>
                <a:moveTo>
                  <a:pt x="113" y="6"/>
                </a:moveTo>
                <a:cubicBezTo>
                  <a:pt x="12" y="6"/>
                  <a:pt x="12" y="6"/>
                  <a:pt x="12" y="6"/>
                </a:cubicBezTo>
                <a:cubicBezTo>
                  <a:pt x="12" y="59"/>
                  <a:pt x="12" y="59"/>
                  <a:pt x="12" y="59"/>
                </a:cubicBezTo>
                <a:cubicBezTo>
                  <a:pt x="113" y="59"/>
                  <a:pt x="113" y="59"/>
                  <a:pt x="113" y="59"/>
                </a:cubicBezTo>
                <a:lnTo>
                  <a:pt x="113" y="6"/>
                </a:lnTo>
                <a:close/>
              </a:path>
            </a:pathLst>
          </a:custGeom>
          <a:solidFill>
            <a:srgbClr val="005BAA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sp>
        <p:nvSpPr>
          <p:cNvPr id="21" name="Oval 49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683485" y="3689047"/>
            <a:ext cx="730404" cy="662682"/>
          </a:xfrm>
          <a:custGeom>
            <a:avLst/>
            <a:gdLst/>
            <a:ahLst/>
            <a:cxnLst/>
            <a:rect l="l" t="t" r="r" b="b"/>
            <a:pathLst>
              <a:path w="239713" h="217487">
                <a:moveTo>
                  <a:pt x="67420" y="131762"/>
                </a:moveTo>
                <a:lnTo>
                  <a:pt x="71346" y="131762"/>
                </a:lnTo>
                <a:lnTo>
                  <a:pt x="80061" y="131762"/>
                </a:lnTo>
                <a:lnTo>
                  <a:pt x="80262" y="131762"/>
                </a:lnTo>
                <a:lnTo>
                  <a:pt x="97384" y="131762"/>
                </a:lnTo>
                <a:lnTo>
                  <a:pt x="100603" y="131762"/>
                </a:lnTo>
                <a:lnTo>
                  <a:pt x="101129" y="131762"/>
                </a:lnTo>
                <a:lnTo>
                  <a:pt x="102183" y="131762"/>
                </a:lnTo>
                <a:lnTo>
                  <a:pt x="109088" y="131762"/>
                </a:lnTo>
                <a:lnTo>
                  <a:pt x="109557" y="131762"/>
                </a:lnTo>
                <a:lnTo>
                  <a:pt x="129513" y="131762"/>
                </a:lnTo>
                <a:lnTo>
                  <a:pt x="129572" y="131762"/>
                </a:lnTo>
                <a:lnTo>
                  <a:pt x="168548" y="131762"/>
                </a:lnTo>
                <a:lnTo>
                  <a:pt x="195469" y="137003"/>
                </a:lnTo>
                <a:lnTo>
                  <a:pt x="218177" y="151330"/>
                </a:lnTo>
                <a:lnTo>
                  <a:pt x="233861" y="172645"/>
                </a:lnTo>
                <a:lnTo>
                  <a:pt x="239713" y="198851"/>
                </a:lnTo>
                <a:lnTo>
                  <a:pt x="239713" y="201181"/>
                </a:lnTo>
                <a:lnTo>
                  <a:pt x="239713" y="201181"/>
                </a:lnTo>
                <a:lnTo>
                  <a:pt x="239713" y="217487"/>
                </a:lnTo>
                <a:lnTo>
                  <a:pt x="0" y="217487"/>
                </a:lnTo>
                <a:cubicBezTo>
                  <a:pt x="0" y="217487"/>
                  <a:pt x="0" y="217487"/>
                  <a:pt x="0" y="215158"/>
                </a:cubicBezTo>
                <a:lnTo>
                  <a:pt x="0" y="198851"/>
                </a:lnTo>
                <a:cubicBezTo>
                  <a:pt x="0" y="161580"/>
                  <a:pt x="29964" y="131762"/>
                  <a:pt x="67420" y="131762"/>
                </a:cubicBezTo>
                <a:close/>
                <a:moveTo>
                  <a:pt x="119063" y="0"/>
                </a:moveTo>
                <a:lnTo>
                  <a:pt x="142545" y="4741"/>
                </a:lnTo>
                <a:lnTo>
                  <a:pt x="161720" y="17669"/>
                </a:lnTo>
                <a:lnTo>
                  <a:pt x="174648" y="36844"/>
                </a:lnTo>
                <a:lnTo>
                  <a:pt x="179388" y="60325"/>
                </a:lnTo>
                <a:lnTo>
                  <a:pt x="174648" y="83807"/>
                </a:lnTo>
                <a:lnTo>
                  <a:pt x="161720" y="102981"/>
                </a:lnTo>
                <a:lnTo>
                  <a:pt x="142545" y="115910"/>
                </a:lnTo>
                <a:cubicBezTo>
                  <a:pt x="135327" y="118962"/>
                  <a:pt x="127393" y="120650"/>
                  <a:pt x="119063" y="120650"/>
                </a:cubicBezTo>
                <a:cubicBezTo>
                  <a:pt x="102405" y="120650"/>
                  <a:pt x="87323" y="113898"/>
                  <a:pt x="76407" y="102981"/>
                </a:cubicBezTo>
                <a:cubicBezTo>
                  <a:pt x="70949" y="97523"/>
                  <a:pt x="66531" y="91024"/>
                  <a:pt x="63479" y="83807"/>
                </a:cubicBezTo>
                <a:cubicBezTo>
                  <a:pt x="60426" y="76589"/>
                  <a:pt x="58738" y="68654"/>
                  <a:pt x="58738" y="60325"/>
                </a:cubicBezTo>
                <a:cubicBezTo>
                  <a:pt x="58738" y="43667"/>
                  <a:pt x="65490" y="28585"/>
                  <a:pt x="76407" y="17669"/>
                </a:cubicBezTo>
                <a:cubicBezTo>
                  <a:pt x="81865" y="12210"/>
                  <a:pt x="88365" y="7793"/>
                  <a:pt x="95582" y="4741"/>
                </a:cubicBezTo>
                <a:cubicBezTo>
                  <a:pt x="102799" y="1688"/>
                  <a:pt x="110734" y="0"/>
                  <a:pt x="119063" y="0"/>
                </a:cubicBezTo>
                <a:close/>
              </a:path>
            </a:pathLst>
          </a:custGeom>
          <a:solidFill>
            <a:srgbClr val="333333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sp>
        <p:nvSpPr>
          <p:cNvPr id="22" name="Freeform 497"/>
          <p:cNvSpPr>
            <a:spLocks noEditPoints="1"/>
          </p:cNvSpPr>
          <p:nvPr>
            <p:custDataLst>
              <p:tags r:id="rId4"/>
            </p:custDataLst>
          </p:nvPr>
        </p:nvSpPr>
        <p:spPr bwMode="auto">
          <a:xfrm>
            <a:off x="7419948" y="1308506"/>
            <a:ext cx="563836" cy="777833"/>
          </a:xfrm>
          <a:custGeom>
            <a:avLst/>
            <a:gdLst>
              <a:gd name="T0" fmla="*/ 125 w 128"/>
              <a:gd name="T1" fmla="*/ 83 h 177"/>
              <a:gd name="T2" fmla="*/ 64 w 128"/>
              <a:gd name="T3" fmla="*/ 177 h 177"/>
              <a:gd name="T4" fmla="*/ 0 w 128"/>
              <a:gd name="T5" fmla="*/ 71 h 177"/>
              <a:gd name="T6" fmla="*/ 0 w 128"/>
              <a:gd name="T7" fmla="*/ 70 h 177"/>
              <a:gd name="T8" fmla="*/ 0 w 128"/>
              <a:gd name="T9" fmla="*/ 64 h 177"/>
              <a:gd name="T10" fmla="*/ 64 w 128"/>
              <a:gd name="T11" fmla="*/ 0 h 177"/>
              <a:gd name="T12" fmla="*/ 128 w 128"/>
              <a:gd name="T13" fmla="*/ 64 h 177"/>
              <a:gd name="T14" fmla="*/ 127 w 128"/>
              <a:gd name="T15" fmla="*/ 68 h 177"/>
              <a:gd name="T16" fmla="*/ 125 w 128"/>
              <a:gd name="T17" fmla="*/ 83 h 177"/>
              <a:gd name="T18" fmla="*/ 64 w 128"/>
              <a:gd name="T19" fmla="*/ 20 h 177"/>
              <a:gd name="T20" fmla="*/ 22 w 128"/>
              <a:gd name="T21" fmla="*/ 62 h 177"/>
              <a:gd name="T22" fmla="*/ 64 w 128"/>
              <a:gd name="T23" fmla="*/ 104 h 177"/>
              <a:gd name="T24" fmla="*/ 106 w 128"/>
              <a:gd name="T25" fmla="*/ 62 h 177"/>
              <a:gd name="T26" fmla="*/ 64 w 128"/>
              <a:gd name="T27" fmla="*/ 20 h 177"/>
              <a:gd name="T28" fmla="*/ 64 w 128"/>
              <a:gd name="T29" fmla="*/ 40 h 177"/>
              <a:gd name="T30" fmla="*/ 44 w 128"/>
              <a:gd name="T31" fmla="*/ 60 h 177"/>
              <a:gd name="T32" fmla="*/ 64 w 128"/>
              <a:gd name="T33" fmla="*/ 80 h 177"/>
              <a:gd name="T34" fmla="*/ 84 w 128"/>
              <a:gd name="T35" fmla="*/ 60 h 177"/>
              <a:gd name="T36" fmla="*/ 64 w 128"/>
              <a:gd name="T37" fmla="*/ 40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28" h="177">
                <a:moveTo>
                  <a:pt x="125" y="83"/>
                </a:moveTo>
                <a:cubicBezTo>
                  <a:pt x="120" y="104"/>
                  <a:pt x="105" y="138"/>
                  <a:pt x="64" y="177"/>
                </a:cubicBezTo>
                <a:cubicBezTo>
                  <a:pt x="64" y="177"/>
                  <a:pt x="5" y="122"/>
                  <a:pt x="0" y="71"/>
                </a:cubicBezTo>
                <a:cubicBezTo>
                  <a:pt x="0" y="71"/>
                  <a:pt x="0" y="70"/>
                  <a:pt x="0" y="70"/>
                </a:cubicBezTo>
                <a:cubicBezTo>
                  <a:pt x="0" y="68"/>
                  <a:pt x="0" y="66"/>
                  <a:pt x="0" y="64"/>
                </a:cubicBezTo>
                <a:cubicBezTo>
                  <a:pt x="0" y="29"/>
                  <a:pt x="28" y="0"/>
                  <a:pt x="64" y="0"/>
                </a:cubicBezTo>
                <a:cubicBezTo>
                  <a:pt x="99" y="0"/>
                  <a:pt x="128" y="29"/>
                  <a:pt x="128" y="64"/>
                </a:cubicBezTo>
                <a:cubicBezTo>
                  <a:pt x="128" y="64"/>
                  <a:pt x="128" y="65"/>
                  <a:pt x="127" y="68"/>
                </a:cubicBezTo>
                <a:cubicBezTo>
                  <a:pt x="127" y="73"/>
                  <a:pt x="126" y="78"/>
                  <a:pt x="125" y="83"/>
                </a:cubicBezTo>
                <a:close/>
                <a:moveTo>
                  <a:pt x="64" y="20"/>
                </a:moveTo>
                <a:cubicBezTo>
                  <a:pt x="40" y="20"/>
                  <a:pt x="22" y="39"/>
                  <a:pt x="22" y="62"/>
                </a:cubicBezTo>
                <a:cubicBezTo>
                  <a:pt x="22" y="85"/>
                  <a:pt x="40" y="104"/>
                  <a:pt x="64" y="104"/>
                </a:cubicBezTo>
                <a:cubicBezTo>
                  <a:pt x="87" y="104"/>
                  <a:pt x="106" y="85"/>
                  <a:pt x="106" y="62"/>
                </a:cubicBezTo>
                <a:cubicBezTo>
                  <a:pt x="106" y="39"/>
                  <a:pt x="87" y="20"/>
                  <a:pt x="64" y="20"/>
                </a:cubicBezTo>
                <a:close/>
                <a:moveTo>
                  <a:pt x="64" y="40"/>
                </a:moveTo>
                <a:cubicBezTo>
                  <a:pt x="53" y="40"/>
                  <a:pt x="44" y="49"/>
                  <a:pt x="44" y="60"/>
                </a:cubicBezTo>
                <a:cubicBezTo>
                  <a:pt x="44" y="71"/>
                  <a:pt x="53" y="80"/>
                  <a:pt x="64" y="80"/>
                </a:cubicBezTo>
                <a:cubicBezTo>
                  <a:pt x="75" y="80"/>
                  <a:pt x="84" y="71"/>
                  <a:pt x="84" y="60"/>
                </a:cubicBezTo>
                <a:cubicBezTo>
                  <a:pt x="84" y="49"/>
                  <a:pt x="75" y="40"/>
                  <a:pt x="64" y="40"/>
                </a:cubicBezTo>
                <a:close/>
              </a:path>
            </a:pathLst>
          </a:custGeom>
          <a:solidFill>
            <a:srgbClr val="333333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cxnSp>
        <p:nvCxnSpPr>
          <p:cNvPr id="23" name="直接连接符 22"/>
          <p:cNvCxnSpPr/>
          <p:nvPr>
            <p:custDataLst>
              <p:tags r:id="rId5"/>
            </p:custDataLst>
          </p:nvPr>
        </p:nvCxnSpPr>
        <p:spPr>
          <a:xfrm>
            <a:off x="2683485" y="2155286"/>
            <a:ext cx="370959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>
            <p:custDataLst>
              <p:tags r:id="rId6"/>
            </p:custDataLst>
          </p:nvPr>
        </p:nvCxnSpPr>
        <p:spPr>
          <a:xfrm>
            <a:off x="7419947" y="2155286"/>
            <a:ext cx="368004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>
            <p:custDataLst>
              <p:tags r:id="rId7"/>
            </p:custDataLst>
          </p:nvPr>
        </p:nvCxnSpPr>
        <p:spPr>
          <a:xfrm>
            <a:off x="2683485" y="4510724"/>
            <a:ext cx="370959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>
            <p:custDataLst>
              <p:tags r:id="rId8"/>
            </p:custDataLst>
          </p:nvPr>
        </p:nvCxnSpPr>
        <p:spPr>
          <a:xfrm>
            <a:off x="7419947" y="4510724"/>
            <a:ext cx="368004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498"/>
          <p:cNvSpPr txBox="1"/>
          <p:nvPr>
            <p:custDataLst>
              <p:tags r:id="rId9"/>
            </p:custDataLst>
          </p:nvPr>
        </p:nvSpPr>
        <p:spPr>
          <a:xfrm>
            <a:off x="3800457" y="1558796"/>
            <a:ext cx="2708910" cy="4298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r"/>
            <a:r>
              <a:rPr lang="zh-CN" alt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UKIJ Qolyazma" pitchFamily="18" charset="0"/>
                <a:sym typeface="字魂58号-创中黑" panose="00000500000000000000" pitchFamily="2" charset="-122"/>
              </a:rPr>
              <a:t>能源与经济成本巨大</a:t>
            </a:r>
            <a:endParaRPr lang="zh-CN" altLang="en-US" sz="2200" b="1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cs typeface="UKIJ Qolyazma" pitchFamily="18" charset="0"/>
              <a:sym typeface="字魂58号-创中黑" panose="00000500000000000000" pitchFamily="2" charset="-122"/>
            </a:endParaRPr>
          </a:p>
        </p:txBody>
      </p:sp>
      <p:sp>
        <p:nvSpPr>
          <p:cNvPr id="41" name="TextBox 499"/>
          <p:cNvSpPr txBox="1"/>
          <p:nvPr>
            <p:custDataLst>
              <p:tags r:id="rId10"/>
            </p:custDataLst>
          </p:nvPr>
        </p:nvSpPr>
        <p:spPr>
          <a:xfrm>
            <a:off x="8507714" y="1558796"/>
            <a:ext cx="2708910" cy="4298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r"/>
            <a:r>
              <a:rPr lang="zh-CN" alt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UKIJ Qolyazma" pitchFamily="18" charset="0"/>
                <a:sym typeface="字魂58号-创中黑" panose="00000500000000000000" pitchFamily="2" charset="-122"/>
              </a:rPr>
              <a:t>海量数据与偏见风险</a:t>
            </a:r>
            <a:endParaRPr lang="zh-CN" altLang="en-US" sz="2200" b="1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cs typeface="UKIJ Qolyazma" pitchFamily="18" charset="0"/>
              <a:sym typeface="字魂58号-创中黑" panose="00000500000000000000" pitchFamily="2" charset="-122"/>
            </a:endParaRPr>
          </a:p>
        </p:txBody>
      </p:sp>
      <p:sp>
        <p:nvSpPr>
          <p:cNvPr id="42" name="TextBox 500"/>
          <p:cNvSpPr txBox="1"/>
          <p:nvPr>
            <p:custDataLst>
              <p:tags r:id="rId11"/>
            </p:custDataLst>
          </p:nvPr>
        </p:nvSpPr>
        <p:spPr>
          <a:xfrm>
            <a:off x="4361797" y="3883778"/>
            <a:ext cx="2147570" cy="4298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r"/>
            <a:r>
              <a:rPr lang="zh-CN" alt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UKIJ Qolyazma" pitchFamily="18" charset="0"/>
                <a:sym typeface="字魂58号-创中黑" panose="00000500000000000000" pitchFamily="2" charset="-122"/>
              </a:rPr>
              <a:t>研究机会不平等</a:t>
            </a:r>
            <a:endParaRPr lang="zh-CN" altLang="en-US" sz="2200" b="1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cs typeface="UKIJ Qolyazma" pitchFamily="18" charset="0"/>
              <a:sym typeface="字魂58号-创中黑" panose="00000500000000000000" pitchFamily="2" charset="-122"/>
            </a:endParaRPr>
          </a:p>
        </p:txBody>
      </p:sp>
      <p:sp>
        <p:nvSpPr>
          <p:cNvPr id="43" name="TextBox 501"/>
          <p:cNvSpPr txBox="1"/>
          <p:nvPr>
            <p:custDataLst>
              <p:tags r:id="rId12"/>
            </p:custDataLst>
          </p:nvPr>
        </p:nvSpPr>
        <p:spPr>
          <a:xfrm>
            <a:off x="8506444" y="3883778"/>
            <a:ext cx="2710180" cy="4298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r"/>
            <a:r>
              <a:rPr lang="zh-CN" alt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UKIJ Qolyazma" pitchFamily="18" charset="0"/>
                <a:sym typeface="字魂58号-创中黑" panose="00000500000000000000" pitchFamily="2" charset="-122"/>
              </a:rPr>
              <a:t>语言</a:t>
            </a:r>
            <a:r>
              <a:rPr lang="en-US" altLang="zh-CN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UKIJ Qolyazma" pitchFamily="18" charset="0"/>
                <a:sym typeface="字魂58号-创中黑" panose="00000500000000000000" pitchFamily="2" charset="-122"/>
              </a:rPr>
              <a:t>AI</a:t>
            </a:r>
            <a:r>
              <a:rPr lang="zh-CN" alt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UKIJ Qolyazma" pitchFamily="18" charset="0"/>
                <a:sym typeface="字魂58号-创中黑" panose="00000500000000000000" pitchFamily="2" charset="-122"/>
              </a:rPr>
              <a:t>可能误导大众</a:t>
            </a:r>
            <a:endParaRPr lang="zh-CN" altLang="en-US" sz="2200" b="1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cs typeface="UKIJ Qolyazma" pitchFamily="18" charset="0"/>
              <a:sym typeface="字魂58号-创中黑" panose="00000500000000000000" pitchFamily="2" charset="-122"/>
            </a:endParaRPr>
          </a:p>
        </p:txBody>
      </p:sp>
      <p:sp>
        <p:nvSpPr>
          <p:cNvPr id="44" name="TextBox 503"/>
          <p:cNvSpPr txBox="1"/>
          <p:nvPr>
            <p:custDataLst>
              <p:tags r:id="rId13"/>
            </p:custDataLst>
          </p:nvPr>
        </p:nvSpPr>
        <p:spPr>
          <a:xfrm>
            <a:off x="2558261" y="2155164"/>
            <a:ext cx="4061599" cy="1489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超大模型训练耗费巨量能源与金钱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。</a:t>
            </a:r>
            <a:r>
              <a:rPr lang="zh-CN" altLang="en-US" sz="1400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训练</a:t>
            </a:r>
            <a:r>
              <a:rPr lang="en-US" altLang="zh-CN" sz="1400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AI</a:t>
            </a:r>
            <a:r>
              <a:rPr lang="zh-CN" altLang="en-US" sz="1400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模型会消耗大量电力，如谷歌在</a:t>
            </a:r>
            <a:r>
              <a:rPr lang="en-US" altLang="zh-CN" sz="1400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2020</a:t>
            </a:r>
            <a:r>
              <a:rPr lang="zh-CN" altLang="en-US" sz="1400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年训练一次</a:t>
            </a:r>
            <a:r>
              <a:rPr lang="en-US" altLang="zh-CN" sz="1400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BERT</a:t>
            </a:r>
            <a:r>
              <a:rPr lang="zh-CN" altLang="en-US" sz="1400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模型会产生</a:t>
            </a:r>
            <a:r>
              <a:rPr lang="en-US" altLang="zh-CN" sz="1400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1438</a:t>
            </a:r>
            <a:r>
              <a:rPr lang="zh-CN" altLang="en-US" sz="1400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磅二氧化碳，几乎等于纽约和旧金山之间的往返航班的碳排放量。而随着模型参数和硬件发展，这个数字还在上升。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sp>
        <p:nvSpPr>
          <p:cNvPr id="45" name="TextBox 504"/>
          <p:cNvSpPr txBox="1"/>
          <p:nvPr>
            <p:custDataLst>
              <p:tags r:id="rId14"/>
            </p:custDataLst>
          </p:nvPr>
        </p:nvSpPr>
        <p:spPr>
          <a:xfrm>
            <a:off x="7318348" y="2155164"/>
            <a:ext cx="4061599" cy="1768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b="1" u="sng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训练语料未经筛选，可能放大社会偏见与歧视。模型不可解释</a:t>
            </a:r>
            <a:r>
              <a:rPr lang="zh-CN" altLang="en-US" b="1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。</a:t>
            </a:r>
            <a:r>
              <a:rPr lang="zh-CN" altLang="en-US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从互联网上收集数据，种族主义、性别歧视和其他辱骂性语言可能会最终出现在训练数据中。同时模型很难获取与互联网接触较少的群里的语言，这将导致</a:t>
            </a:r>
            <a:r>
              <a:rPr lang="en-US" altLang="zh-CN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AI</a:t>
            </a:r>
            <a:r>
              <a:rPr lang="zh-CN" altLang="en-US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生成的语言将同质化。</a:t>
            </a:r>
            <a:endParaRPr lang="zh-CN" altLang="en-US" dirty="0"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  <a:p>
            <a:endParaRPr lang="zh-CN" altLang="en-US" dirty="0"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sp>
        <p:nvSpPr>
          <p:cNvPr id="46" name="TextBox 505"/>
          <p:cNvSpPr txBox="1"/>
          <p:nvPr>
            <p:custDataLst>
              <p:tags r:id="rId15"/>
            </p:custDataLst>
          </p:nvPr>
        </p:nvSpPr>
        <p:spPr>
          <a:xfrm>
            <a:off x="2558261" y="4510868"/>
            <a:ext cx="4061599" cy="204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b="1" u="sng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只有大公司负担得起长时间</a:t>
            </a:r>
            <a:r>
              <a:rPr lang="en-US" altLang="zh-CN" b="1" u="sng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GPU</a:t>
            </a:r>
            <a:r>
              <a:rPr lang="zh-CN" altLang="en-US" b="1" u="sng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训练，小型研究者被边缘化</a:t>
            </a:r>
            <a:r>
              <a:rPr lang="zh-CN" altLang="en-US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。</a:t>
            </a:r>
            <a:r>
              <a:rPr lang="en-US" altLang="zh-CN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AI</a:t>
            </a:r>
            <a:r>
              <a:rPr lang="zh-CN" altLang="en-US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模型训练往往是大公司的秀场。如</a:t>
            </a:r>
            <a:r>
              <a:rPr lang="en-US" altLang="zh-CN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ByteDance</a:t>
            </a:r>
            <a:r>
              <a:rPr lang="zh-CN" altLang="en-US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的</a:t>
            </a:r>
            <a:r>
              <a:rPr lang="en-US" altLang="zh-CN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MegaScale</a:t>
            </a:r>
            <a:r>
              <a:rPr lang="zh-CN" altLang="en-US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和</a:t>
            </a:r>
            <a:r>
              <a:rPr lang="en-US" altLang="zh-CN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OpenAI</a:t>
            </a:r>
            <a:r>
              <a:rPr lang="zh-CN" altLang="en-US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训练模型的训练报告，上万的</a:t>
            </a:r>
            <a:r>
              <a:rPr lang="en-US" altLang="zh-CN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GPU</a:t>
            </a:r>
            <a:r>
              <a:rPr lang="zh-CN" altLang="en-US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训练集群被用来训练模型，而这其中的研究和开发成本往往是小公司无法承受的，这可能会导向</a:t>
            </a:r>
            <a:r>
              <a:rPr lang="en-US" altLang="zh-CN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AI</a:t>
            </a:r>
            <a:r>
              <a:rPr lang="zh-CN" altLang="en-US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霸权。</a:t>
            </a:r>
            <a:endParaRPr lang="zh-CN" altLang="en-US" dirty="0"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  <a:p>
            <a:endParaRPr lang="zh-CN" altLang="en-US" dirty="0"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sp>
        <p:nvSpPr>
          <p:cNvPr id="47" name="TextBox 506"/>
          <p:cNvSpPr txBox="1"/>
          <p:nvPr>
            <p:custDataLst>
              <p:tags r:id="rId16"/>
            </p:custDataLst>
          </p:nvPr>
        </p:nvSpPr>
        <p:spPr>
          <a:xfrm>
            <a:off x="7318348" y="4510868"/>
            <a:ext cx="4061599" cy="1768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b="1" u="sng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模型表象</a:t>
            </a:r>
            <a:r>
              <a:rPr lang="en-US" altLang="zh-CN" b="1" u="sng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“</a:t>
            </a:r>
            <a:r>
              <a:rPr lang="zh-CN" altLang="en-US" b="1" u="sng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聪明</a:t>
            </a:r>
            <a:r>
              <a:rPr lang="en-US" altLang="zh-CN" b="1" u="sng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”</a:t>
            </a:r>
            <a:r>
              <a:rPr lang="zh-CN" altLang="en-US" b="1" u="sng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，却缺乏理解力，公众可能误信其判断</a:t>
            </a:r>
            <a:r>
              <a:rPr lang="zh-CN" altLang="en-US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。</a:t>
            </a:r>
            <a:r>
              <a:rPr lang="en-US" altLang="zh-CN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AI</a:t>
            </a:r>
            <a:r>
              <a:rPr lang="zh-CN" altLang="en-US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非常擅长模仿人类语言，因此很容易用它来愚弄人类。这样的行为现在被我们认为是大模型推理中的</a:t>
            </a:r>
            <a:r>
              <a:rPr lang="en-US" altLang="zh-CN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“</a:t>
            </a:r>
            <a:r>
              <a:rPr lang="zh-CN" altLang="en-US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幻觉</a:t>
            </a:r>
            <a:r>
              <a:rPr lang="en-US" altLang="zh-CN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”</a:t>
            </a:r>
            <a:r>
              <a:rPr lang="zh-CN" altLang="en-US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，这也是</a:t>
            </a:r>
            <a:r>
              <a:rPr lang="en-US" altLang="zh-CN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 AI </a:t>
            </a:r>
            <a:r>
              <a:rPr lang="zh-CN" altLang="en-US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算法与系统研究者需要共同考虑的问题。</a:t>
            </a:r>
            <a:endParaRPr lang="zh-CN" altLang="en-US" dirty="0"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  <a:p>
            <a:endParaRPr lang="zh-CN" altLang="en-US" dirty="0"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sp>
        <p:nvSpPr>
          <p:cNvPr id="26" name="矩形 3"/>
          <p:cNvSpPr>
            <a:spLocks noChangeArrowheads="1"/>
          </p:cNvSpPr>
          <p:nvPr/>
        </p:nvSpPr>
        <p:spPr bwMode="auto">
          <a:xfrm>
            <a:off x="5958652" y="406444"/>
            <a:ext cx="3627755" cy="551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Arial" panose="020B0604020202020204" pitchFamily="34" charset="0"/>
                <a:sym typeface="字魂58号-创中黑" panose="00000500000000000000" pitchFamily="2" charset="-122"/>
              </a:rPr>
              <a:t>论文提出的四大风险</a:t>
            </a:r>
            <a:endParaRPr lang="zh-CN" altLang="en-US" sz="3000" b="1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cs typeface="Arial" panose="020B0604020202020204" pitchFamily="34" charset="0"/>
              <a:sym typeface="字魂58号-创中黑" panose="00000500000000000000" pitchFamily="2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5334856" y="461236"/>
            <a:ext cx="263341" cy="395013"/>
            <a:chOff x="5284519" y="1508166"/>
            <a:chExt cx="213756" cy="427512"/>
          </a:xfrm>
        </p:grpSpPr>
        <p:cxnSp>
          <p:nvCxnSpPr>
            <p:cNvPr id="28" name="直接连接符 27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oval" w="med" len="med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oval" w="med" len="med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3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6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3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4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3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8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ldLvl="0" animBg="1"/>
      <p:bldP spid="20" grpId="0" bldLvl="0" animBg="1"/>
      <p:bldP spid="21" grpId="0" bldLvl="0" animBg="1"/>
      <p:bldP spid="22" grpId="0" bldLvl="0" animBg="1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 59"/>
          <p:cNvSpPr/>
          <p:nvPr>
            <p:custDataLst>
              <p:tags r:id="rId1"/>
            </p:custDataLst>
          </p:nvPr>
        </p:nvSpPr>
        <p:spPr>
          <a:xfrm>
            <a:off x="8601237" y="1964832"/>
            <a:ext cx="2146300" cy="428625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r>
              <a:rPr lang="zh-CN" altLang="en-US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提升研究透明度</a:t>
            </a:r>
            <a:endParaRPr lang="zh-CN" altLang="en-US" sz="2200" b="1" dirty="0">
              <a:solidFill>
                <a:schemeClr val="tx1">
                  <a:lumMod val="65000"/>
                  <a:lumOff val="3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sp>
        <p:nvSpPr>
          <p:cNvPr id="61" name="矩形 60"/>
          <p:cNvSpPr/>
          <p:nvPr>
            <p:custDataLst>
              <p:tags r:id="rId2"/>
            </p:custDataLst>
          </p:nvPr>
        </p:nvSpPr>
        <p:spPr>
          <a:xfrm>
            <a:off x="8588273" y="4143934"/>
            <a:ext cx="2707640" cy="428625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r>
              <a:rPr lang="zh-CN" altLang="en-US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建立伦理共识与监督</a:t>
            </a:r>
            <a:endParaRPr lang="zh-CN" altLang="en-US" sz="2200" b="1" dirty="0">
              <a:solidFill>
                <a:schemeClr val="tx1">
                  <a:lumMod val="65000"/>
                  <a:lumOff val="3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sp>
        <p:nvSpPr>
          <p:cNvPr id="62" name="矩形 61"/>
          <p:cNvSpPr/>
          <p:nvPr>
            <p:custDataLst>
              <p:tags r:id="rId3"/>
            </p:custDataLst>
          </p:nvPr>
        </p:nvSpPr>
        <p:spPr>
          <a:xfrm>
            <a:off x="2341624" y="3021227"/>
            <a:ext cx="2707640" cy="428625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pPr algn="r"/>
            <a:r>
              <a:rPr lang="zh-CN" altLang="en-US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关注资源与环境公平</a:t>
            </a:r>
            <a:endParaRPr lang="zh-CN" altLang="en-US" sz="2200" b="1" dirty="0">
              <a:solidFill>
                <a:schemeClr val="tx1">
                  <a:lumMod val="65000"/>
                  <a:lumOff val="3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sp>
        <p:nvSpPr>
          <p:cNvPr id="63" name="等腰三角形 62"/>
          <p:cNvSpPr>
            <a:spLocks noChangeAspect="1" noChangeArrowheads="1"/>
          </p:cNvSpPr>
          <p:nvPr>
            <p:custDataLst>
              <p:tags r:id="rId4"/>
            </p:custDataLst>
          </p:nvPr>
        </p:nvSpPr>
        <p:spPr bwMode="auto">
          <a:xfrm rot="5400000" flipV="1">
            <a:off x="8292892" y="2473767"/>
            <a:ext cx="239249" cy="206315"/>
          </a:xfrm>
          <a:prstGeom prst="triangle">
            <a:avLst>
              <a:gd name="adj" fmla="val 50000"/>
            </a:avLst>
          </a:prstGeom>
          <a:solidFill>
            <a:srgbClr val="005BAA"/>
          </a:solidFill>
          <a:ln>
            <a:noFill/>
          </a:ln>
        </p:spPr>
        <p:txBody>
          <a:bodyPr lIns="91431" tIns="45716" rIns="91431" bIns="45716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2000">
              <a:solidFill>
                <a:schemeClr val="tx1">
                  <a:lumMod val="65000"/>
                  <a:lumOff val="3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sp>
        <p:nvSpPr>
          <p:cNvPr id="64" name="矩形 4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588275" y="2379570"/>
            <a:ext cx="2822407" cy="60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rgbClr val="333333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开放代码、数据与实验环境；促进论文可复现性与公正评测。</a:t>
            </a:r>
            <a:endParaRPr lang="en-US" altLang="zh-CN" sz="1400" dirty="0">
              <a:solidFill>
                <a:srgbClr val="333333"/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sp>
        <p:nvSpPr>
          <p:cNvPr id="65" name="等腰三角形 18"/>
          <p:cNvSpPr>
            <a:spLocks noChangeAspect="1" noChangeArrowheads="1"/>
          </p:cNvSpPr>
          <p:nvPr>
            <p:custDataLst>
              <p:tags r:id="rId6"/>
            </p:custDataLst>
          </p:nvPr>
        </p:nvSpPr>
        <p:spPr bwMode="auto">
          <a:xfrm rot="5400000" flipV="1">
            <a:off x="8292892" y="4656835"/>
            <a:ext cx="239249" cy="206315"/>
          </a:xfrm>
          <a:prstGeom prst="triangle">
            <a:avLst>
              <a:gd name="adj" fmla="val 50000"/>
            </a:avLst>
          </a:prstGeom>
          <a:solidFill>
            <a:srgbClr val="005BAA"/>
          </a:solidFill>
          <a:ln>
            <a:noFill/>
          </a:ln>
        </p:spPr>
        <p:txBody>
          <a:bodyPr lIns="91431" tIns="45716" rIns="91431" bIns="45716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2000">
              <a:solidFill>
                <a:schemeClr val="tx1">
                  <a:lumMod val="65000"/>
                  <a:lumOff val="3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sp>
        <p:nvSpPr>
          <p:cNvPr id="66" name="矩形 47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588275" y="4562642"/>
            <a:ext cx="2822407" cy="864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rgbClr val="333333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在学术会议中推广伦理审查；</a:t>
            </a:r>
            <a:endParaRPr lang="zh-CN" altLang="en-US" sz="1400" dirty="0">
              <a:solidFill>
                <a:srgbClr val="333333"/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rgbClr val="333333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明确作者贡献与潜在风险；</a:t>
            </a:r>
            <a:endParaRPr lang="zh-CN" altLang="en-US" sz="1400" dirty="0">
              <a:solidFill>
                <a:srgbClr val="333333"/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rgbClr val="333333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倡导跨学界与产业共同守则</a:t>
            </a:r>
            <a:endParaRPr lang="zh-CN" altLang="en-US" sz="1400" dirty="0">
              <a:solidFill>
                <a:srgbClr val="333333"/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sp>
        <p:nvSpPr>
          <p:cNvPr id="67" name="等腰三角形 18"/>
          <p:cNvSpPr>
            <a:spLocks noChangeAspect="1" noChangeArrowheads="1"/>
          </p:cNvSpPr>
          <p:nvPr>
            <p:custDataLst>
              <p:tags r:id="rId8"/>
            </p:custDataLst>
          </p:nvPr>
        </p:nvSpPr>
        <p:spPr bwMode="auto">
          <a:xfrm rot="16200000" flipH="1" flipV="1">
            <a:off x="5222581" y="3526879"/>
            <a:ext cx="239249" cy="206315"/>
          </a:xfrm>
          <a:prstGeom prst="triangle">
            <a:avLst>
              <a:gd name="adj" fmla="val 50000"/>
            </a:avLst>
          </a:prstGeom>
          <a:solidFill>
            <a:srgbClr val="005BAA"/>
          </a:solidFill>
          <a:ln>
            <a:noFill/>
          </a:ln>
        </p:spPr>
        <p:txBody>
          <a:bodyPr lIns="91431" tIns="45716" rIns="91431" bIns="45716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2000">
              <a:solidFill>
                <a:schemeClr val="tx1">
                  <a:lumMod val="65000"/>
                  <a:lumOff val="3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sp>
        <p:nvSpPr>
          <p:cNvPr id="68" name="矩形 47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730321" y="3432678"/>
            <a:ext cx="2443253" cy="864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rgbClr val="333333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开发高效节能算法；</a:t>
            </a:r>
            <a:endParaRPr lang="zh-CN" altLang="en-US" sz="1400" dirty="0">
              <a:solidFill>
                <a:srgbClr val="333333"/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rgbClr val="333333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主动披露算力与能耗情况；</a:t>
            </a:r>
            <a:endParaRPr lang="zh-CN" altLang="en-US" sz="1400" dirty="0">
              <a:solidFill>
                <a:srgbClr val="333333"/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rgbClr val="333333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支持</a:t>
            </a:r>
            <a:r>
              <a:rPr lang="en-US" altLang="zh-CN" sz="1400" dirty="0">
                <a:solidFill>
                  <a:srgbClr val="333333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“</a:t>
            </a:r>
            <a:r>
              <a:rPr lang="zh-CN" altLang="en-US" sz="1400" dirty="0">
                <a:solidFill>
                  <a:srgbClr val="333333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绿色系统研究</a:t>
            </a:r>
            <a:r>
              <a:rPr lang="en-US" altLang="zh-CN" sz="1400" dirty="0">
                <a:solidFill>
                  <a:srgbClr val="333333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”</a:t>
            </a:r>
            <a:r>
              <a:rPr lang="zh-CN" altLang="en-US" sz="1400" dirty="0">
                <a:solidFill>
                  <a:srgbClr val="333333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倡议。</a:t>
            </a:r>
            <a:endParaRPr lang="zh-CN" altLang="en-US" sz="1400" dirty="0">
              <a:solidFill>
                <a:srgbClr val="333333"/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sp>
        <p:nvSpPr>
          <p:cNvPr id="69" name="形状 68"/>
          <p:cNvSpPr/>
          <p:nvPr>
            <p:custDataLst>
              <p:tags r:id="rId10"/>
            </p:custDataLst>
          </p:nvPr>
        </p:nvSpPr>
        <p:spPr>
          <a:xfrm>
            <a:off x="5588491" y="2949411"/>
            <a:ext cx="1867985" cy="1868267"/>
          </a:xfrm>
          <a:prstGeom prst="leftCircularArrow">
            <a:avLst>
              <a:gd name="adj1" fmla="val 8909"/>
              <a:gd name="adj2" fmla="val 1142322"/>
              <a:gd name="adj3" fmla="val 6293598"/>
              <a:gd name="adj4" fmla="val 18900002"/>
              <a:gd name="adj5" fmla="val 125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sp>
        <p:nvSpPr>
          <p:cNvPr id="70" name="空心弧 69"/>
          <p:cNvSpPr/>
          <p:nvPr>
            <p:custDataLst>
              <p:tags r:id="rId11"/>
            </p:custDataLst>
          </p:nvPr>
        </p:nvSpPr>
        <p:spPr>
          <a:xfrm>
            <a:off x="6258742" y="4171955"/>
            <a:ext cx="1604887" cy="1605530"/>
          </a:xfrm>
          <a:prstGeom prst="blockArc">
            <a:avLst>
              <a:gd name="adj1" fmla="val 13624405"/>
              <a:gd name="adj2" fmla="val 17228224"/>
              <a:gd name="adj3" fmla="val 11481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grpSp>
        <p:nvGrpSpPr>
          <p:cNvPr id="71" name="组合 70"/>
          <p:cNvGrpSpPr/>
          <p:nvPr>
            <p:custDataLst>
              <p:tags r:id="rId12"/>
            </p:custDataLst>
          </p:nvPr>
        </p:nvGrpSpPr>
        <p:grpSpPr>
          <a:xfrm rot="2736489">
            <a:off x="6807069" y="2487164"/>
            <a:ext cx="578227" cy="506765"/>
            <a:chOff x="4212441" y="1835306"/>
            <a:chExt cx="645570" cy="565784"/>
          </a:xfrm>
          <a:solidFill>
            <a:srgbClr val="005BAA"/>
          </a:solidFill>
        </p:grpSpPr>
        <p:sp>
          <p:nvSpPr>
            <p:cNvPr id="72" name="Freeform 143"/>
            <p:cNvSpPr/>
            <p:nvPr>
              <p:custDataLst>
                <p:tags r:id="rId13"/>
              </p:custDataLst>
            </p:nvPr>
          </p:nvSpPr>
          <p:spPr bwMode="auto">
            <a:xfrm>
              <a:off x="4386528" y="2100064"/>
              <a:ext cx="297398" cy="119685"/>
            </a:xfrm>
            <a:custGeom>
              <a:avLst/>
              <a:gdLst>
                <a:gd name="T0" fmla="*/ 30 w 35"/>
                <a:gd name="T1" fmla="*/ 13 h 14"/>
                <a:gd name="T2" fmla="*/ 5 w 35"/>
                <a:gd name="T3" fmla="*/ 13 h 14"/>
                <a:gd name="T4" fmla="*/ 5 w 35"/>
                <a:gd name="T5" fmla="*/ 13 h 14"/>
                <a:gd name="T6" fmla="*/ 1 w 35"/>
                <a:gd name="T7" fmla="*/ 13 h 14"/>
                <a:gd name="T8" fmla="*/ 1 w 35"/>
                <a:gd name="T9" fmla="*/ 13 h 14"/>
                <a:gd name="T10" fmla="*/ 1 w 35"/>
                <a:gd name="T11" fmla="*/ 9 h 14"/>
                <a:gd name="T12" fmla="*/ 1 w 35"/>
                <a:gd name="T13" fmla="*/ 9 h 14"/>
                <a:gd name="T14" fmla="*/ 34 w 35"/>
                <a:gd name="T15" fmla="*/ 9 h 14"/>
                <a:gd name="T16" fmla="*/ 34 w 35"/>
                <a:gd name="T17" fmla="*/ 9 h 14"/>
                <a:gd name="T18" fmla="*/ 34 w 35"/>
                <a:gd name="T19" fmla="*/ 13 h 14"/>
                <a:gd name="T20" fmla="*/ 34 w 35"/>
                <a:gd name="T21" fmla="*/ 13 h 14"/>
                <a:gd name="T22" fmla="*/ 30 w 35"/>
                <a:gd name="T23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5" h="14">
                  <a:moveTo>
                    <a:pt x="30" y="13"/>
                  </a:moveTo>
                  <a:cubicBezTo>
                    <a:pt x="23" y="6"/>
                    <a:pt x="12" y="6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4"/>
                    <a:pt x="2" y="14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2"/>
                    <a:pt x="0" y="10"/>
                    <a:pt x="1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0" y="0"/>
                    <a:pt x="25" y="0"/>
                    <a:pt x="34" y="9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5" y="10"/>
                    <a:pt x="35" y="12"/>
                    <a:pt x="34" y="13"/>
                  </a:cubicBezTo>
                  <a:cubicBezTo>
                    <a:pt x="34" y="13"/>
                    <a:pt x="34" y="13"/>
                    <a:pt x="34" y="13"/>
                  </a:cubicBezTo>
                  <a:cubicBezTo>
                    <a:pt x="33" y="14"/>
                    <a:pt x="31" y="14"/>
                    <a:pt x="30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90">
                <a:solidFill>
                  <a:schemeClr val="tx1">
                    <a:lumMod val="65000"/>
                    <a:lumOff val="3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endParaRPr>
            </a:p>
          </p:txBody>
        </p:sp>
        <p:sp>
          <p:nvSpPr>
            <p:cNvPr id="73" name="Freeform 144"/>
            <p:cNvSpPr/>
            <p:nvPr>
              <p:custDataLst>
                <p:tags r:id="rId14"/>
              </p:custDataLst>
            </p:nvPr>
          </p:nvSpPr>
          <p:spPr bwMode="auto">
            <a:xfrm>
              <a:off x="4451810" y="2227003"/>
              <a:ext cx="174086" cy="174087"/>
            </a:xfrm>
            <a:custGeom>
              <a:avLst/>
              <a:gdLst>
                <a:gd name="T0" fmla="*/ 3 w 20"/>
                <a:gd name="T1" fmla="*/ 17 h 20"/>
                <a:gd name="T2" fmla="*/ 3 w 20"/>
                <a:gd name="T3" fmla="*/ 4 h 20"/>
                <a:gd name="T4" fmla="*/ 16 w 20"/>
                <a:gd name="T5" fmla="*/ 4 h 20"/>
                <a:gd name="T6" fmla="*/ 16 w 20"/>
                <a:gd name="T7" fmla="*/ 17 h 20"/>
                <a:gd name="T8" fmla="*/ 3 w 20"/>
                <a:gd name="T9" fmla="*/ 17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20">
                  <a:moveTo>
                    <a:pt x="3" y="17"/>
                  </a:moveTo>
                  <a:cubicBezTo>
                    <a:pt x="0" y="13"/>
                    <a:pt x="0" y="7"/>
                    <a:pt x="3" y="4"/>
                  </a:cubicBezTo>
                  <a:cubicBezTo>
                    <a:pt x="7" y="0"/>
                    <a:pt x="12" y="0"/>
                    <a:pt x="16" y="4"/>
                  </a:cubicBezTo>
                  <a:cubicBezTo>
                    <a:pt x="20" y="7"/>
                    <a:pt x="20" y="13"/>
                    <a:pt x="16" y="17"/>
                  </a:cubicBezTo>
                  <a:cubicBezTo>
                    <a:pt x="12" y="20"/>
                    <a:pt x="7" y="20"/>
                    <a:pt x="3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90">
                <a:solidFill>
                  <a:schemeClr val="tx1">
                    <a:lumMod val="65000"/>
                    <a:lumOff val="3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endParaRPr>
            </a:p>
          </p:txBody>
        </p:sp>
        <p:sp>
          <p:nvSpPr>
            <p:cNvPr id="74" name="Freeform 145"/>
            <p:cNvSpPr/>
            <p:nvPr>
              <p:custDataLst>
                <p:tags r:id="rId15"/>
              </p:custDataLst>
            </p:nvPr>
          </p:nvSpPr>
          <p:spPr bwMode="auto">
            <a:xfrm>
              <a:off x="4299484" y="1962245"/>
              <a:ext cx="471484" cy="170461"/>
            </a:xfrm>
            <a:custGeom>
              <a:avLst/>
              <a:gdLst>
                <a:gd name="T0" fmla="*/ 50 w 55"/>
                <a:gd name="T1" fmla="*/ 19 h 20"/>
                <a:gd name="T2" fmla="*/ 6 w 55"/>
                <a:gd name="T3" fmla="*/ 19 h 20"/>
                <a:gd name="T4" fmla="*/ 6 w 55"/>
                <a:gd name="T5" fmla="*/ 19 h 20"/>
                <a:gd name="T6" fmla="*/ 1 w 55"/>
                <a:gd name="T7" fmla="*/ 19 h 20"/>
                <a:gd name="T8" fmla="*/ 1 w 55"/>
                <a:gd name="T9" fmla="*/ 19 h 20"/>
                <a:gd name="T10" fmla="*/ 1 w 55"/>
                <a:gd name="T11" fmla="*/ 15 h 20"/>
                <a:gd name="T12" fmla="*/ 1 w 55"/>
                <a:gd name="T13" fmla="*/ 15 h 20"/>
                <a:gd name="T14" fmla="*/ 54 w 55"/>
                <a:gd name="T15" fmla="*/ 15 h 20"/>
                <a:gd name="T16" fmla="*/ 54 w 55"/>
                <a:gd name="T17" fmla="*/ 15 h 20"/>
                <a:gd name="T18" fmla="*/ 54 w 55"/>
                <a:gd name="T19" fmla="*/ 19 h 20"/>
                <a:gd name="T20" fmla="*/ 54 w 55"/>
                <a:gd name="T21" fmla="*/ 19 h 20"/>
                <a:gd name="T22" fmla="*/ 50 w 55"/>
                <a:gd name="T23" fmla="*/ 1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5" h="20">
                  <a:moveTo>
                    <a:pt x="50" y="19"/>
                  </a:moveTo>
                  <a:cubicBezTo>
                    <a:pt x="37" y="7"/>
                    <a:pt x="18" y="7"/>
                    <a:pt x="6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4" y="20"/>
                    <a:pt x="2" y="20"/>
                    <a:pt x="1" y="19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0" y="18"/>
                    <a:pt x="0" y="16"/>
                    <a:pt x="1" y="15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6" y="0"/>
                    <a:pt x="39" y="0"/>
                    <a:pt x="54" y="15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55" y="16"/>
                    <a:pt x="55" y="18"/>
                    <a:pt x="54" y="19"/>
                  </a:cubicBezTo>
                  <a:cubicBezTo>
                    <a:pt x="54" y="19"/>
                    <a:pt x="54" y="19"/>
                    <a:pt x="54" y="19"/>
                  </a:cubicBezTo>
                  <a:cubicBezTo>
                    <a:pt x="53" y="20"/>
                    <a:pt x="51" y="20"/>
                    <a:pt x="50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90">
                <a:solidFill>
                  <a:schemeClr val="tx1">
                    <a:lumMod val="65000"/>
                    <a:lumOff val="3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endParaRPr>
            </a:p>
          </p:txBody>
        </p:sp>
        <p:sp>
          <p:nvSpPr>
            <p:cNvPr id="75" name="Freeform 146"/>
            <p:cNvSpPr/>
            <p:nvPr>
              <p:custDataLst>
                <p:tags r:id="rId16"/>
              </p:custDataLst>
            </p:nvPr>
          </p:nvSpPr>
          <p:spPr bwMode="auto">
            <a:xfrm>
              <a:off x="4212441" y="1835306"/>
              <a:ext cx="645570" cy="213982"/>
            </a:xfrm>
            <a:custGeom>
              <a:avLst/>
              <a:gdLst>
                <a:gd name="T0" fmla="*/ 70 w 75"/>
                <a:gd name="T1" fmla="*/ 24 h 25"/>
                <a:gd name="T2" fmla="*/ 6 w 75"/>
                <a:gd name="T3" fmla="*/ 24 h 25"/>
                <a:gd name="T4" fmla="*/ 6 w 75"/>
                <a:gd name="T5" fmla="*/ 24 h 25"/>
                <a:gd name="T6" fmla="*/ 2 w 75"/>
                <a:gd name="T7" fmla="*/ 24 h 25"/>
                <a:gd name="T8" fmla="*/ 2 w 75"/>
                <a:gd name="T9" fmla="*/ 24 h 25"/>
                <a:gd name="T10" fmla="*/ 2 w 75"/>
                <a:gd name="T11" fmla="*/ 20 h 25"/>
                <a:gd name="T12" fmla="*/ 2 w 75"/>
                <a:gd name="T13" fmla="*/ 20 h 25"/>
                <a:gd name="T14" fmla="*/ 74 w 75"/>
                <a:gd name="T15" fmla="*/ 20 h 25"/>
                <a:gd name="T16" fmla="*/ 74 w 75"/>
                <a:gd name="T17" fmla="*/ 20 h 25"/>
                <a:gd name="T18" fmla="*/ 74 w 75"/>
                <a:gd name="T19" fmla="*/ 24 h 25"/>
                <a:gd name="T20" fmla="*/ 74 w 75"/>
                <a:gd name="T21" fmla="*/ 24 h 25"/>
                <a:gd name="T22" fmla="*/ 70 w 75"/>
                <a:gd name="T23" fmla="*/ 2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5" h="25">
                  <a:moveTo>
                    <a:pt x="70" y="24"/>
                  </a:moveTo>
                  <a:cubicBezTo>
                    <a:pt x="52" y="7"/>
                    <a:pt x="23" y="7"/>
                    <a:pt x="6" y="24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5" y="25"/>
                    <a:pt x="3" y="25"/>
                    <a:pt x="2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0" y="23"/>
                    <a:pt x="0" y="21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1" y="0"/>
                    <a:pt x="54" y="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5" y="21"/>
                    <a:pt x="75" y="23"/>
                    <a:pt x="74" y="24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3" y="25"/>
                    <a:pt x="71" y="25"/>
                    <a:pt x="70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90">
                <a:solidFill>
                  <a:schemeClr val="tx1">
                    <a:lumMod val="65000"/>
                    <a:lumOff val="3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endParaRPr>
            </a:p>
          </p:txBody>
        </p:sp>
      </p:grpSp>
      <p:grpSp>
        <p:nvGrpSpPr>
          <p:cNvPr id="76" name="组合 75"/>
          <p:cNvGrpSpPr/>
          <p:nvPr>
            <p:custDataLst>
              <p:tags r:id="rId17"/>
            </p:custDataLst>
          </p:nvPr>
        </p:nvGrpSpPr>
        <p:grpSpPr>
          <a:xfrm>
            <a:off x="6230497" y="3642975"/>
            <a:ext cx="554403" cy="442165"/>
            <a:chOff x="3009633" y="2833220"/>
            <a:chExt cx="591168" cy="471487"/>
          </a:xfrm>
          <a:solidFill>
            <a:srgbClr val="005BAA"/>
          </a:solidFill>
        </p:grpSpPr>
        <p:sp>
          <p:nvSpPr>
            <p:cNvPr id="77" name="Oval 214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3234494" y="3210410"/>
              <a:ext cx="94297" cy="94297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90">
                <a:solidFill>
                  <a:schemeClr val="tx1">
                    <a:lumMod val="65000"/>
                    <a:lumOff val="3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endParaRPr>
            </a:p>
          </p:txBody>
        </p:sp>
        <p:sp>
          <p:nvSpPr>
            <p:cNvPr id="78" name="Oval 215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3404954" y="3210410"/>
              <a:ext cx="101550" cy="94297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90">
                <a:solidFill>
                  <a:schemeClr val="tx1">
                    <a:lumMod val="65000"/>
                    <a:lumOff val="3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endParaRPr>
            </a:p>
          </p:txBody>
        </p:sp>
        <p:sp>
          <p:nvSpPr>
            <p:cNvPr id="79" name="Freeform 216"/>
            <p:cNvSpPr>
              <a:spLocks noEditPoints="1"/>
            </p:cNvSpPr>
            <p:nvPr>
              <p:custDataLst>
                <p:tags r:id="rId20"/>
              </p:custDataLst>
            </p:nvPr>
          </p:nvSpPr>
          <p:spPr bwMode="auto">
            <a:xfrm>
              <a:off x="3009633" y="2833220"/>
              <a:ext cx="591168" cy="340921"/>
            </a:xfrm>
            <a:custGeom>
              <a:avLst/>
              <a:gdLst>
                <a:gd name="T0" fmla="*/ 66 w 69"/>
                <a:gd name="T1" fmla="*/ 13 h 40"/>
                <a:gd name="T2" fmla="*/ 26 w 69"/>
                <a:gd name="T3" fmla="*/ 13 h 40"/>
                <a:gd name="T4" fmla="*/ 22 w 69"/>
                <a:gd name="T5" fmla="*/ 9 h 40"/>
                <a:gd name="T6" fmla="*/ 22 w 69"/>
                <a:gd name="T7" fmla="*/ 4 h 40"/>
                <a:gd name="T8" fmla="*/ 17 w 69"/>
                <a:gd name="T9" fmla="*/ 0 h 40"/>
                <a:gd name="T10" fmla="*/ 4 w 69"/>
                <a:gd name="T11" fmla="*/ 0 h 40"/>
                <a:gd name="T12" fmla="*/ 0 w 69"/>
                <a:gd name="T13" fmla="*/ 4 h 40"/>
                <a:gd name="T14" fmla="*/ 4 w 69"/>
                <a:gd name="T15" fmla="*/ 8 h 40"/>
                <a:gd name="T16" fmla="*/ 9 w 69"/>
                <a:gd name="T17" fmla="*/ 8 h 40"/>
                <a:gd name="T18" fmla="*/ 14 w 69"/>
                <a:gd name="T19" fmla="*/ 12 h 40"/>
                <a:gd name="T20" fmla="*/ 24 w 69"/>
                <a:gd name="T21" fmla="*/ 37 h 40"/>
                <a:gd name="T22" fmla="*/ 30 w 69"/>
                <a:gd name="T23" fmla="*/ 40 h 40"/>
                <a:gd name="T24" fmla="*/ 54 w 69"/>
                <a:gd name="T25" fmla="*/ 40 h 40"/>
                <a:gd name="T26" fmla="*/ 60 w 69"/>
                <a:gd name="T27" fmla="*/ 37 h 40"/>
                <a:gd name="T28" fmla="*/ 68 w 69"/>
                <a:gd name="T29" fmla="*/ 17 h 40"/>
                <a:gd name="T30" fmla="*/ 66 w 69"/>
                <a:gd name="T31" fmla="*/ 13 h 40"/>
                <a:gd name="T32" fmla="*/ 53 w 69"/>
                <a:gd name="T33" fmla="*/ 35 h 40"/>
                <a:gd name="T34" fmla="*/ 32 w 69"/>
                <a:gd name="T35" fmla="*/ 35 h 40"/>
                <a:gd name="T36" fmla="*/ 26 w 69"/>
                <a:gd name="T37" fmla="*/ 19 h 40"/>
                <a:gd name="T38" fmla="*/ 59 w 69"/>
                <a:gd name="T39" fmla="*/ 19 h 40"/>
                <a:gd name="T40" fmla="*/ 53 w 69"/>
                <a:gd name="T41" fmla="*/ 35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9" h="40">
                  <a:moveTo>
                    <a:pt x="66" y="13"/>
                  </a:moveTo>
                  <a:cubicBezTo>
                    <a:pt x="26" y="13"/>
                    <a:pt x="26" y="13"/>
                    <a:pt x="26" y="13"/>
                  </a:cubicBezTo>
                  <a:cubicBezTo>
                    <a:pt x="24" y="13"/>
                    <a:pt x="22" y="11"/>
                    <a:pt x="22" y="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2"/>
                    <a:pt x="20" y="0"/>
                    <a:pt x="17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1" y="8"/>
                    <a:pt x="14" y="9"/>
                    <a:pt x="14" y="12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9"/>
                    <a:pt x="27" y="40"/>
                    <a:pt x="30" y="40"/>
                  </a:cubicBezTo>
                  <a:cubicBezTo>
                    <a:pt x="54" y="40"/>
                    <a:pt x="54" y="40"/>
                    <a:pt x="54" y="40"/>
                  </a:cubicBezTo>
                  <a:cubicBezTo>
                    <a:pt x="57" y="40"/>
                    <a:pt x="59" y="39"/>
                    <a:pt x="60" y="37"/>
                  </a:cubicBezTo>
                  <a:cubicBezTo>
                    <a:pt x="68" y="17"/>
                    <a:pt x="68" y="17"/>
                    <a:pt x="68" y="17"/>
                  </a:cubicBezTo>
                  <a:cubicBezTo>
                    <a:pt x="69" y="15"/>
                    <a:pt x="68" y="13"/>
                    <a:pt x="66" y="13"/>
                  </a:cubicBezTo>
                  <a:close/>
                  <a:moveTo>
                    <a:pt x="53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3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90">
                <a:solidFill>
                  <a:schemeClr val="tx1">
                    <a:lumMod val="65000"/>
                    <a:lumOff val="3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endParaRPr>
            </a:p>
          </p:txBody>
        </p:sp>
      </p:grpSp>
      <p:grpSp>
        <p:nvGrpSpPr>
          <p:cNvPr id="80" name="组合 79"/>
          <p:cNvGrpSpPr/>
          <p:nvPr>
            <p:custDataLst>
              <p:tags r:id="rId21"/>
            </p:custDataLst>
          </p:nvPr>
        </p:nvGrpSpPr>
        <p:grpSpPr>
          <a:xfrm>
            <a:off x="6817353" y="4697514"/>
            <a:ext cx="425157" cy="554407"/>
            <a:chOff x="6889388" y="2720789"/>
            <a:chExt cx="453350" cy="591172"/>
          </a:xfrm>
          <a:solidFill>
            <a:srgbClr val="005BAA"/>
          </a:solidFill>
        </p:grpSpPr>
        <p:sp>
          <p:nvSpPr>
            <p:cNvPr id="81" name="Freeform 197"/>
            <p:cNvSpPr>
              <a:spLocks noEditPoints="1"/>
            </p:cNvSpPr>
            <p:nvPr>
              <p:custDataLst>
                <p:tags r:id="rId22"/>
              </p:custDataLst>
            </p:nvPr>
          </p:nvSpPr>
          <p:spPr bwMode="auto">
            <a:xfrm>
              <a:off x="7092489" y="2920264"/>
              <a:ext cx="250249" cy="391697"/>
            </a:xfrm>
            <a:custGeom>
              <a:avLst/>
              <a:gdLst>
                <a:gd name="T0" fmla="*/ 18 w 29"/>
                <a:gd name="T1" fmla="*/ 0 h 46"/>
                <a:gd name="T2" fmla="*/ 18 w 29"/>
                <a:gd name="T3" fmla="*/ 13 h 46"/>
                <a:gd name="T4" fmla="*/ 29 w 29"/>
                <a:gd name="T5" fmla="*/ 13 h 46"/>
                <a:gd name="T6" fmla="*/ 29 w 29"/>
                <a:gd name="T7" fmla="*/ 0 h 46"/>
                <a:gd name="T8" fmla="*/ 18 w 29"/>
                <a:gd name="T9" fmla="*/ 0 h 46"/>
                <a:gd name="T10" fmla="*/ 0 w 29"/>
                <a:gd name="T11" fmla="*/ 31 h 46"/>
                <a:gd name="T12" fmla="*/ 14 w 29"/>
                <a:gd name="T13" fmla="*/ 46 h 46"/>
                <a:gd name="T14" fmla="*/ 29 w 29"/>
                <a:gd name="T15" fmla="*/ 31 h 46"/>
                <a:gd name="T16" fmla="*/ 29 w 29"/>
                <a:gd name="T17" fmla="*/ 15 h 46"/>
                <a:gd name="T18" fmla="*/ 0 w 29"/>
                <a:gd name="T19" fmla="*/ 15 h 46"/>
                <a:gd name="T20" fmla="*/ 0 w 29"/>
                <a:gd name="T21" fmla="*/ 31 h 46"/>
                <a:gd name="T22" fmla="*/ 15 w 29"/>
                <a:gd name="T23" fmla="*/ 0 h 46"/>
                <a:gd name="T24" fmla="*/ 0 w 29"/>
                <a:gd name="T25" fmla="*/ 0 h 46"/>
                <a:gd name="T26" fmla="*/ 0 w 29"/>
                <a:gd name="T27" fmla="*/ 13 h 46"/>
                <a:gd name="T28" fmla="*/ 15 w 29"/>
                <a:gd name="T29" fmla="*/ 13 h 46"/>
                <a:gd name="T30" fmla="*/ 15 w 29"/>
                <a:gd name="T31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" h="46">
                  <a:moveTo>
                    <a:pt x="18" y="0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18" y="0"/>
                  </a:lnTo>
                  <a:close/>
                  <a:moveTo>
                    <a:pt x="0" y="31"/>
                  </a:moveTo>
                  <a:cubicBezTo>
                    <a:pt x="0" y="39"/>
                    <a:pt x="6" y="46"/>
                    <a:pt x="14" y="46"/>
                  </a:cubicBezTo>
                  <a:cubicBezTo>
                    <a:pt x="22" y="46"/>
                    <a:pt x="29" y="39"/>
                    <a:pt x="29" y="31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0" y="15"/>
                    <a:pt x="0" y="15"/>
                    <a:pt x="0" y="15"/>
                  </a:cubicBezTo>
                  <a:lnTo>
                    <a:pt x="0" y="31"/>
                  </a:lnTo>
                  <a:close/>
                  <a:moveTo>
                    <a:pt x="1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90">
                <a:solidFill>
                  <a:schemeClr val="tx1">
                    <a:lumMod val="65000"/>
                    <a:lumOff val="3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endParaRPr>
            </a:p>
          </p:txBody>
        </p:sp>
        <p:sp>
          <p:nvSpPr>
            <p:cNvPr id="82" name="Freeform 198"/>
            <p:cNvSpPr/>
            <p:nvPr>
              <p:custDataLst>
                <p:tags r:id="rId23"/>
              </p:custDataLst>
            </p:nvPr>
          </p:nvSpPr>
          <p:spPr bwMode="auto">
            <a:xfrm>
              <a:off x="6889388" y="2720789"/>
              <a:ext cx="333666" cy="301026"/>
            </a:xfrm>
            <a:custGeom>
              <a:avLst/>
              <a:gdLst>
                <a:gd name="T0" fmla="*/ 0 w 39"/>
                <a:gd name="T1" fmla="*/ 20 h 35"/>
                <a:gd name="T2" fmla="*/ 19 w 39"/>
                <a:gd name="T3" fmla="*/ 0 h 35"/>
                <a:gd name="T4" fmla="*/ 19 w 39"/>
                <a:gd name="T5" fmla="*/ 0 h 35"/>
                <a:gd name="T6" fmla="*/ 39 w 39"/>
                <a:gd name="T7" fmla="*/ 20 h 35"/>
                <a:gd name="T8" fmla="*/ 39 w 39"/>
                <a:gd name="T9" fmla="*/ 20 h 35"/>
                <a:gd name="T10" fmla="*/ 36 w 39"/>
                <a:gd name="T11" fmla="*/ 20 h 35"/>
                <a:gd name="T12" fmla="*/ 31 w 39"/>
                <a:gd name="T13" fmla="*/ 8 h 35"/>
                <a:gd name="T14" fmla="*/ 31 w 39"/>
                <a:gd name="T15" fmla="*/ 8 h 35"/>
                <a:gd name="T16" fmla="*/ 19 w 39"/>
                <a:gd name="T17" fmla="*/ 3 h 35"/>
                <a:gd name="T18" fmla="*/ 19 w 39"/>
                <a:gd name="T19" fmla="*/ 3 h 35"/>
                <a:gd name="T20" fmla="*/ 7 w 39"/>
                <a:gd name="T21" fmla="*/ 8 h 35"/>
                <a:gd name="T22" fmla="*/ 7 w 39"/>
                <a:gd name="T23" fmla="*/ 8 h 35"/>
                <a:gd name="T24" fmla="*/ 3 w 39"/>
                <a:gd name="T25" fmla="*/ 20 h 35"/>
                <a:gd name="T26" fmla="*/ 3 w 39"/>
                <a:gd name="T27" fmla="*/ 20 h 35"/>
                <a:gd name="T28" fmla="*/ 8 w 39"/>
                <a:gd name="T29" fmla="*/ 32 h 35"/>
                <a:gd name="T30" fmla="*/ 8 w 39"/>
                <a:gd name="T31" fmla="*/ 32 h 35"/>
                <a:gd name="T32" fmla="*/ 6 w 39"/>
                <a:gd name="T33" fmla="*/ 35 h 35"/>
                <a:gd name="T34" fmla="*/ 0 w 39"/>
                <a:gd name="T35" fmla="*/ 2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" h="35">
                  <a:moveTo>
                    <a:pt x="0" y="20"/>
                  </a:moveTo>
                  <a:cubicBezTo>
                    <a:pt x="0" y="9"/>
                    <a:pt x="8" y="1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30" y="1"/>
                    <a:pt x="39" y="9"/>
                    <a:pt x="39" y="20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16"/>
                    <a:pt x="34" y="11"/>
                    <a:pt x="31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8" y="5"/>
                    <a:pt x="24" y="3"/>
                    <a:pt x="19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5" y="3"/>
                    <a:pt x="10" y="5"/>
                    <a:pt x="7" y="8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4" y="11"/>
                    <a:pt x="3" y="16"/>
                    <a:pt x="3" y="20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3" y="25"/>
                    <a:pt x="5" y="29"/>
                    <a:pt x="8" y="32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6" y="35"/>
                    <a:pt x="6" y="35"/>
                    <a:pt x="6" y="35"/>
                  </a:cubicBezTo>
                  <a:cubicBezTo>
                    <a:pt x="2" y="31"/>
                    <a:pt x="0" y="26"/>
                    <a:pt x="0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90">
                <a:solidFill>
                  <a:schemeClr val="tx1">
                    <a:lumMod val="65000"/>
                    <a:lumOff val="3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endParaRPr>
            </a:p>
          </p:txBody>
        </p:sp>
      </p:grpSp>
      <p:sp>
        <p:nvSpPr>
          <p:cNvPr id="83" name="空心弧 82"/>
          <p:cNvSpPr/>
          <p:nvPr>
            <p:custDataLst>
              <p:tags r:id="rId24"/>
            </p:custDataLst>
          </p:nvPr>
        </p:nvSpPr>
        <p:spPr>
          <a:xfrm>
            <a:off x="6258742" y="4171955"/>
            <a:ext cx="1604887" cy="1605530"/>
          </a:xfrm>
          <a:prstGeom prst="blockArc">
            <a:avLst>
              <a:gd name="adj1" fmla="val 17085111"/>
              <a:gd name="adj2" fmla="val 10799997"/>
              <a:gd name="adj3" fmla="val 11504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sp>
        <p:nvSpPr>
          <p:cNvPr id="84" name="任意多边形 83"/>
          <p:cNvSpPr/>
          <p:nvPr>
            <p:custDataLst>
              <p:tags r:id="rId25"/>
            </p:custDataLst>
          </p:nvPr>
        </p:nvSpPr>
        <p:spPr>
          <a:xfrm rot="17307692">
            <a:off x="6616241" y="2432472"/>
            <a:ext cx="1619267" cy="872432"/>
          </a:xfrm>
          <a:custGeom>
            <a:avLst/>
            <a:gdLst>
              <a:gd name="connsiteX0" fmla="*/ 4833930 w 4843779"/>
              <a:gd name="connsiteY0" fmla="*/ 0 h 2609741"/>
              <a:gd name="connsiteX1" fmla="*/ 4843489 w 4843779"/>
              <a:gd name="connsiteY1" fmla="*/ 152635 h 2609741"/>
              <a:gd name="connsiteX2" fmla="*/ 3517115 w 4843779"/>
              <a:gd name="connsiteY2" fmla="*/ 2348626 h 2609741"/>
              <a:gd name="connsiteX3" fmla="*/ 351244 w 4843779"/>
              <a:gd name="connsiteY3" fmla="*/ 1435790 h 2609741"/>
              <a:gd name="connsiteX4" fmla="*/ 0 w 4843779"/>
              <a:gd name="connsiteY4" fmla="*/ 1526124 h 2609741"/>
              <a:gd name="connsiteX5" fmla="*/ 380009 w 4843779"/>
              <a:gd name="connsiteY5" fmla="*/ 717222 h 2609741"/>
              <a:gd name="connsiteX6" fmla="*/ 1326890 w 4843779"/>
              <a:gd name="connsiteY6" fmla="*/ 1184874 h 2609741"/>
              <a:gd name="connsiteX7" fmla="*/ 981253 w 4843779"/>
              <a:gd name="connsiteY7" fmla="*/ 1273766 h 2609741"/>
              <a:gd name="connsiteX8" fmla="*/ 3348138 w 4843779"/>
              <a:gd name="connsiteY8" fmla="*/ 1741216 h 2609741"/>
              <a:gd name="connsiteX9" fmla="*/ 4226462 w 4843779"/>
              <a:gd name="connsiteY9" fmla="*/ 84448 h 2609741"/>
              <a:gd name="connsiteX10" fmla="*/ 4217585 w 4843779"/>
              <a:gd name="connsiteY10" fmla="*/ 0 h 2609741"/>
              <a:gd name="connsiteX11" fmla="*/ 4833930 w 4843779"/>
              <a:gd name="connsiteY11" fmla="*/ 0 h 260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843779" h="2609741">
                <a:moveTo>
                  <a:pt x="4833930" y="0"/>
                </a:moveTo>
                <a:lnTo>
                  <a:pt x="4843489" y="152635"/>
                </a:lnTo>
                <a:cubicBezTo>
                  <a:pt x="4857473" y="1052464"/>
                  <a:pt x="4365817" y="1918999"/>
                  <a:pt x="3517115" y="2348626"/>
                </a:cubicBezTo>
                <a:cubicBezTo>
                  <a:pt x="2385597" y="2921419"/>
                  <a:pt x="1003828" y="2523005"/>
                  <a:pt x="351244" y="1435790"/>
                </a:cubicBezTo>
                <a:lnTo>
                  <a:pt x="0" y="1526124"/>
                </a:lnTo>
                <a:lnTo>
                  <a:pt x="380009" y="717222"/>
                </a:lnTo>
                <a:lnTo>
                  <a:pt x="1326890" y="1184874"/>
                </a:lnTo>
                <a:lnTo>
                  <a:pt x="981253" y="1273766"/>
                </a:lnTo>
                <a:cubicBezTo>
                  <a:pt x="1534634" y="2011589"/>
                  <a:pt x="2555569" y="2213219"/>
                  <a:pt x="3348138" y="1741216"/>
                </a:cubicBezTo>
                <a:cubicBezTo>
                  <a:pt x="3942651" y="1387163"/>
                  <a:pt x="4265044" y="739620"/>
                  <a:pt x="4226462" y="84448"/>
                </a:cubicBezTo>
                <a:lnTo>
                  <a:pt x="4217585" y="0"/>
                </a:lnTo>
                <a:lnTo>
                  <a:pt x="4833930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90">
              <a:solidFill>
                <a:schemeClr val="tx1">
                  <a:lumMod val="65000"/>
                  <a:lumOff val="3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sp>
        <p:nvSpPr>
          <p:cNvPr id="85" name="任意多边形 84"/>
          <p:cNvSpPr/>
          <p:nvPr>
            <p:custDataLst>
              <p:tags r:id="rId26"/>
            </p:custDataLst>
          </p:nvPr>
        </p:nvSpPr>
        <p:spPr>
          <a:xfrm rot="17307692">
            <a:off x="6220167" y="1981326"/>
            <a:ext cx="1063396" cy="744568"/>
          </a:xfrm>
          <a:custGeom>
            <a:avLst/>
            <a:gdLst>
              <a:gd name="connsiteX0" fmla="*/ 3082922 w 3180980"/>
              <a:gd name="connsiteY0" fmla="*/ 1705085 h 2227258"/>
              <a:gd name="connsiteX1" fmla="*/ 3176423 w 3180980"/>
              <a:gd name="connsiteY1" fmla="*/ 2154476 h 2227258"/>
              <a:gd name="connsiteX2" fmla="*/ 3180980 w 3180980"/>
              <a:gd name="connsiteY2" fmla="*/ 2227258 h 2227258"/>
              <a:gd name="connsiteX3" fmla="*/ 2564635 w 3180980"/>
              <a:gd name="connsiteY3" fmla="*/ 2227258 h 2227258"/>
              <a:gd name="connsiteX4" fmla="*/ 2556295 w 3180980"/>
              <a:gd name="connsiteY4" fmla="*/ 2147919 h 2227258"/>
              <a:gd name="connsiteX5" fmla="*/ 2411315 w 3180980"/>
              <a:gd name="connsiteY5" fmla="*/ 1664578 h 2227258"/>
              <a:gd name="connsiteX6" fmla="*/ 196026 w 3180980"/>
              <a:gd name="connsiteY6" fmla="*/ 708959 h 2227258"/>
              <a:gd name="connsiteX7" fmla="*/ 0 w 3180980"/>
              <a:gd name="connsiteY7" fmla="*/ 127074 h 2227258"/>
              <a:gd name="connsiteX8" fmla="*/ 3002505 w 3180980"/>
              <a:gd name="connsiteY8" fmla="*/ 1483914 h 2227258"/>
              <a:gd name="connsiteX9" fmla="*/ 3082922 w 3180980"/>
              <a:gd name="connsiteY9" fmla="*/ 1705085 h 2227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80980" h="2227258">
                <a:moveTo>
                  <a:pt x="3082922" y="1705085"/>
                </a:moveTo>
                <a:cubicBezTo>
                  <a:pt x="3128937" y="1853627"/>
                  <a:pt x="3159875" y="2004047"/>
                  <a:pt x="3176423" y="2154476"/>
                </a:cubicBezTo>
                <a:lnTo>
                  <a:pt x="3180980" y="2227258"/>
                </a:lnTo>
                <a:lnTo>
                  <a:pt x="2564635" y="2227258"/>
                </a:lnTo>
                <a:lnTo>
                  <a:pt x="2556295" y="2147919"/>
                </a:lnTo>
                <a:cubicBezTo>
                  <a:pt x="2531455" y="1984304"/>
                  <a:pt x="2483591" y="1821702"/>
                  <a:pt x="2411315" y="1664578"/>
                </a:cubicBezTo>
                <a:cubicBezTo>
                  <a:pt x="2025870" y="826647"/>
                  <a:pt x="1070294" y="414436"/>
                  <a:pt x="196026" y="708959"/>
                </a:cubicBezTo>
                <a:lnTo>
                  <a:pt x="0" y="127074"/>
                </a:lnTo>
                <a:cubicBezTo>
                  <a:pt x="1201918" y="-277827"/>
                  <a:pt x="2512407" y="314386"/>
                  <a:pt x="3002505" y="1483914"/>
                </a:cubicBezTo>
                <a:cubicBezTo>
                  <a:pt x="3033137" y="1557012"/>
                  <a:pt x="3059914" y="1630814"/>
                  <a:pt x="3082922" y="1705085"/>
                </a:cubicBezTo>
                <a:close/>
              </a:path>
            </a:pathLst>
          </a:cu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90">
              <a:solidFill>
                <a:schemeClr val="tx1">
                  <a:lumMod val="65000"/>
                  <a:lumOff val="3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sp>
        <p:nvSpPr>
          <p:cNvPr id="30" name="矩形 3"/>
          <p:cNvSpPr>
            <a:spLocks noChangeArrowheads="1"/>
          </p:cNvSpPr>
          <p:nvPr/>
        </p:nvSpPr>
        <p:spPr bwMode="auto">
          <a:xfrm>
            <a:off x="4010518" y="406444"/>
            <a:ext cx="5927090" cy="551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Arial" panose="020B0604020202020204" pitchFamily="34" charset="0"/>
                <a:sym typeface="字魂58号-创中黑" panose="00000500000000000000" pitchFamily="2" charset="-122"/>
              </a:rPr>
              <a:t>AI</a:t>
            </a:r>
            <a:r>
              <a:rPr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Arial" panose="020B0604020202020204" pitchFamily="34" charset="0"/>
                <a:sym typeface="字魂58号-创中黑" panose="00000500000000000000" pitchFamily="2" charset="-122"/>
              </a:rPr>
              <a:t>伦理下，系统研究者能做什么？</a:t>
            </a:r>
            <a:endParaRPr lang="zh-CN" altLang="en-US" sz="3000" b="1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cs typeface="Arial" panose="020B0604020202020204" pitchFamily="34" charset="0"/>
              <a:sym typeface="字魂58号-创中黑" panose="00000500000000000000" pitchFamily="2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3205112" y="461236"/>
            <a:ext cx="263341" cy="395013"/>
            <a:chOff x="5284519" y="1508166"/>
            <a:chExt cx="213756" cy="427512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oval" w="med" len="med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oval" w="med" len="med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3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6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7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500"/>
                            </p:stCondLst>
                            <p:childTnLst>
                              <p:par>
                                <p:cTn id="5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500"/>
                            </p:stCondLst>
                            <p:childTnLst>
                              <p:par>
                                <p:cTn id="64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6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500"/>
                            </p:stCondLst>
                            <p:childTnLst>
                              <p:par>
                                <p:cTn id="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80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 tmFilter="0, 0; .2, .5; .8, .5; 1, 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6" dur="250" autoRev="1" fill="hold"/>
                                        <p:tgtEl>
                                          <p:spTgt spid="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80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1" grpId="0"/>
      <p:bldP spid="62" grpId="0"/>
      <p:bldP spid="63" grpId="0" animBg="1"/>
      <p:bldP spid="63" grpId="1" animBg="1"/>
      <p:bldP spid="64" grpId="0"/>
      <p:bldP spid="65" grpId="0" animBg="1"/>
      <p:bldP spid="65" grpId="1" animBg="1"/>
      <p:bldP spid="66" grpId="0"/>
      <p:bldP spid="67" grpId="0" animBg="1"/>
      <p:bldP spid="67" grpId="1" animBg="1"/>
      <p:bldP spid="68" grpId="0"/>
      <p:bldP spid="84" grpId="0" animBg="1"/>
      <p:bldP spid="85" grpId="0" animBg="1"/>
      <p:bldP spid="30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421.3044881889764,&quot;left&quot;:201.43787401574804,&quot;top&quot;:103.03196850393701,&quot;width&quot;:694.6209448818897}"/>
</p:tagLst>
</file>

<file path=ppt/tags/tag2.xml><?xml version="1.0" encoding="utf-8"?>
<p:tagLst xmlns:p="http://schemas.openxmlformats.org/presentationml/2006/main">
  <p:tag name="KSO_WM_DIAGRAM_VIRTUALLY_FRAME" val="{&quot;height&quot;:421.3044881889764,&quot;left&quot;:201.43787401574804,&quot;top&quot;:103.03196850393701,&quot;width&quot;:694.6209448818897}"/>
</p:tagLst>
</file>

<file path=ppt/tags/tag3.xml><?xml version="1.0" encoding="utf-8"?>
<p:tagLst xmlns:p="http://schemas.openxmlformats.org/presentationml/2006/main">
  <p:tag name="KSO_WM_DIAGRAM_VIRTUALLY_FRAME" val="{&quot;height&quot;:421.3044881889764,&quot;left&quot;:201.43787401574804,&quot;top&quot;:103.03196850393701,&quot;width&quot;:694.6209448818897}"/>
</p:tagLst>
</file>

<file path=ppt/tags/tag4.xml><?xml version="1.0" encoding="utf-8"?>
<p:tagLst xmlns:p="http://schemas.openxmlformats.org/presentationml/2006/main">
  <p:tag name="KSO_WM_DIAGRAM_VIRTUALLY_FRAME" val="{&quot;height&quot;:421.3044881889764,&quot;left&quot;:201.43787401574804,&quot;top&quot;:103.03196850393701,&quot;width&quot;:694.6209448818897}"/>
</p:tagLst>
</file>

<file path=ppt/tags/tag5.xml><?xml version="1.0" encoding="utf-8"?>
<p:tagLst xmlns:p="http://schemas.openxmlformats.org/presentationml/2006/main">
  <p:tag name="KSO_WM_DIAGRAM_VIRTUALLY_FRAME" val="{&quot;height&quot;:421.3044881889764,&quot;left&quot;:201.43787401574804,&quot;top&quot;:103.03196850393701,&quot;width&quot;:694.6209448818897}"/>
</p:tagLst>
</file>

<file path=ppt/tags/tag6.xml><?xml version="1.0" encoding="utf-8"?>
<p:tagLst xmlns:p="http://schemas.openxmlformats.org/presentationml/2006/main">
  <p:tag name="KSO_WM_DIAGRAM_VIRTUALLY_FRAME" val="{&quot;height&quot;:421.3044881889764,&quot;left&quot;:201.43787401574804,&quot;top&quot;:103.03196850393701,&quot;width&quot;:694.6209448818897}"/>
</p:tagLst>
</file>

<file path=ppt/tags/tag7.xml><?xml version="1.0" encoding="utf-8"?>
<p:tagLst xmlns:p="http://schemas.openxmlformats.org/presentationml/2006/main">
  <p:tag name="KSO_WM_DIAGRAM_VIRTUALLY_FRAME" val="{&quot;height&quot;:421.3044881889764,&quot;left&quot;:201.43787401574804,&quot;top&quot;:103.03196850393701,&quot;width&quot;:694.6209448818897}"/>
</p:tagLst>
</file>

<file path=ppt/tags/tag8.xml><?xml version="1.0" encoding="utf-8"?>
<p:tagLst xmlns:p="http://schemas.openxmlformats.org/presentationml/2006/main">
  <p:tag name="KSO_WM_DIAGRAM_VIRTUALLY_FRAME" val="{&quot;height&quot;:421.3044881889764,&quot;left&quot;:201.43787401574804,&quot;top&quot;:103.03196850393701,&quot;width&quot;:694.6209448818897}"/>
</p:tagLst>
</file>

<file path=ppt/tags/tag9.xml><?xml version="1.0" encoding="utf-8"?>
<p:tagLst xmlns:p="http://schemas.openxmlformats.org/presentationml/2006/main">
  <p:tag name="KSO_WM_DIAGRAM_VIRTUALLY_FRAME" val="{&quot;height&quot;:421.3044881889764,&quot;left&quot;:201.43787401574804,&quot;top&quot;:103.03196850393701,&quot;width&quot;:694.6209448818897}"/>
</p:tagLst>
</file>

<file path=ppt/tags/tag10.xml><?xml version="1.0" encoding="utf-8"?>
<p:tagLst xmlns:p="http://schemas.openxmlformats.org/presentationml/2006/main">
  <p:tag name="KSO_WM_DIAGRAM_VIRTUALLY_FRAME" val="{&quot;height&quot;:421.3044881889764,&quot;left&quot;:201.43787401574804,&quot;top&quot;:103.03196850393701,&quot;width&quot;:694.6209448818897}"/>
</p:tagLst>
</file>

<file path=ppt/tags/tag11.xml><?xml version="1.0" encoding="utf-8"?>
<p:tagLst xmlns:p="http://schemas.openxmlformats.org/presentationml/2006/main">
  <p:tag name="KSO_WM_DIAGRAM_VIRTUALLY_FRAME" val="{&quot;height&quot;:421.3044881889764,&quot;left&quot;:201.43787401574804,&quot;top&quot;:103.03196850393701,&quot;width&quot;:694.6209448818897}"/>
</p:tagLst>
</file>

<file path=ppt/tags/tag12.xml><?xml version="1.0" encoding="utf-8"?>
<p:tagLst xmlns:p="http://schemas.openxmlformats.org/presentationml/2006/main">
  <p:tag name="KSO_WM_DIAGRAM_VIRTUALLY_FRAME" val="{&quot;height&quot;:421.3044881889764,&quot;left&quot;:201.43787401574804,&quot;top&quot;:103.03196850393701,&quot;width&quot;:694.6209448818897}"/>
</p:tagLst>
</file>

<file path=ppt/tags/tag13.xml><?xml version="1.0" encoding="utf-8"?>
<p:tagLst xmlns:p="http://schemas.openxmlformats.org/presentationml/2006/main">
  <p:tag name="KSO_WM_DIAGRAM_VIRTUALLY_FRAME" val="{&quot;height&quot;:421.3044881889764,&quot;left&quot;:201.43787401574804,&quot;top&quot;:103.03196850393701,&quot;width&quot;:694.6209448818897}"/>
</p:tagLst>
</file>

<file path=ppt/tags/tag14.xml><?xml version="1.0" encoding="utf-8"?>
<p:tagLst xmlns:p="http://schemas.openxmlformats.org/presentationml/2006/main">
  <p:tag name="KSO_WM_DIAGRAM_VIRTUALLY_FRAME" val="{&quot;height&quot;:421.3044881889764,&quot;left&quot;:201.43787401574804,&quot;top&quot;:103.03196850393701,&quot;width&quot;:694.6209448818897}"/>
</p:tagLst>
</file>

<file path=ppt/tags/tag15.xml><?xml version="1.0" encoding="utf-8"?>
<p:tagLst xmlns:p="http://schemas.openxmlformats.org/presentationml/2006/main">
  <p:tag name="KSO_WM_DIAGRAM_VIRTUALLY_FRAME" val="{&quot;height&quot;:421.3044881889764,&quot;left&quot;:201.43787401574804,&quot;top&quot;:103.03196850393701,&quot;width&quot;:694.6209448818897}"/>
</p:tagLst>
</file>

<file path=ppt/tags/tag16.xml><?xml version="1.0" encoding="utf-8"?>
<p:tagLst xmlns:p="http://schemas.openxmlformats.org/presentationml/2006/main">
  <p:tag name="KSO_WM_DIAGRAM_VIRTUALLY_FRAME" val="{&quot;height&quot;:421.3044881889764,&quot;left&quot;:201.43787401574804,&quot;top&quot;:103.03196850393701,&quot;width&quot;:694.6209448818897}"/>
</p:tagLst>
</file>

<file path=ppt/tags/tag17.xml><?xml version="1.0" encoding="utf-8"?>
<p:tagLst xmlns:p="http://schemas.openxmlformats.org/presentationml/2006/main">
  <p:tag name="KSO_WM_DIAGRAM_VIRTUALLY_FRAME" val="{&quot;height&quot;:318.59057795107367,&quot;left&quot;:184.37984251968504,&quot;top&quot;:136.32950078908377,&quot;width&quot;:714.0990551181103}"/>
</p:tagLst>
</file>

<file path=ppt/tags/tag18.xml><?xml version="1.0" encoding="utf-8"?>
<p:tagLst xmlns:p="http://schemas.openxmlformats.org/presentationml/2006/main">
  <p:tag name="KSO_WM_DIAGRAM_VIRTUALLY_FRAME" val="{&quot;height&quot;:318.59057795107367,&quot;left&quot;:184.37984251968504,&quot;top&quot;:136.32950078908377,&quot;width&quot;:714.0990551181103}"/>
</p:tagLst>
</file>

<file path=ppt/tags/tag19.xml><?xml version="1.0" encoding="utf-8"?>
<p:tagLst xmlns:p="http://schemas.openxmlformats.org/presentationml/2006/main">
  <p:tag name="KSO_WM_DIAGRAM_VIRTUALLY_FRAME" val="{&quot;height&quot;:318.59057795107367,&quot;left&quot;:184.37984251968504,&quot;top&quot;:136.32950078908377,&quot;width&quot;:714.0990551181103}"/>
</p:tagLst>
</file>

<file path=ppt/tags/tag20.xml><?xml version="1.0" encoding="utf-8"?>
<p:tagLst xmlns:p="http://schemas.openxmlformats.org/presentationml/2006/main">
  <p:tag name="KSO_WM_DIAGRAM_VIRTUALLY_FRAME" val="{&quot;height&quot;:318.59057795107367,&quot;left&quot;:184.37984251968504,&quot;top&quot;:136.32950078908377,&quot;width&quot;:714.0990551181103}"/>
</p:tagLst>
</file>

<file path=ppt/tags/tag21.xml><?xml version="1.0" encoding="utf-8"?>
<p:tagLst xmlns:p="http://schemas.openxmlformats.org/presentationml/2006/main">
  <p:tag name="KSO_WM_DIAGRAM_VIRTUALLY_FRAME" val="{&quot;height&quot;:318.59057795107367,&quot;left&quot;:184.37984251968504,&quot;top&quot;:136.32950078908377,&quot;width&quot;:714.0990551181103}"/>
</p:tagLst>
</file>

<file path=ppt/tags/tag22.xml><?xml version="1.0" encoding="utf-8"?>
<p:tagLst xmlns:p="http://schemas.openxmlformats.org/presentationml/2006/main">
  <p:tag name="KSO_WM_DIAGRAM_VIRTUALLY_FRAME" val="{&quot;height&quot;:318.59057795107367,&quot;left&quot;:184.37984251968504,&quot;top&quot;:136.32950078908377,&quot;width&quot;:714.0990551181103}"/>
</p:tagLst>
</file>

<file path=ppt/tags/tag23.xml><?xml version="1.0" encoding="utf-8"?>
<p:tagLst xmlns:p="http://schemas.openxmlformats.org/presentationml/2006/main">
  <p:tag name="KSO_WM_DIAGRAM_VIRTUALLY_FRAME" val="{&quot;height&quot;:318.59057795107367,&quot;left&quot;:184.37984251968504,&quot;top&quot;:136.32950078908377,&quot;width&quot;:714.0990551181103}"/>
</p:tagLst>
</file>

<file path=ppt/tags/tag24.xml><?xml version="1.0" encoding="utf-8"?>
<p:tagLst xmlns:p="http://schemas.openxmlformats.org/presentationml/2006/main">
  <p:tag name="KSO_WM_DIAGRAM_VIRTUALLY_FRAME" val="{&quot;height&quot;:318.59057795107367,&quot;left&quot;:184.37984251968504,&quot;top&quot;:136.32950078908377,&quot;width&quot;:714.0990551181103}"/>
</p:tagLst>
</file>

<file path=ppt/tags/tag25.xml><?xml version="1.0" encoding="utf-8"?>
<p:tagLst xmlns:p="http://schemas.openxmlformats.org/presentationml/2006/main">
  <p:tag name="KSO_WM_DIAGRAM_VIRTUALLY_FRAME" val="{&quot;height&quot;:318.59057795107367,&quot;left&quot;:184.37984251968504,&quot;top&quot;:136.32950078908377,&quot;width&quot;:714.0990551181103}"/>
</p:tagLst>
</file>

<file path=ppt/tags/tag26.xml><?xml version="1.0" encoding="utf-8"?>
<p:tagLst xmlns:p="http://schemas.openxmlformats.org/presentationml/2006/main">
  <p:tag name="KSO_WM_DIAGRAM_VIRTUALLY_FRAME" val="{&quot;height&quot;:318.59057795107367,&quot;left&quot;:184.37984251968504,&quot;top&quot;:136.32950078908377,&quot;width&quot;:714.0990551181103}"/>
</p:tagLst>
</file>

<file path=ppt/tags/tag27.xml><?xml version="1.0" encoding="utf-8"?>
<p:tagLst xmlns:p="http://schemas.openxmlformats.org/presentationml/2006/main">
  <p:tag name="KSO_WM_DIAGRAM_VIRTUALLY_FRAME" val="{&quot;height&quot;:318.59057795107367,&quot;left&quot;:184.37984251968504,&quot;top&quot;:136.32950078908377,&quot;width&quot;:714.0990551181103}"/>
</p:tagLst>
</file>

<file path=ppt/tags/tag28.xml><?xml version="1.0" encoding="utf-8"?>
<p:tagLst xmlns:p="http://schemas.openxmlformats.org/presentationml/2006/main">
  <p:tag name="KSO_WM_DIAGRAM_VIRTUALLY_FRAME" val="{&quot;height&quot;:318.59057795107367,&quot;left&quot;:184.37984251968504,&quot;top&quot;:136.32950078908377,&quot;width&quot;:714.0990551181103}"/>
</p:tagLst>
</file>

<file path=ppt/tags/tag29.xml><?xml version="1.0" encoding="utf-8"?>
<p:tagLst xmlns:p="http://schemas.openxmlformats.org/presentationml/2006/main">
  <p:tag name="KSO_WM_DIAGRAM_VIRTUALLY_FRAME" val="{&quot;height&quot;:318.59057795107367,&quot;left&quot;:184.37984251968504,&quot;top&quot;:136.32950078908377,&quot;width&quot;:714.0990551181103}"/>
</p:tagLst>
</file>

<file path=ppt/tags/tag30.xml><?xml version="1.0" encoding="utf-8"?>
<p:tagLst xmlns:p="http://schemas.openxmlformats.org/presentationml/2006/main">
  <p:tag name="KSO_WM_DIAGRAM_VIRTUALLY_FRAME" val="{&quot;height&quot;:318.59057795107367,&quot;left&quot;:184.37984251968504,&quot;top&quot;:136.32950078908377,&quot;width&quot;:714.0990551181103}"/>
</p:tagLst>
</file>

<file path=ppt/tags/tag31.xml><?xml version="1.0" encoding="utf-8"?>
<p:tagLst xmlns:p="http://schemas.openxmlformats.org/presentationml/2006/main">
  <p:tag name="KSO_WM_DIAGRAM_VIRTUALLY_FRAME" val="{&quot;height&quot;:318.59057795107367,&quot;left&quot;:184.37984251968504,&quot;top&quot;:136.32950078908377,&quot;width&quot;:714.0990551181103}"/>
</p:tagLst>
</file>

<file path=ppt/tags/tag32.xml><?xml version="1.0" encoding="utf-8"?>
<p:tagLst xmlns:p="http://schemas.openxmlformats.org/presentationml/2006/main">
  <p:tag name="KSO_WM_DIAGRAM_VIRTUALLY_FRAME" val="{&quot;height&quot;:318.59057795107367,&quot;left&quot;:184.37984251968504,&quot;top&quot;:136.32950078908377,&quot;width&quot;:714.0990551181103}"/>
</p:tagLst>
</file>

<file path=ppt/tags/tag33.xml><?xml version="1.0" encoding="utf-8"?>
<p:tagLst xmlns:p="http://schemas.openxmlformats.org/presentationml/2006/main">
  <p:tag name="KSO_WM_DIAGRAM_VIRTUALLY_FRAME" val="{&quot;height&quot;:318.59057795107367,&quot;left&quot;:184.37984251968504,&quot;top&quot;:136.32950078908377,&quot;width&quot;:714.0990551181103}"/>
</p:tagLst>
</file>

<file path=ppt/tags/tag34.xml><?xml version="1.0" encoding="utf-8"?>
<p:tagLst xmlns:p="http://schemas.openxmlformats.org/presentationml/2006/main">
  <p:tag name="KSO_WM_DIAGRAM_VIRTUALLY_FRAME" val="{&quot;height&quot;:318.59057795107367,&quot;left&quot;:184.37984251968504,&quot;top&quot;:136.32950078908377,&quot;width&quot;:714.0990551181103}"/>
</p:tagLst>
</file>

<file path=ppt/tags/tag35.xml><?xml version="1.0" encoding="utf-8"?>
<p:tagLst xmlns:p="http://schemas.openxmlformats.org/presentationml/2006/main">
  <p:tag name="KSO_WM_DIAGRAM_VIRTUALLY_FRAME" val="{&quot;height&quot;:318.59057795107367,&quot;left&quot;:184.37984251968504,&quot;top&quot;:136.32950078908377,&quot;width&quot;:714.0990551181103}"/>
</p:tagLst>
</file>

<file path=ppt/tags/tag36.xml><?xml version="1.0" encoding="utf-8"?>
<p:tagLst xmlns:p="http://schemas.openxmlformats.org/presentationml/2006/main">
  <p:tag name="KSO_WM_DIAGRAM_VIRTUALLY_FRAME" val="{&quot;height&quot;:318.59057795107367,&quot;left&quot;:184.37984251968504,&quot;top&quot;:136.32950078908377,&quot;width&quot;:714.0990551181103}"/>
</p:tagLst>
</file>

<file path=ppt/tags/tag37.xml><?xml version="1.0" encoding="utf-8"?>
<p:tagLst xmlns:p="http://schemas.openxmlformats.org/presentationml/2006/main">
  <p:tag name="KSO_WM_DIAGRAM_VIRTUALLY_FRAME" val="{&quot;height&quot;:318.59057795107367,&quot;left&quot;:184.37984251968504,&quot;top&quot;:136.32950078908377,&quot;width&quot;:714.0990551181103}"/>
</p:tagLst>
</file>

<file path=ppt/tags/tag38.xml><?xml version="1.0" encoding="utf-8"?>
<p:tagLst xmlns:p="http://schemas.openxmlformats.org/presentationml/2006/main">
  <p:tag name="KSO_WM_DIAGRAM_VIRTUALLY_FRAME" val="{&quot;height&quot;:318.59057795107367,&quot;left&quot;:184.37984251968504,&quot;top&quot;:136.32950078908377,&quot;width&quot;:714.0990551181103}"/>
</p:tagLst>
</file>

<file path=ppt/tags/tag39.xml><?xml version="1.0" encoding="utf-8"?>
<p:tagLst xmlns:p="http://schemas.openxmlformats.org/presentationml/2006/main">
  <p:tag name="KSO_WM_DIAGRAM_VIRTUALLY_FRAME" val="{&quot;height&quot;:318.59057795107367,&quot;left&quot;:184.37984251968504,&quot;top&quot;:136.32950078908377,&quot;width&quot;:714.0990551181103}"/>
</p:tagLst>
</file>

<file path=ppt/tags/tag40.xml><?xml version="1.0" encoding="utf-8"?>
<p:tagLst xmlns:p="http://schemas.openxmlformats.org/presentationml/2006/main">
  <p:tag name="KSO_WM_DIAGRAM_VIRTUALLY_FRAME" val="{&quot;height&quot;:318.59057795107367,&quot;left&quot;:184.37984251968504,&quot;top&quot;:136.32950078908377,&quot;width&quot;:714.0990551181103}"/>
</p:tagLst>
</file>

<file path=ppt/tags/tag41.xml><?xml version="1.0" encoding="utf-8"?>
<p:tagLst xmlns:p="http://schemas.openxmlformats.org/presentationml/2006/main">
  <p:tag name="KSO_WM_DIAGRAM_VIRTUALLY_FRAME" val="{&quot;height&quot;:318.59057795107367,&quot;left&quot;:184.37984251968504,&quot;top&quot;:136.32950078908377,&quot;width&quot;:714.0990551181103}"/>
</p:tagLst>
</file>

<file path=ppt/tags/tag42.xml><?xml version="1.0" encoding="utf-8"?>
<p:tagLst xmlns:p="http://schemas.openxmlformats.org/presentationml/2006/main">
  <p:tag name="KSO_WM_DIAGRAM_VIRTUALLY_FRAME" val="{&quot;height&quot;:318.59057795107367,&quot;left&quot;:184.37984251968504,&quot;top&quot;:136.32950078908377,&quot;width&quot;:714.0990551181103}"/>
</p:tagLst>
</file>

<file path=ppt/tags/tag43.xml><?xml version="1.0" encoding="utf-8"?>
<p:tagLst xmlns:p="http://schemas.openxmlformats.org/presentationml/2006/main">
  <p:tag name="ISPRING_RESOURCE_PATHS_HASH_PRESENTER" val="1cfe325ac88af4cb1e315171a86c19382325f4f"/>
  <p:tag name="ISPRING_PRESENTATION_TITLE" val="绿色简约网络专业学术研究答辩PPT模板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1047</Words>
  <Application>WPS 演示</Application>
  <PresentationFormat>宽屏</PresentationFormat>
  <Paragraphs>62</Paragraphs>
  <Slides>4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2" baseType="lpstr">
      <vt:lpstr>Arial</vt:lpstr>
      <vt:lpstr>宋体</vt:lpstr>
      <vt:lpstr>Wingdings</vt:lpstr>
      <vt:lpstr>Arial Unicode MS</vt:lpstr>
      <vt:lpstr>微软雅黑</vt:lpstr>
      <vt:lpstr>字魂58号-创中黑</vt:lpstr>
      <vt:lpstr>黑体</vt:lpstr>
      <vt:lpstr>Calibri</vt:lpstr>
      <vt:lpstr>Times New Roman</vt:lpstr>
      <vt:lpstr>UKIJ Qolyazma</vt:lpstr>
      <vt:lpstr>Arial Unicode MS</vt:lpstr>
      <vt:lpstr>Calibri Light</vt:lpstr>
      <vt:lpstr>华文黑体</vt:lpstr>
      <vt:lpstr>Open Sans</vt:lpstr>
      <vt:lpstr>TeXGyreAdventor</vt:lpstr>
      <vt:lpstr>Microsoft YaHei UI</vt:lpstr>
      <vt:lpstr>Segoe Print</vt:lpstr>
      <vt:lpstr>Office 主题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绿色简约网络专业学术研究答辩PPT模板</dc:title>
  <dc:creator>.</dc:creator>
  <cp:keywords>林雨欣</cp:keywords>
  <dc:description>BOSSPPT致力于提供高质量，有品质的模板，拒绝垃圾模板！
本模板由bossppt设计师制作或制作师二次制作整理，bossppt为此花费了大量心血。
如果非本店购买，请直接向盗版店进行索赔。
本店淘宝唯一购买网址：https://chinappt.taobao.com</dc:description>
  <dc:subject>BOSSPPT 2017-2018</dc:subject>
  <cp:lastModifiedBy>innerpeace</cp:lastModifiedBy>
  <cp:revision>16</cp:revision>
  <dcterms:created xsi:type="dcterms:W3CDTF">2014-10-29T09:18:00Z</dcterms:created>
  <dcterms:modified xsi:type="dcterms:W3CDTF">2025-11-24T07:49:56Z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6967B544CFBB4396823CCCA3F5F9113A_13</vt:lpwstr>
  </property>
  <property fmtid="{D5CDD505-2E9C-101B-9397-08002B2CF9AE}" pid="3" name="KSOProductBuildVer">
    <vt:lpwstr>2052-12.1.0.23542</vt:lpwstr>
  </property>
</Properties>
</file>